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57" r:id="rId1"/>
    <p:sldMasterId id="2147484393" r:id="rId2"/>
  </p:sldMasterIdLst>
  <p:notesMasterIdLst>
    <p:notesMasterId r:id="rId2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3" r:id="rId17"/>
    <p:sldId id="271" r:id="rId18"/>
    <p:sldId id="27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24" autoAdjust="0"/>
    <p:restoredTop sz="92010" autoAdjust="0"/>
  </p:normalViewPr>
  <p:slideViewPr>
    <p:cSldViewPr snapToGrid="0">
      <p:cViewPr varScale="1">
        <p:scale>
          <a:sx n="102" d="100"/>
          <a:sy n="102" d="100"/>
        </p:scale>
        <p:origin x="118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A99A5B2-859D-43AB-A771-09EFDA52C77D}"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SG"/>
        </a:p>
      </dgm:t>
    </dgm:pt>
    <dgm:pt modelId="{7881BB9B-2D8E-4891-9889-F5E268F11595}">
      <dgm:prSet phldrT="[Text]" phldr="0"/>
      <dgm:spPr/>
      <dgm:t>
        <a:bodyPr/>
        <a:lstStyle/>
        <a:p>
          <a:r>
            <a:rPr lang="en-SG" dirty="0"/>
            <a:t>Sub1: Data Ingestion</a:t>
          </a:r>
        </a:p>
      </dgm:t>
    </dgm:pt>
    <dgm:pt modelId="{E2FDCA90-1458-411F-B861-ADF2DEDD49A7}" type="parTrans" cxnId="{8E437C81-08FF-42BF-8D48-C1562E45210E}">
      <dgm:prSet/>
      <dgm:spPr/>
      <dgm:t>
        <a:bodyPr/>
        <a:lstStyle/>
        <a:p>
          <a:endParaRPr lang="en-SG"/>
        </a:p>
      </dgm:t>
    </dgm:pt>
    <dgm:pt modelId="{509F68E2-104A-473A-800C-73EE048BF186}" type="sibTrans" cxnId="{8E437C81-08FF-42BF-8D48-C1562E45210E}">
      <dgm:prSet/>
      <dgm:spPr/>
      <dgm:t>
        <a:bodyPr/>
        <a:lstStyle/>
        <a:p>
          <a:endParaRPr lang="en-SG"/>
        </a:p>
      </dgm:t>
    </dgm:pt>
    <dgm:pt modelId="{5BB1D2F3-A930-48B3-B77A-CC782C8C93A4}">
      <dgm:prSet phldrT="[Text]" phldr="0"/>
      <dgm:spPr/>
      <dgm:t>
        <a:bodyPr/>
        <a:lstStyle/>
        <a:p>
          <a:r>
            <a:rPr lang="en-SG" dirty="0"/>
            <a:t>Sub 2: Demand Forecast</a:t>
          </a:r>
        </a:p>
      </dgm:t>
    </dgm:pt>
    <dgm:pt modelId="{5DC22162-20B4-46EB-8BC2-A10D317EA7D2}" type="parTrans" cxnId="{E86F21AD-025F-463F-B337-0C5174B27639}">
      <dgm:prSet/>
      <dgm:spPr/>
      <dgm:t>
        <a:bodyPr/>
        <a:lstStyle/>
        <a:p>
          <a:endParaRPr lang="en-SG"/>
        </a:p>
      </dgm:t>
    </dgm:pt>
    <dgm:pt modelId="{977DD69E-36D7-430B-A98A-F4408BC14CD4}" type="sibTrans" cxnId="{E86F21AD-025F-463F-B337-0C5174B27639}">
      <dgm:prSet/>
      <dgm:spPr/>
      <dgm:t>
        <a:bodyPr/>
        <a:lstStyle/>
        <a:p>
          <a:endParaRPr lang="en-SG"/>
        </a:p>
      </dgm:t>
    </dgm:pt>
    <dgm:pt modelId="{FCC2AB4B-53D9-4F10-A8E1-9F344250573C}">
      <dgm:prSet phldrT="[Text]" phldr="0"/>
      <dgm:spPr/>
      <dgm:t>
        <a:bodyPr/>
        <a:lstStyle/>
        <a:p>
          <a:r>
            <a:rPr lang="en-SG" dirty="0"/>
            <a:t>Sub 3: Anomaly Detect</a:t>
          </a:r>
        </a:p>
      </dgm:t>
    </dgm:pt>
    <dgm:pt modelId="{89343725-C1D1-4383-A1FA-49C316057C4C}" type="parTrans" cxnId="{7FB1D772-5403-4C1D-89FD-CE09D9621429}">
      <dgm:prSet/>
      <dgm:spPr/>
      <dgm:t>
        <a:bodyPr/>
        <a:lstStyle/>
        <a:p>
          <a:endParaRPr lang="en-SG"/>
        </a:p>
      </dgm:t>
    </dgm:pt>
    <dgm:pt modelId="{7B43A2CA-DA92-4FD0-A85F-EE301C053B79}" type="sibTrans" cxnId="{7FB1D772-5403-4C1D-89FD-CE09D9621429}">
      <dgm:prSet/>
      <dgm:spPr/>
      <dgm:t>
        <a:bodyPr/>
        <a:lstStyle/>
        <a:p>
          <a:endParaRPr lang="en-SG"/>
        </a:p>
      </dgm:t>
    </dgm:pt>
    <dgm:pt modelId="{2D4E53F3-4977-4175-996C-FE26002E023B}">
      <dgm:prSet phldrT="[Text]" phldr="0"/>
      <dgm:spPr/>
      <dgm:t>
        <a:bodyPr/>
        <a:lstStyle/>
        <a:p>
          <a:r>
            <a:rPr lang="en-SG"/>
            <a:t>Sub 4: Segmentation</a:t>
          </a:r>
          <a:endParaRPr lang="en-SG" dirty="0"/>
        </a:p>
      </dgm:t>
    </dgm:pt>
    <dgm:pt modelId="{4DAF4E3C-B80D-4EA6-9F69-81AF335E0545}" type="parTrans" cxnId="{2729D858-99A0-4DE6-98A5-0F9E02333708}">
      <dgm:prSet/>
      <dgm:spPr/>
      <dgm:t>
        <a:bodyPr/>
        <a:lstStyle/>
        <a:p>
          <a:endParaRPr lang="en-SG"/>
        </a:p>
      </dgm:t>
    </dgm:pt>
    <dgm:pt modelId="{0C56B812-B947-4D86-996C-E821DAAA2DD7}" type="sibTrans" cxnId="{2729D858-99A0-4DE6-98A5-0F9E02333708}">
      <dgm:prSet/>
      <dgm:spPr/>
      <dgm:t>
        <a:bodyPr/>
        <a:lstStyle/>
        <a:p>
          <a:endParaRPr lang="en-SG"/>
        </a:p>
      </dgm:t>
    </dgm:pt>
    <dgm:pt modelId="{7F2F7D63-A97E-46C2-AA6B-DB2A9264FC1C}">
      <dgm:prSet phldrT="[Text]" phldr="0"/>
      <dgm:spPr/>
      <dgm:t>
        <a:bodyPr/>
        <a:lstStyle/>
        <a:p>
          <a:r>
            <a:rPr lang="en-SG" dirty="0"/>
            <a:t>Sub 5: Fuzzy Reorder</a:t>
          </a:r>
        </a:p>
      </dgm:t>
    </dgm:pt>
    <dgm:pt modelId="{1F765309-7BE7-443C-A4C2-2A130F6511B7}" type="parTrans" cxnId="{58321243-A086-4C7C-930F-D82FE7AC90AE}">
      <dgm:prSet/>
      <dgm:spPr/>
      <dgm:t>
        <a:bodyPr/>
        <a:lstStyle/>
        <a:p>
          <a:endParaRPr lang="en-SG"/>
        </a:p>
      </dgm:t>
    </dgm:pt>
    <dgm:pt modelId="{83B7162C-5F3B-4A06-B9BF-FF71B8822D06}" type="sibTrans" cxnId="{58321243-A086-4C7C-930F-D82FE7AC90AE}">
      <dgm:prSet/>
      <dgm:spPr/>
      <dgm:t>
        <a:bodyPr/>
        <a:lstStyle/>
        <a:p>
          <a:endParaRPr lang="en-SG"/>
        </a:p>
      </dgm:t>
    </dgm:pt>
    <dgm:pt modelId="{55AF6F6E-3D88-48C3-AC72-B6F318F99635}">
      <dgm:prSet phldrT="[Text]" phldr="0"/>
      <dgm:spPr/>
      <dgm:t>
        <a:bodyPr/>
        <a:lstStyle/>
        <a:p>
          <a:r>
            <a:rPr lang="en-SG" dirty="0"/>
            <a:t>Sub 6: Interactive Dashboard (</a:t>
          </a:r>
          <a:r>
            <a:rPr lang="en-SG" dirty="0" err="1"/>
            <a:t>Streamlit</a:t>
          </a:r>
          <a:r>
            <a:rPr lang="en-SG" dirty="0"/>
            <a:t> + </a:t>
          </a:r>
          <a:r>
            <a:rPr lang="en-SG" dirty="0" err="1"/>
            <a:t>ngrok</a:t>
          </a:r>
          <a:r>
            <a:rPr lang="en-SG" dirty="0"/>
            <a:t> public URL)</a:t>
          </a:r>
        </a:p>
      </dgm:t>
    </dgm:pt>
    <dgm:pt modelId="{E996204E-77F4-4D9B-BC5A-41CBF9211A6A}" type="parTrans" cxnId="{9D81E46E-7979-4B1C-B66F-3393746E12A3}">
      <dgm:prSet/>
      <dgm:spPr/>
      <dgm:t>
        <a:bodyPr/>
        <a:lstStyle/>
        <a:p>
          <a:endParaRPr lang="en-SG"/>
        </a:p>
      </dgm:t>
    </dgm:pt>
    <dgm:pt modelId="{CC49EE50-4FB8-40CA-B41C-0DCDF3472239}" type="sibTrans" cxnId="{9D81E46E-7979-4B1C-B66F-3393746E12A3}">
      <dgm:prSet/>
      <dgm:spPr/>
      <dgm:t>
        <a:bodyPr/>
        <a:lstStyle/>
        <a:p>
          <a:endParaRPr lang="en-SG"/>
        </a:p>
      </dgm:t>
    </dgm:pt>
    <dgm:pt modelId="{DEAA3D49-D466-455B-8963-4A962551C389}" type="pres">
      <dgm:prSet presAssocID="{2A99A5B2-859D-43AB-A771-09EFDA52C77D}" presName="CompostProcess" presStyleCnt="0">
        <dgm:presLayoutVars>
          <dgm:dir/>
          <dgm:resizeHandles val="exact"/>
        </dgm:presLayoutVars>
      </dgm:prSet>
      <dgm:spPr/>
    </dgm:pt>
    <dgm:pt modelId="{7B28B16E-782D-4EDA-91B2-A9EDD75DBC87}" type="pres">
      <dgm:prSet presAssocID="{2A99A5B2-859D-43AB-A771-09EFDA52C77D}" presName="arrow" presStyleLbl="bgShp" presStyleIdx="0" presStyleCnt="1"/>
      <dgm:spPr/>
    </dgm:pt>
    <dgm:pt modelId="{CD0B8E07-5287-477D-A6F4-9EBBC918769F}" type="pres">
      <dgm:prSet presAssocID="{2A99A5B2-859D-43AB-A771-09EFDA52C77D}" presName="linearProcess" presStyleCnt="0"/>
      <dgm:spPr/>
    </dgm:pt>
    <dgm:pt modelId="{892C7C8D-ED2C-4142-ACDD-C927E853C8D2}" type="pres">
      <dgm:prSet presAssocID="{7881BB9B-2D8E-4891-9889-F5E268F11595}" presName="textNode" presStyleLbl="node1" presStyleIdx="0" presStyleCnt="6">
        <dgm:presLayoutVars>
          <dgm:bulletEnabled val="1"/>
        </dgm:presLayoutVars>
      </dgm:prSet>
      <dgm:spPr/>
    </dgm:pt>
    <dgm:pt modelId="{057D7347-BAFE-4641-9206-D8B7996DDD74}" type="pres">
      <dgm:prSet presAssocID="{509F68E2-104A-473A-800C-73EE048BF186}" presName="sibTrans" presStyleCnt="0"/>
      <dgm:spPr/>
    </dgm:pt>
    <dgm:pt modelId="{D655F0E4-B41E-4352-B76F-484F8BA67CE7}" type="pres">
      <dgm:prSet presAssocID="{5BB1D2F3-A930-48B3-B77A-CC782C8C93A4}" presName="textNode" presStyleLbl="node1" presStyleIdx="1" presStyleCnt="6">
        <dgm:presLayoutVars>
          <dgm:bulletEnabled val="1"/>
        </dgm:presLayoutVars>
      </dgm:prSet>
      <dgm:spPr/>
    </dgm:pt>
    <dgm:pt modelId="{9B638DE8-88BB-478B-82C2-D9ABFD60AB6F}" type="pres">
      <dgm:prSet presAssocID="{977DD69E-36D7-430B-A98A-F4408BC14CD4}" presName="sibTrans" presStyleCnt="0"/>
      <dgm:spPr/>
    </dgm:pt>
    <dgm:pt modelId="{572ED8AD-20A4-4F38-970E-14E3BC86B399}" type="pres">
      <dgm:prSet presAssocID="{FCC2AB4B-53D9-4F10-A8E1-9F344250573C}" presName="textNode" presStyleLbl="node1" presStyleIdx="2" presStyleCnt="6">
        <dgm:presLayoutVars>
          <dgm:bulletEnabled val="1"/>
        </dgm:presLayoutVars>
      </dgm:prSet>
      <dgm:spPr/>
    </dgm:pt>
    <dgm:pt modelId="{72F6BB14-518E-4A76-9BB5-ADA70D8E5472}" type="pres">
      <dgm:prSet presAssocID="{7B43A2CA-DA92-4FD0-A85F-EE301C053B79}" presName="sibTrans" presStyleCnt="0"/>
      <dgm:spPr/>
    </dgm:pt>
    <dgm:pt modelId="{1F4C5D2E-6ADC-409B-87EF-00129A5E2CAA}" type="pres">
      <dgm:prSet presAssocID="{2D4E53F3-4977-4175-996C-FE26002E023B}" presName="textNode" presStyleLbl="node1" presStyleIdx="3" presStyleCnt="6">
        <dgm:presLayoutVars>
          <dgm:bulletEnabled val="1"/>
        </dgm:presLayoutVars>
      </dgm:prSet>
      <dgm:spPr/>
    </dgm:pt>
    <dgm:pt modelId="{8E6168F8-8EA1-41C6-A07C-AB6E089ED097}" type="pres">
      <dgm:prSet presAssocID="{0C56B812-B947-4D86-996C-E821DAAA2DD7}" presName="sibTrans" presStyleCnt="0"/>
      <dgm:spPr/>
    </dgm:pt>
    <dgm:pt modelId="{AA6C6CE0-4505-4C2E-9B3E-F6866F7058CC}" type="pres">
      <dgm:prSet presAssocID="{7F2F7D63-A97E-46C2-AA6B-DB2A9264FC1C}" presName="textNode" presStyleLbl="node1" presStyleIdx="4" presStyleCnt="6">
        <dgm:presLayoutVars>
          <dgm:bulletEnabled val="1"/>
        </dgm:presLayoutVars>
      </dgm:prSet>
      <dgm:spPr/>
    </dgm:pt>
    <dgm:pt modelId="{FD9385DC-6449-4893-BC11-D2C6A6C3A058}" type="pres">
      <dgm:prSet presAssocID="{83B7162C-5F3B-4A06-B9BF-FF71B8822D06}" presName="sibTrans" presStyleCnt="0"/>
      <dgm:spPr/>
    </dgm:pt>
    <dgm:pt modelId="{ADF0C1E8-E4AD-4A67-9AC2-8FEE3557D84B}" type="pres">
      <dgm:prSet presAssocID="{55AF6F6E-3D88-48C3-AC72-B6F318F99635}" presName="textNode" presStyleLbl="node1" presStyleIdx="5" presStyleCnt="6" custScaleX="140790">
        <dgm:presLayoutVars>
          <dgm:bulletEnabled val="1"/>
        </dgm:presLayoutVars>
      </dgm:prSet>
      <dgm:spPr/>
    </dgm:pt>
  </dgm:ptLst>
  <dgm:cxnLst>
    <dgm:cxn modelId="{097C8C0F-9052-4C98-AA23-689AF218C461}" type="presOf" srcId="{5BB1D2F3-A930-48B3-B77A-CC782C8C93A4}" destId="{D655F0E4-B41E-4352-B76F-484F8BA67CE7}" srcOrd="0" destOrd="0" presId="urn:microsoft.com/office/officeart/2005/8/layout/hProcess9"/>
    <dgm:cxn modelId="{D86FE517-9A14-4324-9BC2-D7FEA86A814B}" type="presOf" srcId="{2A99A5B2-859D-43AB-A771-09EFDA52C77D}" destId="{DEAA3D49-D466-455B-8963-4A962551C389}" srcOrd="0" destOrd="0" presId="urn:microsoft.com/office/officeart/2005/8/layout/hProcess9"/>
    <dgm:cxn modelId="{8E397525-71FF-4108-9A27-58BED2E2A3F4}" type="presOf" srcId="{FCC2AB4B-53D9-4F10-A8E1-9F344250573C}" destId="{572ED8AD-20A4-4F38-970E-14E3BC86B399}" srcOrd="0" destOrd="0" presId="urn:microsoft.com/office/officeart/2005/8/layout/hProcess9"/>
    <dgm:cxn modelId="{9F047828-C157-4F17-B505-0EA87A5DC240}" type="presOf" srcId="{55AF6F6E-3D88-48C3-AC72-B6F318F99635}" destId="{ADF0C1E8-E4AD-4A67-9AC2-8FEE3557D84B}" srcOrd="0" destOrd="0" presId="urn:microsoft.com/office/officeart/2005/8/layout/hProcess9"/>
    <dgm:cxn modelId="{58321243-A086-4C7C-930F-D82FE7AC90AE}" srcId="{2A99A5B2-859D-43AB-A771-09EFDA52C77D}" destId="{7F2F7D63-A97E-46C2-AA6B-DB2A9264FC1C}" srcOrd="4" destOrd="0" parTransId="{1F765309-7BE7-443C-A4C2-2A130F6511B7}" sibTransId="{83B7162C-5F3B-4A06-B9BF-FF71B8822D06}"/>
    <dgm:cxn modelId="{9D81E46E-7979-4B1C-B66F-3393746E12A3}" srcId="{2A99A5B2-859D-43AB-A771-09EFDA52C77D}" destId="{55AF6F6E-3D88-48C3-AC72-B6F318F99635}" srcOrd="5" destOrd="0" parTransId="{E996204E-77F4-4D9B-BC5A-41CBF9211A6A}" sibTransId="{CC49EE50-4FB8-40CA-B41C-0DCDF3472239}"/>
    <dgm:cxn modelId="{7FB1D772-5403-4C1D-89FD-CE09D9621429}" srcId="{2A99A5B2-859D-43AB-A771-09EFDA52C77D}" destId="{FCC2AB4B-53D9-4F10-A8E1-9F344250573C}" srcOrd="2" destOrd="0" parTransId="{89343725-C1D1-4383-A1FA-49C316057C4C}" sibTransId="{7B43A2CA-DA92-4FD0-A85F-EE301C053B79}"/>
    <dgm:cxn modelId="{2729D858-99A0-4DE6-98A5-0F9E02333708}" srcId="{2A99A5B2-859D-43AB-A771-09EFDA52C77D}" destId="{2D4E53F3-4977-4175-996C-FE26002E023B}" srcOrd="3" destOrd="0" parTransId="{4DAF4E3C-B80D-4EA6-9F69-81AF335E0545}" sibTransId="{0C56B812-B947-4D86-996C-E821DAAA2DD7}"/>
    <dgm:cxn modelId="{8E437C81-08FF-42BF-8D48-C1562E45210E}" srcId="{2A99A5B2-859D-43AB-A771-09EFDA52C77D}" destId="{7881BB9B-2D8E-4891-9889-F5E268F11595}" srcOrd="0" destOrd="0" parTransId="{E2FDCA90-1458-411F-B861-ADF2DEDD49A7}" sibTransId="{509F68E2-104A-473A-800C-73EE048BF186}"/>
    <dgm:cxn modelId="{B07C7C97-6AA7-45FA-9F9B-CC31B82F485A}" type="presOf" srcId="{7881BB9B-2D8E-4891-9889-F5E268F11595}" destId="{892C7C8D-ED2C-4142-ACDD-C927E853C8D2}" srcOrd="0" destOrd="0" presId="urn:microsoft.com/office/officeart/2005/8/layout/hProcess9"/>
    <dgm:cxn modelId="{E86F21AD-025F-463F-B337-0C5174B27639}" srcId="{2A99A5B2-859D-43AB-A771-09EFDA52C77D}" destId="{5BB1D2F3-A930-48B3-B77A-CC782C8C93A4}" srcOrd="1" destOrd="0" parTransId="{5DC22162-20B4-46EB-8BC2-A10D317EA7D2}" sibTransId="{977DD69E-36D7-430B-A98A-F4408BC14CD4}"/>
    <dgm:cxn modelId="{6721B6C8-D7D1-4CE3-BB15-5C4FC199464D}" type="presOf" srcId="{7F2F7D63-A97E-46C2-AA6B-DB2A9264FC1C}" destId="{AA6C6CE0-4505-4C2E-9B3E-F6866F7058CC}" srcOrd="0" destOrd="0" presId="urn:microsoft.com/office/officeart/2005/8/layout/hProcess9"/>
    <dgm:cxn modelId="{74FA37E0-6D50-4D20-80F9-DEF5E5DF3CBB}" type="presOf" srcId="{2D4E53F3-4977-4175-996C-FE26002E023B}" destId="{1F4C5D2E-6ADC-409B-87EF-00129A5E2CAA}" srcOrd="0" destOrd="0" presId="urn:microsoft.com/office/officeart/2005/8/layout/hProcess9"/>
    <dgm:cxn modelId="{CF8CF0FC-589C-40BF-A0B9-A6A560D776FB}" type="presParOf" srcId="{DEAA3D49-D466-455B-8963-4A962551C389}" destId="{7B28B16E-782D-4EDA-91B2-A9EDD75DBC87}" srcOrd="0" destOrd="0" presId="urn:microsoft.com/office/officeart/2005/8/layout/hProcess9"/>
    <dgm:cxn modelId="{BEAE18FC-5E29-4A04-A075-621403836FE9}" type="presParOf" srcId="{DEAA3D49-D466-455B-8963-4A962551C389}" destId="{CD0B8E07-5287-477D-A6F4-9EBBC918769F}" srcOrd="1" destOrd="0" presId="urn:microsoft.com/office/officeart/2005/8/layout/hProcess9"/>
    <dgm:cxn modelId="{765BEA12-A76C-4050-9710-2D58186D0E40}" type="presParOf" srcId="{CD0B8E07-5287-477D-A6F4-9EBBC918769F}" destId="{892C7C8D-ED2C-4142-ACDD-C927E853C8D2}" srcOrd="0" destOrd="0" presId="urn:microsoft.com/office/officeart/2005/8/layout/hProcess9"/>
    <dgm:cxn modelId="{159F45B5-B6B9-4789-AAF1-560E2EDC1F15}" type="presParOf" srcId="{CD0B8E07-5287-477D-A6F4-9EBBC918769F}" destId="{057D7347-BAFE-4641-9206-D8B7996DDD74}" srcOrd="1" destOrd="0" presId="urn:microsoft.com/office/officeart/2005/8/layout/hProcess9"/>
    <dgm:cxn modelId="{D53F0B6F-37E3-453B-810B-7874317DECF4}" type="presParOf" srcId="{CD0B8E07-5287-477D-A6F4-9EBBC918769F}" destId="{D655F0E4-B41E-4352-B76F-484F8BA67CE7}" srcOrd="2" destOrd="0" presId="urn:microsoft.com/office/officeart/2005/8/layout/hProcess9"/>
    <dgm:cxn modelId="{C4923DA0-AD7D-4D56-8B24-67CE5CBCEF4A}" type="presParOf" srcId="{CD0B8E07-5287-477D-A6F4-9EBBC918769F}" destId="{9B638DE8-88BB-478B-82C2-D9ABFD60AB6F}" srcOrd="3" destOrd="0" presId="urn:microsoft.com/office/officeart/2005/8/layout/hProcess9"/>
    <dgm:cxn modelId="{42F1146E-CAB3-4E6D-9731-1F2273405719}" type="presParOf" srcId="{CD0B8E07-5287-477D-A6F4-9EBBC918769F}" destId="{572ED8AD-20A4-4F38-970E-14E3BC86B399}" srcOrd="4" destOrd="0" presId="urn:microsoft.com/office/officeart/2005/8/layout/hProcess9"/>
    <dgm:cxn modelId="{3A4FF211-DAF8-4D88-93A5-BB90C7757617}" type="presParOf" srcId="{CD0B8E07-5287-477D-A6F4-9EBBC918769F}" destId="{72F6BB14-518E-4A76-9BB5-ADA70D8E5472}" srcOrd="5" destOrd="0" presId="urn:microsoft.com/office/officeart/2005/8/layout/hProcess9"/>
    <dgm:cxn modelId="{56CCEF62-1144-4D72-AEDE-0D27EC9E3582}" type="presParOf" srcId="{CD0B8E07-5287-477D-A6F4-9EBBC918769F}" destId="{1F4C5D2E-6ADC-409B-87EF-00129A5E2CAA}" srcOrd="6" destOrd="0" presId="urn:microsoft.com/office/officeart/2005/8/layout/hProcess9"/>
    <dgm:cxn modelId="{32965613-3DE9-4FC9-A71D-AD1F8F1E6FCA}" type="presParOf" srcId="{CD0B8E07-5287-477D-A6F4-9EBBC918769F}" destId="{8E6168F8-8EA1-41C6-A07C-AB6E089ED097}" srcOrd="7" destOrd="0" presId="urn:microsoft.com/office/officeart/2005/8/layout/hProcess9"/>
    <dgm:cxn modelId="{22C3EAD9-A7C4-4460-9390-CBA5ED734F36}" type="presParOf" srcId="{CD0B8E07-5287-477D-A6F4-9EBBC918769F}" destId="{AA6C6CE0-4505-4C2E-9B3E-F6866F7058CC}" srcOrd="8" destOrd="0" presId="urn:microsoft.com/office/officeart/2005/8/layout/hProcess9"/>
    <dgm:cxn modelId="{1DC25191-87FB-4D9F-A091-4271073A7A28}" type="presParOf" srcId="{CD0B8E07-5287-477D-A6F4-9EBBC918769F}" destId="{FD9385DC-6449-4893-BC11-D2C6A6C3A058}" srcOrd="9" destOrd="0" presId="urn:microsoft.com/office/officeart/2005/8/layout/hProcess9"/>
    <dgm:cxn modelId="{85F60A2E-CA06-48C8-9CDE-D0B58509E176}" type="presParOf" srcId="{CD0B8E07-5287-477D-A6F4-9EBBC918769F}" destId="{ADF0C1E8-E4AD-4A67-9AC2-8FEE3557D84B}" srcOrd="10"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28B16E-782D-4EDA-91B2-A9EDD75DBC87}">
      <dsp:nvSpPr>
        <dsp:cNvPr id="0" name=""/>
        <dsp:cNvSpPr/>
      </dsp:nvSpPr>
      <dsp:spPr>
        <a:xfrm>
          <a:off x="796370" y="0"/>
          <a:ext cx="9025527" cy="2709334"/>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2C7C8D-ED2C-4142-ACDD-C927E853C8D2}">
      <dsp:nvSpPr>
        <dsp:cNvPr id="0" name=""/>
        <dsp:cNvSpPr/>
      </dsp:nvSpPr>
      <dsp:spPr>
        <a:xfrm>
          <a:off x="1803" y="812800"/>
          <a:ext cx="1594295" cy="1083733"/>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SG" sz="1500" kern="1200" dirty="0"/>
            <a:t>Sub1: Data Ingestion</a:t>
          </a:r>
        </a:p>
      </dsp:txBody>
      <dsp:txXfrm>
        <a:off x="54706" y="865703"/>
        <a:ext cx="1488489" cy="977927"/>
      </dsp:txXfrm>
    </dsp:sp>
    <dsp:sp modelId="{D655F0E4-B41E-4352-B76F-484F8BA67CE7}">
      <dsp:nvSpPr>
        <dsp:cNvPr id="0" name=""/>
        <dsp:cNvSpPr/>
      </dsp:nvSpPr>
      <dsp:spPr>
        <a:xfrm>
          <a:off x="1675814" y="812800"/>
          <a:ext cx="1594295" cy="1083733"/>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SG" sz="1500" kern="1200" dirty="0"/>
            <a:t>Sub 2: Demand Forecast</a:t>
          </a:r>
        </a:p>
      </dsp:txBody>
      <dsp:txXfrm>
        <a:off x="1728717" y="865703"/>
        <a:ext cx="1488489" cy="977927"/>
      </dsp:txXfrm>
    </dsp:sp>
    <dsp:sp modelId="{572ED8AD-20A4-4F38-970E-14E3BC86B399}">
      <dsp:nvSpPr>
        <dsp:cNvPr id="0" name=""/>
        <dsp:cNvSpPr/>
      </dsp:nvSpPr>
      <dsp:spPr>
        <a:xfrm>
          <a:off x="3349824" y="812800"/>
          <a:ext cx="1594295" cy="1083733"/>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SG" sz="1500" kern="1200" dirty="0"/>
            <a:t>Sub 3: Anomaly Detect</a:t>
          </a:r>
        </a:p>
      </dsp:txBody>
      <dsp:txXfrm>
        <a:off x="3402727" y="865703"/>
        <a:ext cx="1488489" cy="977927"/>
      </dsp:txXfrm>
    </dsp:sp>
    <dsp:sp modelId="{1F4C5D2E-6ADC-409B-87EF-00129A5E2CAA}">
      <dsp:nvSpPr>
        <dsp:cNvPr id="0" name=""/>
        <dsp:cNvSpPr/>
      </dsp:nvSpPr>
      <dsp:spPr>
        <a:xfrm>
          <a:off x="5023834" y="812800"/>
          <a:ext cx="1594295" cy="1083733"/>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SG" sz="1500" kern="1200"/>
            <a:t>Sub 4: Segmentation</a:t>
          </a:r>
          <a:endParaRPr lang="en-SG" sz="1500" kern="1200" dirty="0"/>
        </a:p>
      </dsp:txBody>
      <dsp:txXfrm>
        <a:off x="5076737" y="865703"/>
        <a:ext cx="1488489" cy="977927"/>
      </dsp:txXfrm>
    </dsp:sp>
    <dsp:sp modelId="{AA6C6CE0-4505-4C2E-9B3E-F6866F7058CC}">
      <dsp:nvSpPr>
        <dsp:cNvPr id="0" name=""/>
        <dsp:cNvSpPr/>
      </dsp:nvSpPr>
      <dsp:spPr>
        <a:xfrm>
          <a:off x="6697845" y="812800"/>
          <a:ext cx="1594295" cy="1083733"/>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SG" sz="1500" kern="1200" dirty="0"/>
            <a:t>Sub 5: Fuzzy Reorder</a:t>
          </a:r>
        </a:p>
      </dsp:txBody>
      <dsp:txXfrm>
        <a:off x="6750748" y="865703"/>
        <a:ext cx="1488489" cy="977927"/>
      </dsp:txXfrm>
    </dsp:sp>
    <dsp:sp modelId="{ADF0C1E8-E4AD-4A67-9AC2-8FEE3557D84B}">
      <dsp:nvSpPr>
        <dsp:cNvPr id="0" name=""/>
        <dsp:cNvSpPr/>
      </dsp:nvSpPr>
      <dsp:spPr>
        <a:xfrm>
          <a:off x="8371855" y="812800"/>
          <a:ext cx="2244608" cy="1083733"/>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SG" sz="1500" kern="1200" dirty="0"/>
            <a:t>Sub 6: Interactive Dashboard (</a:t>
          </a:r>
          <a:r>
            <a:rPr lang="en-SG" sz="1500" kern="1200" dirty="0" err="1"/>
            <a:t>Streamlit</a:t>
          </a:r>
          <a:r>
            <a:rPr lang="en-SG" sz="1500" kern="1200" dirty="0"/>
            <a:t> + </a:t>
          </a:r>
          <a:r>
            <a:rPr lang="en-SG" sz="1500" kern="1200" dirty="0" err="1"/>
            <a:t>ngrok</a:t>
          </a:r>
          <a:r>
            <a:rPr lang="en-SG" sz="1500" kern="1200" dirty="0"/>
            <a:t> public URL)</a:t>
          </a:r>
        </a:p>
      </dsp:txBody>
      <dsp:txXfrm>
        <a:off x="8424758" y="865703"/>
        <a:ext cx="2138802" cy="977927"/>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01EBF4-07A2-4839-B99B-0B961D23B280}" type="datetimeFigureOut">
              <a:rPr lang="en-SG" smtClean="0"/>
              <a:t>26/3/2026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799CFD-EC8F-4F48-8668-34F7A9F8BB12}" type="slidenum">
              <a:rPr lang="en-SG" smtClean="0"/>
              <a:t>‹#›</a:t>
            </a:fld>
            <a:endParaRPr lang="en-SG"/>
          </a:p>
        </p:txBody>
      </p:sp>
    </p:spTree>
    <p:extLst>
      <p:ext uri="{BB962C8B-B14F-4D97-AF65-F5344CB8AC3E}">
        <p14:creationId xmlns:p14="http://schemas.microsoft.com/office/powerpoint/2010/main" val="2605384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Q: Why do we remove cull </a:t>
            </a:r>
            <a:r>
              <a:rPr lang="en-SG" dirty="0" err="1"/>
              <a:t>CustomerIDs</a:t>
            </a:r>
            <a:r>
              <a:rPr lang="en-SG" dirty="0"/>
              <a:t>?</a:t>
            </a:r>
            <a:br>
              <a:rPr lang="en-SG" dirty="0"/>
            </a:br>
            <a:r>
              <a:rPr lang="en-SG" dirty="0"/>
              <a:t>A: </a:t>
            </a:r>
            <a:r>
              <a:rPr lang="en-US" b="1" dirty="0"/>
              <a:t>It’s for Sub 4 (Customer Segmentation).</a:t>
            </a:r>
            <a:r>
              <a:rPr lang="en-US" dirty="0"/>
              <a:t> The RFM analysis requires you to group transactions by </a:t>
            </a:r>
            <a:r>
              <a:rPr lang="en-US" dirty="0" err="1"/>
              <a:t>CustomerID</a:t>
            </a:r>
            <a:r>
              <a:rPr lang="en-US" dirty="0"/>
              <a:t> to compute Recency, Frequency, and Monetary value per customer. If a row has no </a:t>
            </a:r>
            <a:r>
              <a:rPr lang="en-US" dirty="0" err="1"/>
              <a:t>CustomerID</a:t>
            </a:r>
            <a:r>
              <a:rPr lang="en-US" dirty="0"/>
              <a:t>, you literally cannot assign it to any customer - it becomes an orphan transaction that can't contribute to any RFM profile.</a:t>
            </a:r>
            <a:endParaRPr lang="en-SG" dirty="0"/>
          </a:p>
        </p:txBody>
      </p:sp>
      <p:sp>
        <p:nvSpPr>
          <p:cNvPr id="4" name="Slide Number Placeholder 3"/>
          <p:cNvSpPr>
            <a:spLocks noGrp="1"/>
          </p:cNvSpPr>
          <p:nvPr>
            <p:ph type="sldNum" sz="quarter" idx="5"/>
          </p:nvPr>
        </p:nvSpPr>
        <p:spPr/>
        <p:txBody>
          <a:bodyPr/>
          <a:lstStyle/>
          <a:p>
            <a:fld id="{0D799CFD-EC8F-4F48-8668-34F7A9F8BB12}" type="slidenum">
              <a:rPr lang="en-SG" smtClean="0"/>
              <a:t>5</a:t>
            </a:fld>
            <a:endParaRPr lang="en-SG"/>
          </a:p>
        </p:txBody>
      </p:sp>
    </p:spTree>
    <p:extLst>
      <p:ext uri="{BB962C8B-B14F-4D97-AF65-F5344CB8AC3E}">
        <p14:creationId xmlns:p14="http://schemas.microsoft.com/office/powerpoint/2010/main" val="4840799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r>
              <a:rPr lang="en-US" dirty="0"/>
              <a:t>system is built as a </a:t>
            </a:r>
            <a:r>
              <a:rPr lang="en-US" b="1" dirty="0"/>
              <a:t>pipeline of 6 subsystems</a:t>
            </a:r>
            <a:r>
              <a:rPr lang="en-US" dirty="0"/>
              <a:t>, organized across 3 layers:</a:t>
            </a:r>
            <a:endParaRPr lang="en-SG" dirty="0"/>
          </a:p>
        </p:txBody>
      </p:sp>
      <p:sp>
        <p:nvSpPr>
          <p:cNvPr id="4" name="Slide Number Placeholder 3"/>
          <p:cNvSpPr>
            <a:spLocks noGrp="1"/>
          </p:cNvSpPr>
          <p:nvPr>
            <p:ph type="sldNum" sz="quarter" idx="5"/>
          </p:nvPr>
        </p:nvSpPr>
        <p:spPr/>
        <p:txBody>
          <a:bodyPr/>
          <a:lstStyle/>
          <a:p>
            <a:fld id="{0D799CFD-EC8F-4F48-8668-34F7A9F8BB12}" type="slidenum">
              <a:rPr lang="en-SG" smtClean="0"/>
              <a:t>6</a:t>
            </a:fld>
            <a:endParaRPr lang="en-SG"/>
          </a:p>
        </p:txBody>
      </p:sp>
    </p:spTree>
    <p:extLst>
      <p:ext uri="{BB962C8B-B14F-4D97-AF65-F5344CB8AC3E}">
        <p14:creationId xmlns:p14="http://schemas.microsoft.com/office/powerpoint/2010/main" val="12344654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eaLnBrk="1" fontAlgn="t" latinLnBrk="0" hangingPunct="1"/>
            <a:r>
              <a:rPr lang="en-SG" sz="1200" b="1" i="0" u="none" strike="noStrike" kern="1200" dirty="0">
                <a:solidFill>
                  <a:schemeClr val="tx1"/>
                </a:solidFill>
                <a:effectLst/>
                <a:latin typeface="+mn-lt"/>
                <a:ea typeface="+mn-ea"/>
                <a:cs typeface="+mn-cs"/>
              </a:rPr>
              <a:t>Inventory Calculation Formulas</a:t>
            </a:r>
            <a:endParaRPr lang="en-SG" sz="1200" b="0" i="0" u="none" strike="noStrike" kern="1200" dirty="0">
              <a:solidFill>
                <a:schemeClr val="tx1"/>
              </a:solidFill>
              <a:effectLst/>
              <a:latin typeface="+mn-lt"/>
              <a:ea typeface="+mn-ea"/>
              <a:cs typeface="+mn-cs"/>
            </a:endParaRPr>
          </a:p>
          <a:p>
            <a:pPr rtl="0" eaLnBrk="1" fontAlgn="t" latinLnBrk="0" hangingPunct="1"/>
            <a:r>
              <a:rPr lang="en-SG" sz="1200" b="0" i="0" u="none" strike="noStrike" kern="1200" dirty="0">
                <a:solidFill>
                  <a:schemeClr val="tx1"/>
                </a:solidFill>
                <a:effectLst/>
                <a:latin typeface="+mn-lt"/>
                <a:ea typeface="+mn-ea"/>
                <a:cs typeface="+mn-cs"/>
              </a:rPr>
              <a:t>EOQ</a:t>
            </a:r>
          </a:p>
          <a:p>
            <a:pPr rtl="0" eaLnBrk="1" fontAlgn="t" latinLnBrk="0" hangingPunct="1"/>
            <a:r>
              <a:rPr lang="en-SG" sz="1200" b="1" i="0" u="none" strike="noStrike" kern="1200" dirty="0">
                <a:solidFill>
                  <a:schemeClr val="tx1"/>
                </a:solidFill>
                <a:effectLst/>
                <a:latin typeface="+mn-lt"/>
                <a:ea typeface="+mn-ea"/>
                <a:cs typeface="+mn-cs"/>
              </a:rPr>
              <a:t>√(2 × D × S / H)</a:t>
            </a:r>
          </a:p>
          <a:p>
            <a:pPr marL="0" marR="0" lvl="0" indent="0" algn="l" defTabSz="914400" rtl="0" eaLnBrk="1" fontAlgn="t" latinLnBrk="0" hangingPunct="1">
              <a:lnSpc>
                <a:spcPct val="100000"/>
              </a:lnSpc>
              <a:spcBef>
                <a:spcPts val="0"/>
              </a:spcBef>
              <a:spcAft>
                <a:spcPts val="0"/>
              </a:spcAft>
              <a:buClrTx/>
              <a:buSzTx/>
              <a:buFontTx/>
              <a:buNone/>
              <a:tabLst/>
              <a:defRPr/>
            </a:pPr>
            <a:r>
              <a:rPr lang="en-SG" sz="1200" b="0" i="0" dirty="0">
                <a:solidFill>
                  <a:srgbClr val="64748B"/>
                </a:solidFill>
                <a:latin typeface="+mn-lt"/>
              </a:rPr>
              <a:t>Economic Order Quantity</a:t>
            </a:r>
          </a:p>
          <a:p>
            <a:pPr rtl="0" eaLnBrk="1" fontAlgn="t" latinLnBrk="0" hangingPunct="1"/>
            <a:endParaRPr lang="en-SG" sz="1200" b="0" i="0" u="none" strike="noStrike" kern="1200" dirty="0">
              <a:solidFill>
                <a:schemeClr val="tx1"/>
              </a:solidFill>
              <a:effectLst/>
              <a:latin typeface="+mn-lt"/>
              <a:ea typeface="+mn-ea"/>
              <a:cs typeface="+mn-cs"/>
            </a:endParaRPr>
          </a:p>
          <a:p>
            <a:pPr rtl="0" eaLnBrk="1" fontAlgn="t" latinLnBrk="0" hangingPunct="1"/>
            <a:endParaRPr lang="en-SG" sz="1200" b="0" i="0" u="none" strike="noStrike" kern="1200" dirty="0">
              <a:solidFill>
                <a:schemeClr val="tx1"/>
              </a:solidFill>
              <a:effectLst/>
              <a:latin typeface="+mn-lt"/>
              <a:ea typeface="+mn-ea"/>
              <a:cs typeface="+mn-cs"/>
            </a:endParaRPr>
          </a:p>
          <a:p>
            <a:pPr rtl="0" eaLnBrk="1" fontAlgn="t" latinLnBrk="0" hangingPunct="1"/>
            <a:endParaRPr lang="en-SG" sz="1200" b="0" i="0" u="none" strike="noStrike" kern="1200" dirty="0">
              <a:solidFill>
                <a:schemeClr val="tx1"/>
              </a:solidFill>
              <a:effectLst/>
              <a:latin typeface="+mn-lt"/>
              <a:ea typeface="+mn-ea"/>
              <a:cs typeface="+mn-cs"/>
            </a:endParaRPr>
          </a:p>
          <a:p>
            <a:pPr rtl="0" eaLnBrk="1" fontAlgn="t" latinLnBrk="0" hangingPunct="1"/>
            <a:r>
              <a:rPr lang="en-SG" sz="1200" b="0" i="0" u="none" strike="noStrike" kern="1200" dirty="0">
                <a:solidFill>
                  <a:schemeClr val="tx1"/>
                </a:solidFill>
                <a:effectLst/>
                <a:latin typeface="+mn-lt"/>
                <a:ea typeface="+mn-ea"/>
                <a:cs typeface="+mn-cs"/>
              </a:rPr>
              <a:t>ROP</a:t>
            </a:r>
          </a:p>
          <a:p>
            <a:pPr rtl="0" eaLnBrk="1" fontAlgn="auto" latinLnBrk="0" hangingPunct="1"/>
            <a:r>
              <a:rPr lang="en-SG" sz="1200" b="1" i="0" u="none" strike="noStrike" kern="1200" dirty="0">
                <a:solidFill>
                  <a:schemeClr val="tx1"/>
                </a:solidFill>
                <a:effectLst/>
                <a:latin typeface="+mn-lt"/>
                <a:ea typeface="+mn-ea"/>
                <a:cs typeface="+mn-cs"/>
              </a:rPr>
              <a:t>d̄ × L + Z × </a:t>
            </a:r>
            <a:r>
              <a:rPr lang="el-GR" sz="1200" b="1" i="0" u="none" strike="noStrike" kern="1200" dirty="0">
                <a:solidFill>
                  <a:schemeClr val="tx1"/>
                </a:solidFill>
                <a:effectLst/>
                <a:latin typeface="+mn-lt"/>
                <a:ea typeface="+mn-ea"/>
                <a:cs typeface="+mn-cs"/>
              </a:rPr>
              <a:t>σ × √</a:t>
            </a:r>
            <a:r>
              <a:rPr lang="en-SG" sz="1200" b="1" i="0" u="none" strike="noStrike" kern="1200" dirty="0">
                <a:solidFill>
                  <a:schemeClr val="tx1"/>
                </a:solidFill>
                <a:effectLst/>
                <a:latin typeface="+mn-lt"/>
                <a:ea typeface="+mn-ea"/>
                <a:cs typeface="+mn-cs"/>
              </a:rPr>
              <a:t>L</a:t>
            </a:r>
          </a:p>
          <a:p>
            <a:pPr marL="0" marR="0" lvl="0" indent="0" algn="l" defTabSz="914400" rtl="0" eaLnBrk="1" fontAlgn="auto" latinLnBrk="0" hangingPunct="1">
              <a:lnSpc>
                <a:spcPct val="100000"/>
              </a:lnSpc>
              <a:spcBef>
                <a:spcPts val="0"/>
              </a:spcBef>
              <a:spcAft>
                <a:spcPts val="0"/>
              </a:spcAft>
              <a:buClrTx/>
              <a:buSzTx/>
              <a:buFontTx/>
              <a:buNone/>
              <a:tabLst/>
              <a:defRPr/>
            </a:pPr>
            <a:r>
              <a:rPr lang="en-SG" sz="1200" b="0" i="0" dirty="0">
                <a:solidFill>
                  <a:srgbClr val="64748B"/>
                </a:solidFill>
                <a:latin typeface="+mn-lt"/>
              </a:rPr>
              <a:t>Reorder Point</a:t>
            </a:r>
          </a:p>
          <a:p>
            <a:pPr rtl="0" eaLnBrk="1" fontAlgn="auto" latinLnBrk="0" hangingPunct="1"/>
            <a:endParaRPr lang="en-SG" sz="1200" b="0" i="0" u="none" strike="noStrike" kern="1200" dirty="0">
              <a:solidFill>
                <a:schemeClr val="tx1"/>
              </a:solidFill>
              <a:effectLst/>
              <a:latin typeface="+mn-lt"/>
              <a:ea typeface="+mn-ea"/>
              <a:cs typeface="+mn-cs"/>
            </a:endParaRPr>
          </a:p>
          <a:p>
            <a:pPr rtl="0" eaLnBrk="1" fontAlgn="auto" latinLnBrk="0" hangingPunct="1"/>
            <a:endParaRPr lang="en-SG" sz="1200" b="0" i="0" u="none" strike="noStrike" kern="1200" dirty="0">
              <a:solidFill>
                <a:schemeClr val="tx1"/>
              </a:solidFill>
              <a:effectLst/>
              <a:latin typeface="+mn-lt"/>
              <a:ea typeface="+mn-ea"/>
              <a:cs typeface="+mn-cs"/>
            </a:endParaRPr>
          </a:p>
          <a:p>
            <a:pPr rtl="0" eaLnBrk="1" fontAlgn="auto" latinLnBrk="0" hangingPunct="1"/>
            <a:endParaRPr lang="en-SG" sz="1200" b="0" i="0" u="none" strike="noStrike" kern="1200" dirty="0">
              <a:solidFill>
                <a:schemeClr val="tx1"/>
              </a:solidFill>
              <a:effectLst/>
              <a:latin typeface="+mn-lt"/>
              <a:ea typeface="+mn-ea"/>
              <a:cs typeface="+mn-cs"/>
            </a:endParaRPr>
          </a:p>
          <a:p>
            <a:pPr rtl="0" eaLnBrk="1" fontAlgn="t" latinLnBrk="0" hangingPunct="1"/>
            <a:r>
              <a:rPr lang="en-SG" sz="1200" b="0" i="0" u="none" strike="noStrike" kern="1200" dirty="0">
                <a:solidFill>
                  <a:schemeClr val="tx1"/>
                </a:solidFill>
                <a:effectLst/>
                <a:latin typeface="+mn-lt"/>
                <a:ea typeface="+mn-ea"/>
                <a:cs typeface="+mn-cs"/>
              </a:rPr>
              <a:t>Safety Stock</a:t>
            </a:r>
          </a:p>
          <a:p>
            <a:pPr rtl="0" eaLnBrk="1" fontAlgn="auto" latinLnBrk="0" hangingPunct="1"/>
            <a:r>
              <a:rPr lang="en-SG" sz="1200" b="1" i="0" u="none" strike="noStrike" kern="1200" dirty="0">
                <a:solidFill>
                  <a:schemeClr val="tx1"/>
                </a:solidFill>
                <a:effectLst/>
                <a:latin typeface="+mn-lt"/>
                <a:ea typeface="+mn-ea"/>
                <a:cs typeface="+mn-cs"/>
              </a:rPr>
              <a:t>Z × </a:t>
            </a:r>
            <a:r>
              <a:rPr lang="el-GR" sz="1200" b="1" i="0" u="none" strike="noStrike" kern="1200" dirty="0">
                <a:solidFill>
                  <a:schemeClr val="tx1"/>
                </a:solidFill>
                <a:effectLst/>
                <a:latin typeface="+mn-lt"/>
                <a:ea typeface="+mn-ea"/>
                <a:cs typeface="+mn-cs"/>
              </a:rPr>
              <a:t>σ_</a:t>
            </a:r>
            <a:r>
              <a:rPr lang="en-SG" sz="1200" b="1" i="0" u="none" strike="noStrike" kern="1200" dirty="0">
                <a:solidFill>
                  <a:schemeClr val="tx1"/>
                </a:solidFill>
                <a:effectLst/>
                <a:latin typeface="+mn-lt"/>
                <a:ea typeface="+mn-ea"/>
                <a:cs typeface="+mn-cs"/>
              </a:rPr>
              <a:t>d × √L</a:t>
            </a:r>
          </a:p>
          <a:p>
            <a:pPr marL="0" marR="0" lvl="0" indent="0" algn="l" defTabSz="914400" rtl="0" eaLnBrk="1" fontAlgn="auto" latinLnBrk="0" hangingPunct="1">
              <a:lnSpc>
                <a:spcPct val="100000"/>
              </a:lnSpc>
              <a:spcBef>
                <a:spcPts val="0"/>
              </a:spcBef>
              <a:spcAft>
                <a:spcPts val="0"/>
              </a:spcAft>
              <a:buClrTx/>
              <a:buSzTx/>
              <a:buFontTx/>
              <a:buNone/>
              <a:tabLst/>
              <a:defRPr/>
            </a:pPr>
            <a:r>
              <a:rPr lang="en-SG" sz="1200" b="0" i="0" dirty="0">
                <a:solidFill>
                  <a:srgbClr val="64748B"/>
                </a:solidFill>
                <a:latin typeface="+mn-lt"/>
              </a:rPr>
              <a:t>Buffer against demand spikes</a:t>
            </a:r>
          </a:p>
          <a:p>
            <a:pPr rtl="0" eaLnBrk="1" fontAlgn="auto" latinLnBrk="0" hangingPunct="1"/>
            <a:endParaRPr lang="en-SG" sz="1200" b="0" i="0" u="none" strike="noStrike" kern="1200" dirty="0">
              <a:solidFill>
                <a:schemeClr val="tx1"/>
              </a:solidFill>
              <a:effectLst/>
              <a:latin typeface="+mn-lt"/>
              <a:ea typeface="+mn-ea"/>
              <a:cs typeface="+mn-cs"/>
            </a:endParaRPr>
          </a:p>
          <a:p>
            <a:pPr rtl="0" eaLnBrk="1" fontAlgn="auto" latinLnBrk="0" hangingPunct="1"/>
            <a:endParaRPr lang="en-SG" sz="1200" b="0" i="0" u="none" strike="noStrike" kern="1200" dirty="0">
              <a:solidFill>
                <a:schemeClr val="tx1"/>
              </a:solidFill>
              <a:effectLst/>
              <a:latin typeface="+mn-lt"/>
              <a:ea typeface="+mn-ea"/>
              <a:cs typeface="+mn-cs"/>
            </a:endParaRPr>
          </a:p>
          <a:p>
            <a:pPr rtl="0" eaLnBrk="1" fontAlgn="auto" latinLnBrk="0" hangingPunct="1"/>
            <a:endParaRPr lang="en-SG" sz="1200" b="0" i="0" u="none" strike="noStrike" kern="1200" dirty="0">
              <a:solidFill>
                <a:schemeClr val="tx1"/>
              </a:solidFill>
              <a:effectLst/>
              <a:latin typeface="+mn-lt"/>
              <a:ea typeface="+mn-ea"/>
              <a:cs typeface="+mn-cs"/>
            </a:endParaRPr>
          </a:p>
          <a:p>
            <a:pPr rtl="0" eaLnBrk="1" fontAlgn="t" latinLnBrk="0" hangingPunct="1"/>
            <a:r>
              <a:rPr lang="en-SG" sz="1200" b="0" i="0" u="none" strike="noStrike" kern="1200" dirty="0">
                <a:solidFill>
                  <a:schemeClr val="tx1"/>
                </a:solidFill>
                <a:effectLst/>
                <a:latin typeface="+mn-lt"/>
                <a:ea typeface="+mn-ea"/>
                <a:cs typeface="+mn-cs"/>
              </a:rPr>
              <a:t>Coverage</a:t>
            </a:r>
          </a:p>
          <a:p>
            <a:pPr rtl="0" eaLnBrk="1" fontAlgn="auto" latinLnBrk="0" hangingPunct="1"/>
            <a:r>
              <a:rPr lang="en-SG" sz="1200" b="1" i="0" u="none" strike="noStrike" kern="1200" dirty="0">
                <a:solidFill>
                  <a:schemeClr val="tx1"/>
                </a:solidFill>
                <a:effectLst/>
                <a:latin typeface="+mn-lt"/>
                <a:ea typeface="+mn-ea"/>
                <a:cs typeface="+mn-cs"/>
              </a:rPr>
              <a:t>Stock on Hand / d̄</a:t>
            </a:r>
          </a:p>
          <a:p>
            <a:pPr marL="0" marR="0" lvl="0" indent="0" algn="l" defTabSz="914400" rtl="0" eaLnBrk="1" fontAlgn="auto" latinLnBrk="0" hangingPunct="1">
              <a:lnSpc>
                <a:spcPct val="100000"/>
              </a:lnSpc>
              <a:spcBef>
                <a:spcPts val="0"/>
              </a:spcBef>
              <a:spcAft>
                <a:spcPts val="0"/>
              </a:spcAft>
              <a:buClrTx/>
              <a:buSzTx/>
              <a:buFontTx/>
              <a:buNone/>
              <a:tabLst/>
              <a:defRPr/>
            </a:pPr>
            <a:r>
              <a:rPr lang="en-SG" sz="1200" b="0" i="0" dirty="0">
                <a:solidFill>
                  <a:srgbClr val="64748B"/>
                </a:solidFill>
                <a:latin typeface="+mn-lt"/>
              </a:rPr>
              <a:t>Days of stock remaining</a:t>
            </a:r>
          </a:p>
          <a:p>
            <a:pPr rtl="0" eaLnBrk="1" fontAlgn="auto" latinLnBrk="0" hangingPunct="1"/>
            <a:endParaRPr lang="en-SG" sz="1200" b="0" i="0" u="none" strike="noStrike" kern="1200" dirty="0">
              <a:solidFill>
                <a:schemeClr val="tx1"/>
              </a:solidFill>
              <a:effectLst/>
              <a:latin typeface="+mn-lt"/>
              <a:ea typeface="+mn-ea"/>
              <a:cs typeface="+mn-cs"/>
            </a:endParaRPr>
          </a:p>
          <a:p>
            <a:pPr rtl="0" eaLnBrk="1" fontAlgn="auto" latinLnBrk="0" hangingPunct="1"/>
            <a:endParaRPr lang="en-SG" sz="1200" b="0" i="0" u="none" strike="noStrike" kern="1200" dirty="0">
              <a:solidFill>
                <a:schemeClr val="tx1"/>
              </a:solidFill>
              <a:effectLst/>
              <a:latin typeface="+mn-lt"/>
              <a:ea typeface="+mn-ea"/>
              <a:cs typeface="+mn-cs"/>
            </a:endParaRPr>
          </a:p>
          <a:p>
            <a:pPr rtl="0" eaLnBrk="1" fontAlgn="auto" latinLnBrk="0" hangingPunct="1"/>
            <a:endParaRPr lang="en-SG" sz="1200" b="0" i="0" u="none" strike="noStrike" kern="1200" dirty="0">
              <a:solidFill>
                <a:schemeClr val="tx1"/>
              </a:solidFill>
              <a:effectLst/>
              <a:latin typeface="+mn-lt"/>
              <a:ea typeface="+mn-ea"/>
              <a:cs typeface="+mn-cs"/>
            </a:endParaRPr>
          </a:p>
          <a:p>
            <a:pPr rtl="0" eaLnBrk="1" fontAlgn="t" latinLnBrk="0" hangingPunct="1"/>
            <a:r>
              <a:rPr lang="en-SG" sz="1200" b="0" i="0" u="none" strike="noStrike" kern="1200" dirty="0">
                <a:solidFill>
                  <a:schemeClr val="tx1"/>
                </a:solidFill>
                <a:effectLst/>
                <a:latin typeface="+mn-lt"/>
                <a:ea typeface="+mn-ea"/>
                <a:cs typeface="+mn-cs"/>
              </a:rPr>
              <a:t>Volatility</a:t>
            </a:r>
          </a:p>
          <a:p>
            <a:pPr rtl="0" eaLnBrk="1" fontAlgn="auto" latinLnBrk="0" hangingPunct="1"/>
            <a:r>
              <a:rPr lang="el-GR" sz="1200" b="1" i="0" u="none" strike="noStrike" kern="1200" dirty="0">
                <a:solidFill>
                  <a:schemeClr val="tx1"/>
                </a:solidFill>
                <a:effectLst/>
                <a:latin typeface="+mn-lt"/>
                <a:ea typeface="+mn-ea"/>
                <a:cs typeface="+mn-cs"/>
              </a:rPr>
              <a:t>σ / </a:t>
            </a:r>
            <a:r>
              <a:rPr lang="en-SG" sz="1200" b="1" i="0" u="none" strike="noStrike" kern="1200" dirty="0">
                <a:solidFill>
                  <a:schemeClr val="tx1"/>
                </a:solidFill>
                <a:effectLst/>
                <a:latin typeface="+mn-lt"/>
                <a:ea typeface="+mn-ea"/>
                <a:cs typeface="+mn-cs"/>
              </a:rPr>
              <a:t>d̄ (CV)</a:t>
            </a:r>
          </a:p>
          <a:p>
            <a:pPr marL="0" marR="0" lvl="0" indent="0" algn="l" defTabSz="914400" rtl="0" eaLnBrk="1" fontAlgn="auto" latinLnBrk="0" hangingPunct="1">
              <a:lnSpc>
                <a:spcPct val="100000"/>
              </a:lnSpc>
              <a:spcBef>
                <a:spcPts val="0"/>
              </a:spcBef>
              <a:spcAft>
                <a:spcPts val="0"/>
              </a:spcAft>
              <a:buClrTx/>
              <a:buSzTx/>
              <a:buFontTx/>
              <a:buNone/>
              <a:tabLst/>
              <a:defRPr/>
            </a:pPr>
            <a:r>
              <a:rPr lang="en-SG" sz="1200" b="0" i="0" dirty="0">
                <a:solidFill>
                  <a:srgbClr val="64748B"/>
                </a:solidFill>
                <a:latin typeface="+mn-lt"/>
              </a:rPr>
              <a:t>Coefficient of Variation</a:t>
            </a:r>
          </a:p>
          <a:p>
            <a:pPr rtl="0" eaLnBrk="1" fontAlgn="auto" latinLnBrk="0" hangingPunct="1"/>
            <a:endParaRPr lang="en-SG" sz="1200" b="0" i="0" u="none" strike="noStrike" kern="1200" dirty="0">
              <a:solidFill>
                <a:schemeClr val="tx1"/>
              </a:solidFill>
              <a:effectLst/>
              <a:latin typeface="+mn-lt"/>
              <a:ea typeface="+mn-ea"/>
              <a:cs typeface="+mn-cs"/>
            </a:endParaRPr>
          </a:p>
          <a:p>
            <a:endParaRPr lang="en-SG" dirty="0"/>
          </a:p>
        </p:txBody>
      </p:sp>
      <p:sp>
        <p:nvSpPr>
          <p:cNvPr id="4" name="Slide Number Placeholder 3"/>
          <p:cNvSpPr>
            <a:spLocks noGrp="1"/>
          </p:cNvSpPr>
          <p:nvPr>
            <p:ph type="sldNum" sz="quarter" idx="5"/>
          </p:nvPr>
        </p:nvSpPr>
        <p:spPr/>
        <p:txBody>
          <a:bodyPr/>
          <a:lstStyle/>
          <a:p>
            <a:fld id="{0D799CFD-EC8F-4F48-8668-34F7A9F8BB12}" type="slidenum">
              <a:rPr lang="en-SG" smtClean="0"/>
              <a:t>12</a:t>
            </a:fld>
            <a:endParaRPr lang="en-SG"/>
          </a:p>
        </p:txBody>
      </p:sp>
    </p:spTree>
    <p:extLst>
      <p:ext uri="{BB962C8B-B14F-4D97-AF65-F5344CB8AC3E}">
        <p14:creationId xmlns:p14="http://schemas.microsoft.com/office/powerpoint/2010/main" val="14518784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8AB763-F9FF-4268-B882-53249B64243E}" type="datetime1">
              <a:rPr lang="en-SG" smtClean="0"/>
              <a:t>26/3/2026</a:t>
            </a:fld>
            <a:endParaRPr lang="en-SG"/>
          </a:p>
        </p:txBody>
      </p:sp>
      <p:sp>
        <p:nvSpPr>
          <p:cNvPr id="5" name="Footer Placeholder 4"/>
          <p:cNvSpPr>
            <a:spLocks noGrp="1"/>
          </p:cNvSpPr>
          <p:nvPr>
            <p:ph type="ftr" sz="quarter" idx="11"/>
          </p:nvPr>
        </p:nvSpPr>
        <p:spPr/>
        <p:txBody>
          <a:bodyPr/>
          <a:lstStyle/>
          <a:p>
            <a:endParaRPr lang="en-SG"/>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A37AB63-62EB-4EDF-B1C9-C7FAE06A9E45}" type="slidenum">
              <a:rPr lang="en-SG" smtClean="0"/>
              <a:t>‹#›</a:t>
            </a:fld>
            <a:endParaRPr lang="en-SG"/>
          </a:p>
        </p:txBody>
      </p:sp>
    </p:spTree>
    <p:extLst>
      <p:ext uri="{BB962C8B-B14F-4D97-AF65-F5344CB8AC3E}">
        <p14:creationId xmlns:p14="http://schemas.microsoft.com/office/powerpoint/2010/main" val="42471372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26FC46-F5BC-4FCD-B2D9-760BB41F2DED}" type="datetime1">
              <a:rPr lang="en-SG" smtClean="0"/>
              <a:t>26/3/2026</a:t>
            </a:fld>
            <a:endParaRPr lang="en-SG"/>
          </a:p>
        </p:txBody>
      </p:sp>
      <p:sp>
        <p:nvSpPr>
          <p:cNvPr id="5" name="Footer Placeholder 4"/>
          <p:cNvSpPr>
            <a:spLocks noGrp="1"/>
          </p:cNvSpPr>
          <p:nvPr>
            <p:ph type="ftr" sz="quarter" idx="11"/>
          </p:nvPr>
        </p:nvSpPr>
        <p:spPr/>
        <p:txBody>
          <a:bodyPr/>
          <a:lstStyle/>
          <a:p>
            <a:endParaRPr lang="en-SG"/>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A37AB63-62EB-4EDF-B1C9-C7FAE06A9E45}" type="slidenum">
              <a:rPr lang="en-SG" smtClean="0"/>
              <a:t>‹#›</a:t>
            </a:fld>
            <a:endParaRPr lang="en-SG"/>
          </a:p>
        </p:txBody>
      </p:sp>
    </p:spTree>
    <p:extLst>
      <p:ext uri="{BB962C8B-B14F-4D97-AF65-F5344CB8AC3E}">
        <p14:creationId xmlns:p14="http://schemas.microsoft.com/office/powerpoint/2010/main" val="2490158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4BC472-58F0-487D-9AB5-00CC007C54B6}" type="datetime1">
              <a:rPr lang="en-SG" smtClean="0"/>
              <a:t>26/3/2026</a:t>
            </a:fld>
            <a:endParaRPr lang="en-SG"/>
          </a:p>
        </p:txBody>
      </p:sp>
      <p:sp>
        <p:nvSpPr>
          <p:cNvPr id="5" name="Footer Placeholder 4"/>
          <p:cNvSpPr>
            <a:spLocks noGrp="1"/>
          </p:cNvSpPr>
          <p:nvPr>
            <p:ph type="ftr" sz="quarter" idx="11"/>
          </p:nvPr>
        </p:nvSpPr>
        <p:spPr/>
        <p:txBody>
          <a:bodyPr/>
          <a:lstStyle/>
          <a:p>
            <a:endParaRPr lang="en-SG"/>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A37AB63-62EB-4EDF-B1C9-C7FAE06A9E45}" type="slidenum">
              <a:rPr lang="en-SG" smtClean="0"/>
              <a:t>‹#›</a:t>
            </a:fld>
            <a:endParaRPr lang="en-SG"/>
          </a:p>
        </p:txBody>
      </p:sp>
    </p:spTree>
    <p:extLst>
      <p:ext uri="{BB962C8B-B14F-4D97-AF65-F5344CB8AC3E}">
        <p14:creationId xmlns:p14="http://schemas.microsoft.com/office/powerpoint/2010/main" val="1443680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DF88E2B-BEED-43EE-B23F-A2C943002FF3}" type="datetime1">
              <a:rPr lang="en-SG" smtClean="0"/>
              <a:t>26/3/2026</a:t>
            </a:fld>
            <a:endParaRPr lang="en-SG"/>
          </a:p>
        </p:txBody>
      </p:sp>
      <p:sp>
        <p:nvSpPr>
          <p:cNvPr id="6" name="Footer Placeholder 5"/>
          <p:cNvSpPr>
            <a:spLocks noGrp="1"/>
          </p:cNvSpPr>
          <p:nvPr>
            <p:ph type="ftr" sz="quarter" idx="11"/>
          </p:nvPr>
        </p:nvSpPr>
        <p:spPr/>
        <p:txBody>
          <a:bodyPr/>
          <a:lstStyle/>
          <a:p>
            <a:endParaRPr lang="en-SG"/>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A37AB63-62EB-4EDF-B1C9-C7FAE06A9E45}" type="slidenum">
              <a:rPr lang="en-SG" smtClean="0"/>
              <a:t>‹#›</a:t>
            </a:fld>
            <a:endParaRPr lang="en-SG"/>
          </a:p>
        </p:txBody>
      </p:sp>
    </p:spTree>
    <p:extLst>
      <p:ext uri="{BB962C8B-B14F-4D97-AF65-F5344CB8AC3E}">
        <p14:creationId xmlns:p14="http://schemas.microsoft.com/office/powerpoint/2010/main" val="2436990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2081173-0D84-480D-B0C2-4A0114B2DEA8}" type="datetime1">
              <a:rPr lang="en-SG" smtClean="0"/>
              <a:t>26/3/2026</a:t>
            </a:fld>
            <a:endParaRPr lang="en-SG"/>
          </a:p>
        </p:txBody>
      </p:sp>
      <p:sp>
        <p:nvSpPr>
          <p:cNvPr id="8" name="Footer Placeholder 7"/>
          <p:cNvSpPr>
            <a:spLocks noGrp="1"/>
          </p:cNvSpPr>
          <p:nvPr>
            <p:ph type="ftr" sz="quarter" idx="11"/>
          </p:nvPr>
        </p:nvSpPr>
        <p:spPr/>
        <p:txBody>
          <a:bodyPr/>
          <a:lstStyle/>
          <a:p>
            <a:endParaRPr lang="en-SG"/>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A37AB63-62EB-4EDF-B1C9-C7FAE06A9E45}" type="slidenum">
              <a:rPr lang="en-SG" smtClean="0"/>
              <a:t>‹#›</a:t>
            </a:fld>
            <a:endParaRPr lang="en-SG"/>
          </a:p>
        </p:txBody>
      </p:sp>
    </p:spTree>
    <p:extLst>
      <p:ext uri="{BB962C8B-B14F-4D97-AF65-F5344CB8AC3E}">
        <p14:creationId xmlns:p14="http://schemas.microsoft.com/office/powerpoint/2010/main" val="32160117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9D2D94A-A1CC-4B06-B65D-6FEACCFFFF92}" type="datetime1">
              <a:rPr lang="en-SG" smtClean="0"/>
              <a:t>26/3/2026</a:t>
            </a:fld>
            <a:endParaRPr lang="en-SG"/>
          </a:p>
        </p:txBody>
      </p:sp>
      <p:sp>
        <p:nvSpPr>
          <p:cNvPr id="4" name="Footer Placeholder 3"/>
          <p:cNvSpPr>
            <a:spLocks noGrp="1"/>
          </p:cNvSpPr>
          <p:nvPr>
            <p:ph type="ftr" sz="quarter" idx="11"/>
          </p:nvPr>
        </p:nvSpPr>
        <p:spPr/>
        <p:txBody>
          <a:bodyPr/>
          <a:lstStyle/>
          <a:p>
            <a:endParaRPr lang="en-SG"/>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A37AB63-62EB-4EDF-B1C9-C7FAE06A9E45}" type="slidenum">
              <a:rPr lang="en-SG" smtClean="0"/>
              <a:t>‹#›</a:t>
            </a:fld>
            <a:endParaRPr lang="en-SG"/>
          </a:p>
        </p:txBody>
      </p:sp>
    </p:spTree>
    <p:extLst>
      <p:ext uri="{BB962C8B-B14F-4D97-AF65-F5344CB8AC3E}">
        <p14:creationId xmlns:p14="http://schemas.microsoft.com/office/powerpoint/2010/main" val="1369375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02603B-9B4F-4A2A-B486-1244DABB48AF}" type="datetime1">
              <a:rPr lang="en-SG" smtClean="0"/>
              <a:t>26/3/2026</a:t>
            </a:fld>
            <a:endParaRPr lang="en-SG"/>
          </a:p>
        </p:txBody>
      </p:sp>
      <p:sp>
        <p:nvSpPr>
          <p:cNvPr id="3" name="Footer Placeholder 2"/>
          <p:cNvSpPr>
            <a:spLocks noGrp="1"/>
          </p:cNvSpPr>
          <p:nvPr>
            <p:ph type="ftr" sz="quarter" idx="11"/>
          </p:nvPr>
        </p:nvSpPr>
        <p:spPr/>
        <p:txBody>
          <a:bodyPr/>
          <a:lstStyle/>
          <a:p>
            <a:endParaRPr lang="en-SG"/>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A37AB63-62EB-4EDF-B1C9-C7FAE06A9E45}" type="slidenum">
              <a:rPr lang="en-SG" smtClean="0"/>
              <a:t>‹#›</a:t>
            </a:fld>
            <a:endParaRPr lang="en-SG"/>
          </a:p>
        </p:txBody>
      </p:sp>
    </p:spTree>
    <p:extLst>
      <p:ext uri="{BB962C8B-B14F-4D97-AF65-F5344CB8AC3E}">
        <p14:creationId xmlns:p14="http://schemas.microsoft.com/office/powerpoint/2010/main" val="15454179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B3908D1-85DF-4811-9165-85C47139C435}" type="datetime1">
              <a:rPr lang="en-SG" smtClean="0"/>
              <a:t>26/3/2026</a:t>
            </a:fld>
            <a:endParaRPr lang="en-SG"/>
          </a:p>
        </p:txBody>
      </p:sp>
      <p:sp>
        <p:nvSpPr>
          <p:cNvPr id="6" name="Footer Placeholder 5"/>
          <p:cNvSpPr>
            <a:spLocks noGrp="1"/>
          </p:cNvSpPr>
          <p:nvPr>
            <p:ph type="ftr" sz="quarter" idx="11"/>
          </p:nvPr>
        </p:nvSpPr>
        <p:spPr/>
        <p:txBody>
          <a:bodyPr/>
          <a:lstStyle/>
          <a:p>
            <a:endParaRPr lang="en-SG"/>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A37AB63-62EB-4EDF-B1C9-C7FAE06A9E45}" type="slidenum">
              <a:rPr lang="en-SG" smtClean="0"/>
              <a:t>‹#›</a:t>
            </a:fld>
            <a:endParaRPr lang="en-SG"/>
          </a:p>
        </p:txBody>
      </p:sp>
    </p:spTree>
    <p:extLst>
      <p:ext uri="{BB962C8B-B14F-4D97-AF65-F5344CB8AC3E}">
        <p14:creationId xmlns:p14="http://schemas.microsoft.com/office/powerpoint/2010/main" val="2061650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091BC7-D355-4739-8DFC-00A132B58651}" type="datetime1">
              <a:rPr lang="en-SG" smtClean="0"/>
              <a:t>26/3/2026</a:t>
            </a:fld>
            <a:endParaRPr lang="en-SG"/>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A37AB63-62EB-4EDF-B1C9-C7FAE06A9E45}" type="slidenum">
              <a:rPr lang="en-SG" smtClean="0"/>
              <a:t>‹#›</a:t>
            </a:fld>
            <a:endParaRPr lang="en-SG"/>
          </a:p>
        </p:txBody>
      </p:sp>
    </p:spTree>
    <p:extLst>
      <p:ext uri="{BB962C8B-B14F-4D97-AF65-F5344CB8AC3E}">
        <p14:creationId xmlns:p14="http://schemas.microsoft.com/office/powerpoint/2010/main" val="570376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945241-0C60-4DDA-A7E1-F48E8EF2BC3C}" type="datetime1">
              <a:rPr lang="en-SG" smtClean="0"/>
              <a:t>26/3/2026</a:t>
            </a:fld>
            <a:endParaRPr lang="en-SG"/>
          </a:p>
        </p:txBody>
      </p:sp>
      <p:sp>
        <p:nvSpPr>
          <p:cNvPr id="5" name="Footer Placeholder 4"/>
          <p:cNvSpPr>
            <a:spLocks noGrp="1"/>
          </p:cNvSpPr>
          <p:nvPr>
            <p:ph type="ftr" sz="quarter" idx="11"/>
          </p:nvPr>
        </p:nvSpPr>
        <p:spPr/>
        <p:txBody>
          <a:bodyPr/>
          <a:lstStyle/>
          <a:p>
            <a:endParaRPr lang="en-SG"/>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A37AB63-62EB-4EDF-B1C9-C7FAE06A9E45}" type="slidenum">
              <a:rPr lang="en-SG" smtClean="0"/>
              <a:t>‹#›</a:t>
            </a:fld>
            <a:endParaRPr lang="en-SG"/>
          </a:p>
        </p:txBody>
      </p:sp>
    </p:spTree>
    <p:extLst>
      <p:ext uri="{BB962C8B-B14F-4D97-AF65-F5344CB8AC3E}">
        <p14:creationId xmlns:p14="http://schemas.microsoft.com/office/powerpoint/2010/main" val="3472461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129481-3E02-4A3D-AB41-E6E53CDE0403}" type="datetime1">
              <a:rPr lang="en-SG" smtClean="0"/>
              <a:t>26/3/2026</a:t>
            </a:fld>
            <a:endParaRPr lang="en-SG"/>
          </a:p>
        </p:txBody>
      </p:sp>
      <p:sp>
        <p:nvSpPr>
          <p:cNvPr id="5" name="Footer Placeholder 4"/>
          <p:cNvSpPr>
            <a:spLocks noGrp="1"/>
          </p:cNvSpPr>
          <p:nvPr>
            <p:ph type="ftr" sz="quarter" idx="11"/>
          </p:nvPr>
        </p:nvSpPr>
        <p:spPr/>
        <p:txBody>
          <a:bodyPr/>
          <a:lstStyle/>
          <a:p>
            <a:endParaRPr lang="en-SG"/>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A37AB63-62EB-4EDF-B1C9-C7FAE06A9E45}" type="slidenum">
              <a:rPr lang="en-SG" smtClean="0"/>
              <a:t>‹#›</a:t>
            </a:fld>
            <a:endParaRPr lang="en-SG"/>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244785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0719662-F59D-4A0B-9725-BCC4ACFBEE64}" type="datetime1">
              <a:rPr lang="en-SG" smtClean="0"/>
              <a:t>26/3/2026</a:t>
            </a:fld>
            <a:endParaRPr lang="en-SG"/>
          </a:p>
        </p:txBody>
      </p:sp>
      <p:sp>
        <p:nvSpPr>
          <p:cNvPr id="6" name="Footer Placeholder 5"/>
          <p:cNvSpPr>
            <a:spLocks noGrp="1"/>
          </p:cNvSpPr>
          <p:nvPr>
            <p:ph type="ftr" sz="quarter" idx="11"/>
          </p:nvPr>
        </p:nvSpPr>
        <p:spPr/>
        <p:txBody>
          <a:bodyPr/>
          <a:lstStyle/>
          <a:p>
            <a:endParaRPr lang="en-SG"/>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A37AB63-62EB-4EDF-B1C9-C7FAE06A9E45}" type="slidenum">
              <a:rPr lang="en-SG" smtClean="0"/>
              <a:t>‹#›</a:t>
            </a:fld>
            <a:endParaRPr lang="en-SG"/>
          </a:p>
        </p:txBody>
      </p:sp>
    </p:spTree>
    <p:extLst>
      <p:ext uri="{BB962C8B-B14F-4D97-AF65-F5344CB8AC3E}">
        <p14:creationId xmlns:p14="http://schemas.microsoft.com/office/powerpoint/2010/main" val="23889686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864A495-67B9-4B0D-86A9-6EEDAB6359B2}" type="datetime1">
              <a:rPr lang="en-SG" smtClean="0"/>
              <a:t>26/3/2026</a:t>
            </a:fld>
            <a:endParaRPr lang="en-SG"/>
          </a:p>
        </p:txBody>
      </p:sp>
      <p:sp>
        <p:nvSpPr>
          <p:cNvPr id="6" name="Footer Placeholder 5"/>
          <p:cNvSpPr>
            <a:spLocks noGrp="1"/>
          </p:cNvSpPr>
          <p:nvPr>
            <p:ph type="ftr" sz="quarter" idx="11"/>
          </p:nvPr>
        </p:nvSpPr>
        <p:spPr/>
        <p:txBody>
          <a:bodyPr/>
          <a:lstStyle/>
          <a:p>
            <a:endParaRPr lang="en-SG"/>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A37AB63-62EB-4EDF-B1C9-C7FAE06A9E45}" type="slidenum">
              <a:rPr lang="en-SG" smtClean="0"/>
              <a:t>‹#›</a:t>
            </a:fld>
            <a:endParaRPr lang="en-SG"/>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554421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32A69F0-6667-4B90-BC2C-9302E7D2C107}" type="datetime1">
              <a:rPr lang="en-SG" smtClean="0"/>
              <a:t>26/3/2026</a:t>
            </a:fld>
            <a:endParaRPr lang="en-SG"/>
          </a:p>
        </p:txBody>
      </p:sp>
      <p:sp>
        <p:nvSpPr>
          <p:cNvPr id="6" name="Footer Placeholder 5"/>
          <p:cNvSpPr>
            <a:spLocks noGrp="1"/>
          </p:cNvSpPr>
          <p:nvPr>
            <p:ph type="ftr" sz="quarter" idx="11"/>
          </p:nvPr>
        </p:nvSpPr>
        <p:spPr/>
        <p:txBody>
          <a:bodyPr/>
          <a:lstStyle/>
          <a:p>
            <a:endParaRPr lang="en-SG"/>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A37AB63-62EB-4EDF-B1C9-C7FAE06A9E45}" type="slidenum">
              <a:rPr lang="en-SG" smtClean="0"/>
              <a:t>‹#›</a:t>
            </a:fld>
            <a:endParaRPr lang="en-SG"/>
          </a:p>
        </p:txBody>
      </p:sp>
    </p:spTree>
    <p:extLst>
      <p:ext uri="{BB962C8B-B14F-4D97-AF65-F5344CB8AC3E}">
        <p14:creationId xmlns:p14="http://schemas.microsoft.com/office/powerpoint/2010/main" val="10850192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109218-BC4D-49E6-B356-C4B18ABCC4EB}" type="datetime1">
              <a:rPr lang="en-SG" smtClean="0"/>
              <a:t>26/3/2026</a:t>
            </a:fld>
            <a:endParaRPr lang="en-SG"/>
          </a:p>
        </p:txBody>
      </p:sp>
      <p:sp>
        <p:nvSpPr>
          <p:cNvPr id="5" name="Footer Placeholder 4"/>
          <p:cNvSpPr>
            <a:spLocks noGrp="1"/>
          </p:cNvSpPr>
          <p:nvPr>
            <p:ph type="ftr" sz="quarter" idx="11"/>
          </p:nvPr>
        </p:nvSpPr>
        <p:spPr/>
        <p:txBody>
          <a:bodyPr/>
          <a:lstStyle/>
          <a:p>
            <a:endParaRPr lang="en-SG"/>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A37AB63-62EB-4EDF-B1C9-C7FAE06A9E45}" type="slidenum">
              <a:rPr lang="en-SG" smtClean="0"/>
              <a:t>‹#›</a:t>
            </a:fld>
            <a:endParaRPr lang="en-SG"/>
          </a:p>
        </p:txBody>
      </p:sp>
    </p:spTree>
    <p:extLst>
      <p:ext uri="{BB962C8B-B14F-4D97-AF65-F5344CB8AC3E}">
        <p14:creationId xmlns:p14="http://schemas.microsoft.com/office/powerpoint/2010/main" val="24013120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BD6968-F338-4040-85F2-7A170920A402}" type="datetime1">
              <a:rPr lang="en-SG" smtClean="0"/>
              <a:t>26/3/2026</a:t>
            </a:fld>
            <a:endParaRPr lang="en-SG"/>
          </a:p>
        </p:txBody>
      </p:sp>
      <p:sp>
        <p:nvSpPr>
          <p:cNvPr id="5" name="Footer Placeholder 4"/>
          <p:cNvSpPr>
            <a:spLocks noGrp="1"/>
          </p:cNvSpPr>
          <p:nvPr>
            <p:ph type="ftr" sz="quarter" idx="11"/>
          </p:nvPr>
        </p:nvSpPr>
        <p:spPr/>
        <p:txBody>
          <a:bodyPr/>
          <a:lstStyle/>
          <a:p>
            <a:endParaRPr lang="en-SG"/>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A37AB63-62EB-4EDF-B1C9-C7FAE06A9E45}" type="slidenum">
              <a:rPr lang="en-SG" smtClean="0"/>
              <a:t>‹#›</a:t>
            </a:fld>
            <a:endParaRPr lang="en-SG"/>
          </a:p>
        </p:txBody>
      </p:sp>
    </p:spTree>
    <p:extLst>
      <p:ext uri="{BB962C8B-B14F-4D97-AF65-F5344CB8AC3E}">
        <p14:creationId xmlns:p14="http://schemas.microsoft.com/office/powerpoint/2010/main" val="26515236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8AB763-F9FF-4268-B882-53249B64243E}" type="datetime1">
              <a:rPr lang="en-SG" smtClean="0"/>
              <a:t>26/3/2026</a:t>
            </a:fld>
            <a:endParaRPr lang="en-SG"/>
          </a:p>
        </p:txBody>
      </p:sp>
      <p:sp>
        <p:nvSpPr>
          <p:cNvPr id="5" name="Footer Placeholder 4"/>
          <p:cNvSpPr>
            <a:spLocks noGrp="1"/>
          </p:cNvSpPr>
          <p:nvPr>
            <p:ph type="ftr" sz="quarter" idx="11"/>
          </p:nvPr>
        </p:nvSpPr>
        <p:spPr/>
        <p:txBody>
          <a:bodyPr/>
          <a:lstStyle/>
          <a:p>
            <a:endParaRPr lang="en-SG"/>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A37AB63-62EB-4EDF-B1C9-C7FAE06A9E45}" type="slidenum">
              <a:rPr lang="en-SG" smtClean="0"/>
              <a:t>‹#›</a:t>
            </a:fld>
            <a:endParaRPr lang="en-SG"/>
          </a:p>
        </p:txBody>
      </p:sp>
    </p:spTree>
    <p:extLst>
      <p:ext uri="{BB962C8B-B14F-4D97-AF65-F5344CB8AC3E}">
        <p14:creationId xmlns:p14="http://schemas.microsoft.com/office/powerpoint/2010/main" val="40924428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26FC46-F5BC-4FCD-B2D9-760BB41F2DED}" type="datetime1">
              <a:rPr lang="en-SG" smtClean="0"/>
              <a:t>26/3/2026</a:t>
            </a:fld>
            <a:endParaRPr lang="en-SG"/>
          </a:p>
        </p:txBody>
      </p:sp>
      <p:sp>
        <p:nvSpPr>
          <p:cNvPr id="5" name="Footer Placeholder 4"/>
          <p:cNvSpPr>
            <a:spLocks noGrp="1"/>
          </p:cNvSpPr>
          <p:nvPr>
            <p:ph type="ftr" sz="quarter" idx="11"/>
          </p:nvPr>
        </p:nvSpPr>
        <p:spPr/>
        <p:txBody>
          <a:bodyPr/>
          <a:lstStyle/>
          <a:p>
            <a:endParaRPr lang="en-SG"/>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A37AB63-62EB-4EDF-B1C9-C7FAE06A9E45}" type="slidenum">
              <a:rPr lang="en-SG" smtClean="0"/>
              <a:t>‹#›</a:t>
            </a:fld>
            <a:endParaRPr lang="en-SG"/>
          </a:p>
        </p:txBody>
      </p:sp>
    </p:spTree>
    <p:extLst>
      <p:ext uri="{BB962C8B-B14F-4D97-AF65-F5344CB8AC3E}">
        <p14:creationId xmlns:p14="http://schemas.microsoft.com/office/powerpoint/2010/main" val="17215680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4BC472-58F0-487D-9AB5-00CC007C54B6}" type="datetime1">
              <a:rPr lang="en-SG" smtClean="0"/>
              <a:t>26/3/2026</a:t>
            </a:fld>
            <a:endParaRPr lang="en-SG"/>
          </a:p>
        </p:txBody>
      </p:sp>
      <p:sp>
        <p:nvSpPr>
          <p:cNvPr id="5" name="Footer Placeholder 4"/>
          <p:cNvSpPr>
            <a:spLocks noGrp="1"/>
          </p:cNvSpPr>
          <p:nvPr>
            <p:ph type="ftr" sz="quarter" idx="11"/>
          </p:nvPr>
        </p:nvSpPr>
        <p:spPr/>
        <p:txBody>
          <a:bodyPr/>
          <a:lstStyle/>
          <a:p>
            <a:endParaRPr lang="en-SG"/>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A37AB63-62EB-4EDF-B1C9-C7FAE06A9E45}" type="slidenum">
              <a:rPr lang="en-SG" smtClean="0"/>
              <a:t>‹#›</a:t>
            </a:fld>
            <a:endParaRPr lang="en-SG"/>
          </a:p>
        </p:txBody>
      </p:sp>
    </p:spTree>
    <p:extLst>
      <p:ext uri="{BB962C8B-B14F-4D97-AF65-F5344CB8AC3E}">
        <p14:creationId xmlns:p14="http://schemas.microsoft.com/office/powerpoint/2010/main" val="17718570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DF88E2B-BEED-43EE-B23F-A2C943002FF3}" type="datetime1">
              <a:rPr lang="en-SG" smtClean="0"/>
              <a:t>26/3/2026</a:t>
            </a:fld>
            <a:endParaRPr lang="en-SG"/>
          </a:p>
        </p:txBody>
      </p:sp>
      <p:sp>
        <p:nvSpPr>
          <p:cNvPr id="6" name="Footer Placeholder 5"/>
          <p:cNvSpPr>
            <a:spLocks noGrp="1"/>
          </p:cNvSpPr>
          <p:nvPr>
            <p:ph type="ftr" sz="quarter" idx="11"/>
          </p:nvPr>
        </p:nvSpPr>
        <p:spPr/>
        <p:txBody>
          <a:bodyPr/>
          <a:lstStyle/>
          <a:p>
            <a:endParaRPr lang="en-SG"/>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A37AB63-62EB-4EDF-B1C9-C7FAE06A9E45}" type="slidenum">
              <a:rPr lang="en-SG" smtClean="0"/>
              <a:t>‹#›</a:t>
            </a:fld>
            <a:endParaRPr lang="en-SG"/>
          </a:p>
        </p:txBody>
      </p:sp>
    </p:spTree>
    <p:extLst>
      <p:ext uri="{BB962C8B-B14F-4D97-AF65-F5344CB8AC3E}">
        <p14:creationId xmlns:p14="http://schemas.microsoft.com/office/powerpoint/2010/main" val="6152229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2081173-0D84-480D-B0C2-4A0114B2DEA8}" type="datetime1">
              <a:rPr lang="en-SG" smtClean="0"/>
              <a:t>26/3/2026</a:t>
            </a:fld>
            <a:endParaRPr lang="en-SG"/>
          </a:p>
        </p:txBody>
      </p:sp>
      <p:sp>
        <p:nvSpPr>
          <p:cNvPr id="8" name="Footer Placeholder 7"/>
          <p:cNvSpPr>
            <a:spLocks noGrp="1"/>
          </p:cNvSpPr>
          <p:nvPr>
            <p:ph type="ftr" sz="quarter" idx="11"/>
          </p:nvPr>
        </p:nvSpPr>
        <p:spPr/>
        <p:txBody>
          <a:bodyPr/>
          <a:lstStyle/>
          <a:p>
            <a:endParaRPr lang="en-SG"/>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A37AB63-62EB-4EDF-B1C9-C7FAE06A9E45}" type="slidenum">
              <a:rPr lang="en-SG" smtClean="0"/>
              <a:t>‹#›</a:t>
            </a:fld>
            <a:endParaRPr lang="en-SG"/>
          </a:p>
        </p:txBody>
      </p:sp>
    </p:spTree>
    <p:extLst>
      <p:ext uri="{BB962C8B-B14F-4D97-AF65-F5344CB8AC3E}">
        <p14:creationId xmlns:p14="http://schemas.microsoft.com/office/powerpoint/2010/main" val="36838401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9D2D94A-A1CC-4B06-B65D-6FEACCFFFF92}" type="datetime1">
              <a:rPr lang="en-SG" smtClean="0"/>
              <a:t>26/3/2026</a:t>
            </a:fld>
            <a:endParaRPr lang="en-SG"/>
          </a:p>
        </p:txBody>
      </p:sp>
      <p:sp>
        <p:nvSpPr>
          <p:cNvPr id="4" name="Footer Placeholder 3"/>
          <p:cNvSpPr>
            <a:spLocks noGrp="1"/>
          </p:cNvSpPr>
          <p:nvPr>
            <p:ph type="ftr" sz="quarter" idx="11"/>
          </p:nvPr>
        </p:nvSpPr>
        <p:spPr/>
        <p:txBody>
          <a:bodyPr/>
          <a:lstStyle/>
          <a:p>
            <a:endParaRPr lang="en-SG"/>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A37AB63-62EB-4EDF-B1C9-C7FAE06A9E45}" type="slidenum">
              <a:rPr lang="en-SG" smtClean="0"/>
              <a:t>‹#›</a:t>
            </a:fld>
            <a:endParaRPr lang="en-SG"/>
          </a:p>
        </p:txBody>
      </p:sp>
    </p:spTree>
    <p:extLst>
      <p:ext uri="{BB962C8B-B14F-4D97-AF65-F5344CB8AC3E}">
        <p14:creationId xmlns:p14="http://schemas.microsoft.com/office/powerpoint/2010/main" val="25593981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02603B-9B4F-4A2A-B486-1244DABB48AF}" type="datetime1">
              <a:rPr lang="en-SG" smtClean="0"/>
              <a:t>26/3/2026</a:t>
            </a:fld>
            <a:endParaRPr lang="en-SG"/>
          </a:p>
        </p:txBody>
      </p:sp>
      <p:sp>
        <p:nvSpPr>
          <p:cNvPr id="3" name="Footer Placeholder 2"/>
          <p:cNvSpPr>
            <a:spLocks noGrp="1"/>
          </p:cNvSpPr>
          <p:nvPr>
            <p:ph type="ftr" sz="quarter" idx="11"/>
          </p:nvPr>
        </p:nvSpPr>
        <p:spPr/>
        <p:txBody>
          <a:bodyPr/>
          <a:lstStyle/>
          <a:p>
            <a:endParaRPr lang="en-SG"/>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A37AB63-62EB-4EDF-B1C9-C7FAE06A9E45}" type="slidenum">
              <a:rPr lang="en-SG" smtClean="0"/>
              <a:t>‹#›</a:t>
            </a:fld>
            <a:endParaRPr lang="en-SG"/>
          </a:p>
        </p:txBody>
      </p:sp>
    </p:spTree>
    <p:extLst>
      <p:ext uri="{BB962C8B-B14F-4D97-AF65-F5344CB8AC3E}">
        <p14:creationId xmlns:p14="http://schemas.microsoft.com/office/powerpoint/2010/main" val="16271437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B3908D1-85DF-4811-9165-85C47139C435}" type="datetime1">
              <a:rPr lang="en-SG" smtClean="0"/>
              <a:t>26/3/2026</a:t>
            </a:fld>
            <a:endParaRPr lang="en-SG"/>
          </a:p>
        </p:txBody>
      </p:sp>
      <p:sp>
        <p:nvSpPr>
          <p:cNvPr id="6" name="Footer Placeholder 5"/>
          <p:cNvSpPr>
            <a:spLocks noGrp="1"/>
          </p:cNvSpPr>
          <p:nvPr>
            <p:ph type="ftr" sz="quarter" idx="11"/>
          </p:nvPr>
        </p:nvSpPr>
        <p:spPr/>
        <p:txBody>
          <a:bodyPr/>
          <a:lstStyle/>
          <a:p>
            <a:endParaRPr lang="en-SG"/>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A37AB63-62EB-4EDF-B1C9-C7FAE06A9E45}" type="slidenum">
              <a:rPr lang="en-SG" smtClean="0"/>
              <a:t>‹#›</a:t>
            </a:fld>
            <a:endParaRPr lang="en-SG"/>
          </a:p>
        </p:txBody>
      </p:sp>
    </p:spTree>
    <p:extLst>
      <p:ext uri="{BB962C8B-B14F-4D97-AF65-F5344CB8AC3E}">
        <p14:creationId xmlns:p14="http://schemas.microsoft.com/office/powerpoint/2010/main" val="23641463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091BC7-D355-4739-8DFC-00A132B58651}" type="datetime1">
              <a:rPr lang="en-SG" smtClean="0"/>
              <a:t>26/3/2026</a:t>
            </a:fld>
            <a:endParaRPr lang="en-SG"/>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A37AB63-62EB-4EDF-B1C9-C7FAE06A9E45}" type="slidenum">
              <a:rPr lang="en-SG" smtClean="0"/>
              <a:t>‹#›</a:t>
            </a:fld>
            <a:endParaRPr lang="en-SG"/>
          </a:p>
        </p:txBody>
      </p:sp>
    </p:spTree>
    <p:extLst>
      <p:ext uri="{BB962C8B-B14F-4D97-AF65-F5344CB8AC3E}">
        <p14:creationId xmlns:p14="http://schemas.microsoft.com/office/powerpoint/2010/main" val="27676131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945241-0C60-4DDA-A7E1-F48E8EF2BC3C}" type="datetime1">
              <a:rPr lang="en-SG" smtClean="0"/>
              <a:t>26/3/2026</a:t>
            </a:fld>
            <a:endParaRPr lang="en-SG"/>
          </a:p>
        </p:txBody>
      </p:sp>
      <p:sp>
        <p:nvSpPr>
          <p:cNvPr id="5" name="Footer Placeholder 4"/>
          <p:cNvSpPr>
            <a:spLocks noGrp="1"/>
          </p:cNvSpPr>
          <p:nvPr>
            <p:ph type="ftr" sz="quarter" idx="11"/>
          </p:nvPr>
        </p:nvSpPr>
        <p:spPr/>
        <p:txBody>
          <a:bodyPr/>
          <a:lstStyle/>
          <a:p>
            <a:endParaRPr lang="en-SG"/>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A37AB63-62EB-4EDF-B1C9-C7FAE06A9E45}" type="slidenum">
              <a:rPr lang="en-SG" smtClean="0"/>
              <a:t>‹#›</a:t>
            </a:fld>
            <a:endParaRPr lang="en-SG"/>
          </a:p>
        </p:txBody>
      </p:sp>
    </p:spTree>
    <p:extLst>
      <p:ext uri="{BB962C8B-B14F-4D97-AF65-F5344CB8AC3E}">
        <p14:creationId xmlns:p14="http://schemas.microsoft.com/office/powerpoint/2010/main" val="21364794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129481-3E02-4A3D-AB41-E6E53CDE0403}" type="datetime1">
              <a:rPr lang="en-SG" smtClean="0"/>
              <a:t>26/3/2026</a:t>
            </a:fld>
            <a:endParaRPr lang="en-SG"/>
          </a:p>
        </p:txBody>
      </p:sp>
      <p:sp>
        <p:nvSpPr>
          <p:cNvPr id="5" name="Footer Placeholder 4"/>
          <p:cNvSpPr>
            <a:spLocks noGrp="1"/>
          </p:cNvSpPr>
          <p:nvPr>
            <p:ph type="ftr" sz="quarter" idx="11"/>
          </p:nvPr>
        </p:nvSpPr>
        <p:spPr/>
        <p:txBody>
          <a:bodyPr/>
          <a:lstStyle/>
          <a:p>
            <a:endParaRPr lang="en-SG"/>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A37AB63-62EB-4EDF-B1C9-C7FAE06A9E45}" type="slidenum">
              <a:rPr lang="en-SG" smtClean="0"/>
              <a:t>‹#›</a:t>
            </a:fld>
            <a:endParaRPr lang="en-SG"/>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2273797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0719662-F59D-4A0B-9725-BCC4ACFBEE64}" type="datetime1">
              <a:rPr lang="en-SG" smtClean="0"/>
              <a:t>26/3/2026</a:t>
            </a:fld>
            <a:endParaRPr lang="en-SG"/>
          </a:p>
        </p:txBody>
      </p:sp>
      <p:sp>
        <p:nvSpPr>
          <p:cNvPr id="6" name="Footer Placeholder 5"/>
          <p:cNvSpPr>
            <a:spLocks noGrp="1"/>
          </p:cNvSpPr>
          <p:nvPr>
            <p:ph type="ftr" sz="quarter" idx="11"/>
          </p:nvPr>
        </p:nvSpPr>
        <p:spPr/>
        <p:txBody>
          <a:bodyPr/>
          <a:lstStyle/>
          <a:p>
            <a:endParaRPr lang="en-SG"/>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A37AB63-62EB-4EDF-B1C9-C7FAE06A9E45}" type="slidenum">
              <a:rPr lang="en-SG" smtClean="0"/>
              <a:t>‹#›</a:t>
            </a:fld>
            <a:endParaRPr lang="en-SG"/>
          </a:p>
        </p:txBody>
      </p:sp>
    </p:spTree>
    <p:extLst>
      <p:ext uri="{BB962C8B-B14F-4D97-AF65-F5344CB8AC3E}">
        <p14:creationId xmlns:p14="http://schemas.microsoft.com/office/powerpoint/2010/main" val="4657495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864A495-67B9-4B0D-86A9-6EEDAB6359B2}" type="datetime1">
              <a:rPr lang="en-SG" smtClean="0"/>
              <a:t>26/3/2026</a:t>
            </a:fld>
            <a:endParaRPr lang="en-SG"/>
          </a:p>
        </p:txBody>
      </p:sp>
      <p:sp>
        <p:nvSpPr>
          <p:cNvPr id="6" name="Footer Placeholder 5"/>
          <p:cNvSpPr>
            <a:spLocks noGrp="1"/>
          </p:cNvSpPr>
          <p:nvPr>
            <p:ph type="ftr" sz="quarter" idx="11"/>
          </p:nvPr>
        </p:nvSpPr>
        <p:spPr/>
        <p:txBody>
          <a:bodyPr/>
          <a:lstStyle/>
          <a:p>
            <a:endParaRPr lang="en-SG"/>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A37AB63-62EB-4EDF-B1C9-C7FAE06A9E45}" type="slidenum">
              <a:rPr lang="en-SG" smtClean="0"/>
              <a:t>‹#›</a:t>
            </a:fld>
            <a:endParaRPr lang="en-SG"/>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49777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32A69F0-6667-4B90-BC2C-9302E7D2C107}" type="datetime1">
              <a:rPr lang="en-SG" smtClean="0"/>
              <a:t>26/3/2026</a:t>
            </a:fld>
            <a:endParaRPr lang="en-SG"/>
          </a:p>
        </p:txBody>
      </p:sp>
      <p:sp>
        <p:nvSpPr>
          <p:cNvPr id="6" name="Footer Placeholder 5"/>
          <p:cNvSpPr>
            <a:spLocks noGrp="1"/>
          </p:cNvSpPr>
          <p:nvPr>
            <p:ph type="ftr" sz="quarter" idx="11"/>
          </p:nvPr>
        </p:nvSpPr>
        <p:spPr/>
        <p:txBody>
          <a:bodyPr/>
          <a:lstStyle/>
          <a:p>
            <a:endParaRPr lang="en-SG"/>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A37AB63-62EB-4EDF-B1C9-C7FAE06A9E45}" type="slidenum">
              <a:rPr lang="en-SG" smtClean="0"/>
              <a:t>‹#›</a:t>
            </a:fld>
            <a:endParaRPr lang="en-SG"/>
          </a:p>
        </p:txBody>
      </p:sp>
    </p:spTree>
    <p:extLst>
      <p:ext uri="{BB962C8B-B14F-4D97-AF65-F5344CB8AC3E}">
        <p14:creationId xmlns:p14="http://schemas.microsoft.com/office/powerpoint/2010/main" val="32017405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109218-BC4D-49E6-B356-C4B18ABCC4EB}" type="datetime1">
              <a:rPr lang="en-SG" smtClean="0"/>
              <a:t>26/3/2026</a:t>
            </a:fld>
            <a:endParaRPr lang="en-SG"/>
          </a:p>
        </p:txBody>
      </p:sp>
      <p:sp>
        <p:nvSpPr>
          <p:cNvPr id="5" name="Footer Placeholder 4"/>
          <p:cNvSpPr>
            <a:spLocks noGrp="1"/>
          </p:cNvSpPr>
          <p:nvPr>
            <p:ph type="ftr" sz="quarter" idx="11"/>
          </p:nvPr>
        </p:nvSpPr>
        <p:spPr/>
        <p:txBody>
          <a:bodyPr/>
          <a:lstStyle/>
          <a:p>
            <a:endParaRPr lang="en-SG"/>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A37AB63-62EB-4EDF-B1C9-C7FAE06A9E45}" type="slidenum">
              <a:rPr lang="en-SG" smtClean="0"/>
              <a:t>‹#›</a:t>
            </a:fld>
            <a:endParaRPr lang="en-SG"/>
          </a:p>
        </p:txBody>
      </p:sp>
    </p:spTree>
    <p:extLst>
      <p:ext uri="{BB962C8B-B14F-4D97-AF65-F5344CB8AC3E}">
        <p14:creationId xmlns:p14="http://schemas.microsoft.com/office/powerpoint/2010/main" val="404263868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BD6968-F338-4040-85F2-7A170920A402}" type="datetime1">
              <a:rPr lang="en-SG" smtClean="0"/>
              <a:t>26/3/2026</a:t>
            </a:fld>
            <a:endParaRPr lang="en-SG"/>
          </a:p>
        </p:txBody>
      </p:sp>
      <p:sp>
        <p:nvSpPr>
          <p:cNvPr id="5" name="Footer Placeholder 4"/>
          <p:cNvSpPr>
            <a:spLocks noGrp="1"/>
          </p:cNvSpPr>
          <p:nvPr>
            <p:ph type="ftr" sz="quarter" idx="11"/>
          </p:nvPr>
        </p:nvSpPr>
        <p:spPr/>
        <p:txBody>
          <a:bodyPr/>
          <a:lstStyle/>
          <a:p>
            <a:endParaRPr lang="en-SG"/>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A37AB63-62EB-4EDF-B1C9-C7FAE06A9E45}" type="slidenum">
              <a:rPr lang="en-SG" smtClean="0"/>
              <a:t>‹#›</a:t>
            </a:fld>
            <a:endParaRPr lang="en-SG"/>
          </a:p>
        </p:txBody>
      </p:sp>
    </p:spTree>
    <p:extLst>
      <p:ext uri="{BB962C8B-B14F-4D97-AF65-F5344CB8AC3E}">
        <p14:creationId xmlns:p14="http://schemas.microsoft.com/office/powerpoint/2010/main" val="1683980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3171D0E-DC4C-4C3D-BB64-DB56A2F5C0B8}" type="datetime1">
              <a:rPr lang="en-SG" smtClean="0"/>
              <a:t>26/3/2026</a:t>
            </a:fld>
            <a:endParaRPr lang="en-SG"/>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SG"/>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A37AB63-62EB-4EDF-B1C9-C7FAE06A9E45}" type="slidenum">
              <a:rPr lang="en-SG" smtClean="0"/>
              <a:t>‹#›</a:t>
            </a:fld>
            <a:endParaRPr lang="en-SG"/>
          </a:p>
        </p:txBody>
      </p:sp>
    </p:spTree>
    <p:extLst>
      <p:ext uri="{BB962C8B-B14F-4D97-AF65-F5344CB8AC3E}">
        <p14:creationId xmlns:p14="http://schemas.microsoft.com/office/powerpoint/2010/main" val="373946205"/>
      </p:ext>
    </p:extLst>
  </p:cSld>
  <p:clrMap bg1="lt1" tx1="dk1" bg2="lt2" tx2="dk2" accent1="accent1" accent2="accent2" accent3="accent3" accent4="accent4" accent5="accent5" accent6="accent6" hlink="hlink" folHlink="folHlink"/>
  <p:sldLayoutIdLst>
    <p:sldLayoutId id="2147484358" r:id="rId1"/>
    <p:sldLayoutId id="2147484359" r:id="rId2"/>
    <p:sldLayoutId id="2147484360" r:id="rId3"/>
    <p:sldLayoutId id="2147484361" r:id="rId4"/>
    <p:sldLayoutId id="2147484362" r:id="rId5"/>
    <p:sldLayoutId id="2147484363" r:id="rId6"/>
    <p:sldLayoutId id="2147484364" r:id="rId7"/>
    <p:sldLayoutId id="2147484365" r:id="rId8"/>
    <p:sldLayoutId id="2147484366" r:id="rId9"/>
    <p:sldLayoutId id="2147484367" r:id="rId10"/>
    <p:sldLayoutId id="2147484368" r:id="rId11"/>
    <p:sldLayoutId id="2147484369" r:id="rId12"/>
    <p:sldLayoutId id="2147484370" r:id="rId13"/>
    <p:sldLayoutId id="2147484371" r:id="rId14"/>
    <p:sldLayoutId id="2147484372" r:id="rId15"/>
    <p:sldLayoutId id="2147484373"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a:solidFill>
            <a:schemeClr val="accent1">
              <a:lumMod val="75000"/>
              <a:alpha val="40000"/>
            </a:schemeClr>
          </a:solidFill>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grpSp>
        <p:nvGrpSpPr>
          <p:cNvPr id="10" name="Group 9"/>
          <p:cNvGrpSpPr/>
          <p:nvPr/>
        </p:nvGrpSpPr>
        <p:grpSpPr>
          <a:xfrm>
            <a:off x="27221" y="-30"/>
            <a:ext cx="2356674" cy="6853283"/>
            <a:chOff x="6627813" y="195452"/>
            <a:chExt cx="1952625" cy="5678299"/>
          </a:xfrm>
          <a:solidFill>
            <a:schemeClr val="accent1"/>
          </a:solidFill>
        </p:grpSpPr>
        <p:sp>
          <p:nvSpPr>
            <p:cNvPr id="11" name="Freeform 27"/>
            <p:cNvSpPr/>
            <p:nvPr/>
          </p:nvSpPr>
          <p:spPr bwMode="auto">
            <a:xfrm>
              <a:off x="6627813" y="195452"/>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sp>
      </p:grpSp>
      <p:sp>
        <p:nvSpPr>
          <p:cNvPr id="7" name="Rectangle 6"/>
          <p:cNvSpPr/>
          <p:nvPr/>
        </p:nvSpPr>
        <p:spPr>
          <a:xfrm>
            <a:off x="0" y="0"/>
            <a:ext cx="18288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3171D0E-DC4C-4C3D-BB64-DB56A2F5C0B8}" type="datetime1">
              <a:rPr lang="en-SG" smtClean="0"/>
              <a:t>26/3/2026</a:t>
            </a:fld>
            <a:endParaRPr lang="en-SG"/>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SG"/>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A37AB63-62EB-4EDF-B1C9-C7FAE06A9E45}" type="slidenum">
              <a:rPr lang="en-SG" smtClean="0"/>
              <a:t>‹#›</a:t>
            </a:fld>
            <a:endParaRPr lang="en-SG"/>
          </a:p>
        </p:txBody>
      </p:sp>
    </p:spTree>
    <p:extLst>
      <p:ext uri="{BB962C8B-B14F-4D97-AF65-F5344CB8AC3E}">
        <p14:creationId xmlns:p14="http://schemas.microsoft.com/office/powerpoint/2010/main" val="1641949314"/>
      </p:ext>
    </p:extLst>
  </p:cSld>
  <p:clrMap bg1="dk1" tx1="lt1" bg2="dk2" tx2="lt2" accent1="accent1" accent2="accent2" accent3="accent3" accent4="accent4" accent5="accent5" accent6="accent6" hlink="hlink" folHlink="folHlink"/>
  <p:sldLayoutIdLst>
    <p:sldLayoutId id="2147484394" r:id="rId1"/>
    <p:sldLayoutId id="2147484395" r:id="rId2"/>
    <p:sldLayoutId id="2147484396" r:id="rId3"/>
    <p:sldLayoutId id="2147484397" r:id="rId4"/>
    <p:sldLayoutId id="2147484398" r:id="rId5"/>
    <p:sldLayoutId id="2147484399" r:id="rId6"/>
    <p:sldLayoutId id="2147484400" r:id="rId7"/>
    <p:sldLayoutId id="2147484401" r:id="rId8"/>
    <p:sldLayoutId id="2147484402" r:id="rId9"/>
    <p:sldLayoutId id="2147484403" r:id="rId10"/>
    <p:sldLayoutId id="2147484404" r:id="rId11"/>
    <p:sldLayoutId id="2147484405" r:id="rId12"/>
    <p:sldLayoutId id="2147484406" r:id="rId13"/>
    <p:sldLayoutId id="2147484407" r:id="rId14"/>
    <p:sldLayoutId id="2147484408" r:id="rId15"/>
    <p:sldLayoutId id="2147484409"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archive.ics.uci.edu/dataset/352/online+retail"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2B7D14F-DE16-0E70-324A-5F2FB392677B}"/>
              </a:ext>
            </a:extLst>
          </p:cNvPr>
          <p:cNvSpPr>
            <a:spLocks noGrp="1"/>
          </p:cNvSpPr>
          <p:nvPr>
            <p:ph type="ctrTitle"/>
          </p:nvPr>
        </p:nvSpPr>
        <p:spPr>
          <a:xfrm>
            <a:off x="2589213" y="804672"/>
            <a:ext cx="8915399" cy="2262781"/>
          </a:xfrm>
        </p:spPr>
        <p:txBody>
          <a:bodyPr/>
          <a:lstStyle/>
          <a:p>
            <a:r>
              <a:rPr lang="en-SG" dirty="0"/>
              <a:t>SmartWH: Intelligent Warehouse AI System</a:t>
            </a:r>
          </a:p>
        </p:txBody>
      </p:sp>
      <p:sp>
        <p:nvSpPr>
          <p:cNvPr id="11" name="Subtitle 10">
            <a:extLst>
              <a:ext uri="{FF2B5EF4-FFF2-40B4-BE49-F238E27FC236}">
                <a16:creationId xmlns:a16="http://schemas.microsoft.com/office/drawing/2014/main" id="{CC834E8C-2BF1-B087-AFB6-B1B9CF4E854C}"/>
              </a:ext>
            </a:extLst>
          </p:cNvPr>
          <p:cNvSpPr>
            <a:spLocks noGrp="1"/>
          </p:cNvSpPr>
          <p:nvPr>
            <p:ph type="subTitle" idx="1"/>
          </p:nvPr>
        </p:nvSpPr>
        <p:spPr>
          <a:xfrm>
            <a:off x="2589213" y="3067453"/>
            <a:ext cx="8915399" cy="1126283"/>
          </a:xfrm>
        </p:spPr>
        <p:txBody>
          <a:bodyPr>
            <a:normAutofit/>
          </a:bodyPr>
          <a:lstStyle/>
          <a:p>
            <a:r>
              <a:rPr lang="en-US" dirty="0"/>
              <a:t>An Intelligent, Data-Driven Approach to Demand Forecasting, Anomaly Detection, Customer Segmentation &amp; Inventory Optimization</a:t>
            </a:r>
            <a:endParaRPr lang="en-SG" dirty="0"/>
          </a:p>
        </p:txBody>
      </p:sp>
      <p:sp>
        <p:nvSpPr>
          <p:cNvPr id="15" name="Slide Number Placeholder 14">
            <a:extLst>
              <a:ext uri="{FF2B5EF4-FFF2-40B4-BE49-F238E27FC236}">
                <a16:creationId xmlns:a16="http://schemas.microsoft.com/office/drawing/2014/main" id="{E3EE35BA-583D-87C9-6845-2529FB3AE9E2}"/>
              </a:ext>
            </a:extLst>
          </p:cNvPr>
          <p:cNvSpPr>
            <a:spLocks noGrp="1"/>
          </p:cNvSpPr>
          <p:nvPr>
            <p:ph type="sldNum" sz="quarter" idx="12"/>
          </p:nvPr>
        </p:nvSpPr>
        <p:spPr/>
        <p:txBody>
          <a:bodyPr/>
          <a:lstStyle/>
          <a:p>
            <a:fld id="{5A37AB63-62EB-4EDF-B1C9-C7FAE06A9E45}" type="slidenum">
              <a:rPr lang="en-SG" smtClean="0"/>
              <a:t>1</a:t>
            </a:fld>
            <a:endParaRPr lang="en-SG"/>
          </a:p>
        </p:txBody>
      </p:sp>
      <p:sp>
        <p:nvSpPr>
          <p:cNvPr id="14" name="Subtitle 10">
            <a:extLst>
              <a:ext uri="{FF2B5EF4-FFF2-40B4-BE49-F238E27FC236}">
                <a16:creationId xmlns:a16="http://schemas.microsoft.com/office/drawing/2014/main" id="{BC17E446-8096-ED63-8525-BBADAE9B3158}"/>
              </a:ext>
            </a:extLst>
          </p:cNvPr>
          <p:cNvSpPr txBox="1">
            <a:spLocks/>
          </p:cNvSpPr>
          <p:nvPr/>
        </p:nvSpPr>
        <p:spPr>
          <a:xfrm>
            <a:off x="2589213" y="5048663"/>
            <a:ext cx="8915399" cy="1126283"/>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r>
              <a:rPr lang="en-US" sz="1600" dirty="0">
                <a:solidFill>
                  <a:srgbClr val="0070C0"/>
                </a:solidFill>
              </a:rPr>
              <a:t>Powered by Random Forest  ·  Isolation Forest  ·  K-Means  ·  Fuzzy Logic  ·  Streamlit</a:t>
            </a:r>
          </a:p>
          <a:p>
            <a:endParaRPr lang="en-SG" sz="1600" dirty="0">
              <a:solidFill>
                <a:srgbClr val="0070C0"/>
              </a:solidFill>
            </a:endParaRPr>
          </a:p>
          <a:p>
            <a:r>
              <a:rPr lang="en-SG" sz="1600" dirty="0">
                <a:solidFill>
                  <a:srgbClr val="00B050"/>
                </a:solidFill>
              </a:rPr>
              <a:t>UCI Online Retail Dataset   |   6 Subsystems   |   Interactive GUI</a:t>
            </a:r>
          </a:p>
          <a:p>
            <a:endParaRPr lang="en-SG" dirty="0">
              <a:solidFill>
                <a:srgbClr val="0070C0"/>
              </a:solidFill>
            </a:endParaRPr>
          </a:p>
          <a:p>
            <a:endParaRPr lang="en-SG" dirty="0">
              <a:solidFill>
                <a:srgbClr val="0070C0"/>
              </a:solidFill>
            </a:endParaRPr>
          </a:p>
        </p:txBody>
      </p:sp>
      <p:sp>
        <p:nvSpPr>
          <p:cNvPr id="16" name="Footer Placeholder 15">
            <a:extLst>
              <a:ext uri="{FF2B5EF4-FFF2-40B4-BE49-F238E27FC236}">
                <a16:creationId xmlns:a16="http://schemas.microsoft.com/office/drawing/2014/main" id="{2F9EB0B5-7975-1B0C-32A5-7FD4A88B7819}"/>
              </a:ext>
            </a:extLst>
          </p:cNvPr>
          <p:cNvSpPr>
            <a:spLocks noGrp="1"/>
          </p:cNvSpPr>
          <p:nvPr>
            <p:ph type="ftr" sz="quarter" idx="11"/>
          </p:nvPr>
        </p:nvSpPr>
        <p:spPr/>
        <p:txBody>
          <a:bodyPr/>
          <a:lstStyle/>
          <a:p>
            <a:r>
              <a:rPr lang="en-US" dirty="0"/>
              <a:t>Done by ICT304 A Group 1 | Yar Zar Lin | Neo Keng Heng Brian | Ng Wen Xiang</a:t>
            </a:r>
            <a:endParaRPr lang="en-SG" dirty="0"/>
          </a:p>
        </p:txBody>
      </p:sp>
    </p:spTree>
    <p:extLst>
      <p:ext uri="{BB962C8B-B14F-4D97-AF65-F5344CB8AC3E}">
        <p14:creationId xmlns:p14="http://schemas.microsoft.com/office/powerpoint/2010/main" val="2462321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2C617-5309-4D79-0B7E-EFE511A8C551}"/>
              </a:ext>
            </a:extLst>
          </p:cNvPr>
          <p:cNvSpPr>
            <a:spLocks noGrp="1"/>
          </p:cNvSpPr>
          <p:nvPr>
            <p:ph type="title"/>
          </p:nvPr>
        </p:nvSpPr>
        <p:spPr/>
        <p:txBody>
          <a:bodyPr/>
          <a:lstStyle/>
          <a:p>
            <a:r>
              <a:rPr lang="en-SG" dirty="0"/>
              <a:t>Scope</a:t>
            </a:r>
          </a:p>
        </p:txBody>
      </p:sp>
      <p:sp>
        <p:nvSpPr>
          <p:cNvPr id="3" name="Content Placeholder 2">
            <a:extLst>
              <a:ext uri="{FF2B5EF4-FFF2-40B4-BE49-F238E27FC236}">
                <a16:creationId xmlns:a16="http://schemas.microsoft.com/office/drawing/2014/main" id="{263E18EA-9434-0C55-8CB2-DBB3A0B26FA0}"/>
              </a:ext>
            </a:extLst>
          </p:cNvPr>
          <p:cNvSpPr>
            <a:spLocks noGrp="1"/>
          </p:cNvSpPr>
          <p:nvPr>
            <p:ph idx="1"/>
          </p:nvPr>
        </p:nvSpPr>
        <p:spPr>
          <a:xfrm>
            <a:off x="2589212" y="2133600"/>
            <a:ext cx="8915400" cy="4100290"/>
          </a:xfrm>
        </p:spPr>
        <p:txBody>
          <a:bodyPr>
            <a:normAutofit/>
          </a:bodyPr>
          <a:lstStyle/>
          <a:p>
            <a:r>
              <a:rPr lang="en-SG" dirty="0"/>
              <a:t>Why SmartWH? The problems</a:t>
            </a:r>
          </a:p>
          <a:p>
            <a:r>
              <a:rPr lang="en-SG" dirty="0"/>
              <a:t>Our project objectives</a:t>
            </a:r>
          </a:p>
          <a:p>
            <a:r>
              <a:rPr lang="en-SG" dirty="0"/>
              <a:t>Dataset: UCI Online Retail</a:t>
            </a:r>
          </a:p>
          <a:p>
            <a:r>
              <a:rPr lang="en-SG" dirty="0"/>
              <a:t>System Architecture — 6 Subsystems</a:t>
            </a:r>
          </a:p>
          <a:p>
            <a:r>
              <a:rPr lang="en-SG" dirty="0"/>
              <a:t>NASA PLC &amp; Agile SDLC</a:t>
            </a:r>
          </a:p>
          <a:p>
            <a:r>
              <a:rPr lang="en-SG" dirty="0"/>
              <a:t>Subsystem 1-6</a:t>
            </a:r>
          </a:p>
          <a:p>
            <a:r>
              <a:rPr lang="en-SG" dirty="0"/>
              <a:t>Results &amp; Evaluation</a:t>
            </a:r>
          </a:p>
          <a:p>
            <a:r>
              <a:rPr lang="en-SG" dirty="0"/>
              <a:t>Discussion &amp; Key Insights</a:t>
            </a:r>
          </a:p>
          <a:p>
            <a:r>
              <a:rPr lang="en-SG" dirty="0"/>
              <a:t>Project Management Tools</a:t>
            </a:r>
          </a:p>
          <a:p>
            <a:r>
              <a:rPr lang="en-SG" dirty="0"/>
              <a:t>Conclusion</a:t>
            </a:r>
          </a:p>
          <a:p>
            <a:endParaRPr lang="en-SG" dirty="0"/>
          </a:p>
          <a:p>
            <a:endParaRPr lang="en-SG" dirty="0"/>
          </a:p>
          <a:p>
            <a:endParaRPr lang="en-SG" dirty="0"/>
          </a:p>
        </p:txBody>
      </p:sp>
      <p:sp>
        <p:nvSpPr>
          <p:cNvPr id="4" name="Slide Number Placeholder 3">
            <a:extLst>
              <a:ext uri="{FF2B5EF4-FFF2-40B4-BE49-F238E27FC236}">
                <a16:creationId xmlns:a16="http://schemas.microsoft.com/office/drawing/2014/main" id="{6CABA682-8065-735E-D486-9E57B6C87DCF}"/>
              </a:ext>
            </a:extLst>
          </p:cNvPr>
          <p:cNvSpPr>
            <a:spLocks noGrp="1"/>
          </p:cNvSpPr>
          <p:nvPr>
            <p:ph type="sldNum" sz="quarter" idx="12"/>
          </p:nvPr>
        </p:nvSpPr>
        <p:spPr/>
        <p:txBody>
          <a:bodyPr/>
          <a:lstStyle/>
          <a:p>
            <a:fld id="{5A37AB63-62EB-4EDF-B1C9-C7FAE06A9E45}" type="slidenum">
              <a:rPr lang="en-SG" smtClean="0"/>
              <a:t>2</a:t>
            </a:fld>
            <a:endParaRPr lang="en-SG"/>
          </a:p>
        </p:txBody>
      </p:sp>
    </p:spTree>
    <p:extLst>
      <p:ext uri="{BB962C8B-B14F-4D97-AF65-F5344CB8AC3E}">
        <p14:creationId xmlns:p14="http://schemas.microsoft.com/office/powerpoint/2010/main" val="2451437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9D1D4-B9FC-6D33-06C3-6F117D7628EC}"/>
              </a:ext>
            </a:extLst>
          </p:cNvPr>
          <p:cNvSpPr>
            <a:spLocks noGrp="1"/>
          </p:cNvSpPr>
          <p:nvPr>
            <p:ph type="title"/>
          </p:nvPr>
        </p:nvSpPr>
        <p:spPr/>
        <p:txBody>
          <a:bodyPr/>
          <a:lstStyle/>
          <a:p>
            <a:r>
              <a:rPr lang="en-SG" dirty="0"/>
              <a:t>Why SmartWH? The problems:</a:t>
            </a:r>
          </a:p>
        </p:txBody>
      </p:sp>
      <p:sp>
        <p:nvSpPr>
          <p:cNvPr id="3" name="Content Placeholder 2">
            <a:extLst>
              <a:ext uri="{FF2B5EF4-FFF2-40B4-BE49-F238E27FC236}">
                <a16:creationId xmlns:a16="http://schemas.microsoft.com/office/drawing/2014/main" id="{306DCBEF-42F8-8727-CA02-A83F7EA173E5}"/>
              </a:ext>
            </a:extLst>
          </p:cNvPr>
          <p:cNvSpPr>
            <a:spLocks noGrp="1"/>
          </p:cNvSpPr>
          <p:nvPr>
            <p:ph idx="1"/>
          </p:nvPr>
        </p:nvSpPr>
        <p:spPr/>
        <p:txBody>
          <a:bodyPr>
            <a:normAutofit/>
          </a:bodyPr>
          <a:lstStyle/>
          <a:p>
            <a:r>
              <a:rPr lang="en-SG" b="1" dirty="0"/>
              <a:t>Unpredictable</a:t>
            </a:r>
            <a:r>
              <a:rPr lang="en-SG" dirty="0"/>
              <a:t> </a:t>
            </a:r>
            <a:r>
              <a:rPr lang="en-SG" b="1" dirty="0"/>
              <a:t>customer demand</a:t>
            </a:r>
          </a:p>
          <a:p>
            <a:pPr lvl="1"/>
            <a:r>
              <a:rPr lang="en-US" dirty="0"/>
              <a:t>Causes stockouts or costly overstocking, both hurt the business.</a:t>
            </a:r>
            <a:endParaRPr lang="en-SG" dirty="0"/>
          </a:p>
          <a:p>
            <a:r>
              <a:rPr lang="en-SG" b="1" dirty="0"/>
              <a:t>Fraudulent</a:t>
            </a:r>
            <a:r>
              <a:rPr lang="en-SG" dirty="0"/>
              <a:t> </a:t>
            </a:r>
            <a:r>
              <a:rPr lang="en-SG" b="1" dirty="0"/>
              <a:t>&amp; erroneous transactions </a:t>
            </a:r>
            <a:r>
              <a:rPr lang="en-SG" dirty="0"/>
              <a:t>going undetected</a:t>
            </a:r>
          </a:p>
          <a:p>
            <a:r>
              <a:rPr lang="en-SG" b="1" dirty="0"/>
              <a:t>No structured customer segmentation</a:t>
            </a:r>
          </a:p>
          <a:p>
            <a:pPr lvl="1"/>
            <a:r>
              <a:rPr lang="en-SG" dirty="0"/>
              <a:t>No </a:t>
            </a:r>
            <a:r>
              <a:rPr lang="en-US" dirty="0"/>
              <a:t>way to differentiate VIP customers from churn-risk customers for targeted stock allocation.</a:t>
            </a:r>
            <a:endParaRPr lang="en-SG" dirty="0"/>
          </a:p>
          <a:p>
            <a:r>
              <a:rPr lang="en-SG" b="1" dirty="0"/>
              <a:t>Manual, intuition-based reorder decisions</a:t>
            </a:r>
          </a:p>
          <a:p>
            <a:pPr lvl="1"/>
            <a:r>
              <a:rPr lang="en-US" dirty="0"/>
              <a:t>decisions based on gut feel: no automation, no safety stock calculation, no EOQ logic.</a:t>
            </a:r>
            <a:endParaRPr lang="en-SG" dirty="0"/>
          </a:p>
          <a:p>
            <a:r>
              <a:rPr lang="en-SG" b="1" dirty="0"/>
              <a:t>Lack of real-time visibility </a:t>
            </a:r>
            <a:r>
              <a:rPr lang="en-SG" dirty="0"/>
              <a:t>into inventory health</a:t>
            </a:r>
          </a:p>
        </p:txBody>
      </p:sp>
      <p:sp>
        <p:nvSpPr>
          <p:cNvPr id="4" name="Slide Number Placeholder 3">
            <a:extLst>
              <a:ext uri="{FF2B5EF4-FFF2-40B4-BE49-F238E27FC236}">
                <a16:creationId xmlns:a16="http://schemas.microsoft.com/office/drawing/2014/main" id="{BD5F6F52-CDE3-38ED-05C0-C1DD4EB6FFD9}"/>
              </a:ext>
            </a:extLst>
          </p:cNvPr>
          <p:cNvSpPr>
            <a:spLocks noGrp="1"/>
          </p:cNvSpPr>
          <p:nvPr>
            <p:ph type="sldNum" sz="quarter" idx="12"/>
          </p:nvPr>
        </p:nvSpPr>
        <p:spPr/>
        <p:txBody>
          <a:bodyPr/>
          <a:lstStyle/>
          <a:p>
            <a:fld id="{5A37AB63-62EB-4EDF-B1C9-C7FAE06A9E45}" type="slidenum">
              <a:rPr lang="en-SG" smtClean="0"/>
              <a:t>3</a:t>
            </a:fld>
            <a:endParaRPr lang="en-SG"/>
          </a:p>
        </p:txBody>
      </p:sp>
    </p:spTree>
    <p:extLst>
      <p:ext uri="{BB962C8B-B14F-4D97-AF65-F5344CB8AC3E}">
        <p14:creationId xmlns:p14="http://schemas.microsoft.com/office/powerpoint/2010/main" val="604309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B88BE-DC1E-D787-7C15-DA544CB1731E}"/>
              </a:ext>
            </a:extLst>
          </p:cNvPr>
          <p:cNvSpPr>
            <a:spLocks noGrp="1"/>
          </p:cNvSpPr>
          <p:nvPr>
            <p:ph type="title"/>
          </p:nvPr>
        </p:nvSpPr>
        <p:spPr/>
        <p:txBody>
          <a:bodyPr/>
          <a:lstStyle/>
          <a:p>
            <a:r>
              <a:rPr lang="en-SG" dirty="0"/>
              <a:t>Our project objectives</a:t>
            </a:r>
          </a:p>
        </p:txBody>
      </p:sp>
      <p:sp>
        <p:nvSpPr>
          <p:cNvPr id="3" name="Content Placeholder 2">
            <a:extLst>
              <a:ext uri="{FF2B5EF4-FFF2-40B4-BE49-F238E27FC236}">
                <a16:creationId xmlns:a16="http://schemas.microsoft.com/office/drawing/2014/main" id="{1C59F58F-52E8-676D-056B-D414BF6AF8FD}"/>
              </a:ext>
            </a:extLst>
          </p:cNvPr>
          <p:cNvSpPr>
            <a:spLocks noGrp="1"/>
          </p:cNvSpPr>
          <p:nvPr>
            <p:ph idx="1"/>
          </p:nvPr>
        </p:nvSpPr>
        <p:spPr/>
        <p:txBody>
          <a:bodyPr/>
          <a:lstStyle/>
          <a:p>
            <a:r>
              <a:rPr lang="en-SG" b="1" dirty="0"/>
              <a:t>Forecast</a:t>
            </a:r>
            <a:r>
              <a:rPr lang="en-SG" dirty="0"/>
              <a:t> daily product demand with ML (Random Forest)</a:t>
            </a:r>
          </a:p>
          <a:p>
            <a:r>
              <a:rPr lang="en-SG" b="1" dirty="0"/>
              <a:t>Detect</a:t>
            </a:r>
            <a:r>
              <a:rPr lang="en-SG" dirty="0"/>
              <a:t> anomalous transactions automatically</a:t>
            </a:r>
          </a:p>
          <a:p>
            <a:r>
              <a:rPr lang="en-SG" b="1" dirty="0"/>
              <a:t>Segment</a:t>
            </a:r>
            <a:r>
              <a:rPr lang="en-SG" dirty="0"/>
              <a:t> customers by RFM behaviour (K-Means)</a:t>
            </a:r>
          </a:p>
          <a:p>
            <a:r>
              <a:rPr lang="en-SG" b="1" dirty="0"/>
              <a:t>Automate</a:t>
            </a:r>
            <a:r>
              <a:rPr lang="en-SG" dirty="0"/>
              <a:t> reorder decisions via Fuzzy Logic</a:t>
            </a:r>
          </a:p>
          <a:p>
            <a:r>
              <a:rPr lang="en-SG" b="1" dirty="0"/>
              <a:t>Deliver</a:t>
            </a:r>
            <a:r>
              <a:rPr lang="en-SG" dirty="0"/>
              <a:t> an end-to-end </a:t>
            </a:r>
            <a:r>
              <a:rPr lang="en-SG" dirty="0" err="1"/>
              <a:t>Streamlit</a:t>
            </a:r>
            <a:r>
              <a:rPr lang="en-SG" dirty="0"/>
              <a:t> interactive dashboard</a:t>
            </a:r>
          </a:p>
          <a:p>
            <a:r>
              <a:rPr lang="en-SG" b="1" dirty="0"/>
              <a:t>Apply Agile &amp; NASA PLC </a:t>
            </a:r>
            <a:r>
              <a:rPr lang="en-SG" dirty="0"/>
              <a:t>for structured development</a:t>
            </a:r>
          </a:p>
          <a:p>
            <a:endParaRPr lang="en-SG" dirty="0"/>
          </a:p>
        </p:txBody>
      </p:sp>
      <p:sp>
        <p:nvSpPr>
          <p:cNvPr id="4" name="Slide Number Placeholder 3">
            <a:extLst>
              <a:ext uri="{FF2B5EF4-FFF2-40B4-BE49-F238E27FC236}">
                <a16:creationId xmlns:a16="http://schemas.microsoft.com/office/drawing/2014/main" id="{61107809-92F6-C985-CA63-3CD6E0D2BEC9}"/>
              </a:ext>
            </a:extLst>
          </p:cNvPr>
          <p:cNvSpPr>
            <a:spLocks noGrp="1"/>
          </p:cNvSpPr>
          <p:nvPr>
            <p:ph type="sldNum" sz="quarter" idx="12"/>
          </p:nvPr>
        </p:nvSpPr>
        <p:spPr/>
        <p:txBody>
          <a:bodyPr/>
          <a:lstStyle/>
          <a:p>
            <a:fld id="{5A37AB63-62EB-4EDF-B1C9-C7FAE06A9E45}" type="slidenum">
              <a:rPr lang="en-SG" smtClean="0"/>
              <a:t>4</a:t>
            </a:fld>
            <a:endParaRPr lang="en-SG"/>
          </a:p>
        </p:txBody>
      </p:sp>
    </p:spTree>
    <p:extLst>
      <p:ext uri="{BB962C8B-B14F-4D97-AF65-F5344CB8AC3E}">
        <p14:creationId xmlns:p14="http://schemas.microsoft.com/office/powerpoint/2010/main" val="2239006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itle 48">
            <a:extLst>
              <a:ext uri="{FF2B5EF4-FFF2-40B4-BE49-F238E27FC236}">
                <a16:creationId xmlns:a16="http://schemas.microsoft.com/office/drawing/2014/main" id="{2157F684-91D4-F2F8-2488-2453EAD47A98}"/>
              </a:ext>
            </a:extLst>
          </p:cNvPr>
          <p:cNvSpPr>
            <a:spLocks noGrp="1"/>
          </p:cNvSpPr>
          <p:nvPr>
            <p:ph type="title"/>
          </p:nvPr>
        </p:nvSpPr>
        <p:spPr/>
        <p:txBody>
          <a:bodyPr/>
          <a:lstStyle/>
          <a:p>
            <a:r>
              <a:rPr lang="en-SG" dirty="0"/>
              <a:t>Dataset: UCI Online Retail</a:t>
            </a:r>
          </a:p>
        </p:txBody>
      </p:sp>
      <p:sp>
        <p:nvSpPr>
          <p:cNvPr id="4" name="Slide Number Placeholder 3">
            <a:extLst>
              <a:ext uri="{FF2B5EF4-FFF2-40B4-BE49-F238E27FC236}">
                <a16:creationId xmlns:a16="http://schemas.microsoft.com/office/drawing/2014/main" id="{734AA864-77F4-B006-8ECD-D36E71D7972B}"/>
              </a:ext>
            </a:extLst>
          </p:cNvPr>
          <p:cNvSpPr>
            <a:spLocks noGrp="1"/>
          </p:cNvSpPr>
          <p:nvPr>
            <p:ph type="sldNum" sz="quarter" idx="12"/>
          </p:nvPr>
        </p:nvSpPr>
        <p:spPr/>
        <p:txBody>
          <a:bodyPr/>
          <a:lstStyle/>
          <a:p>
            <a:fld id="{5A37AB63-62EB-4EDF-B1C9-C7FAE06A9E45}" type="slidenum">
              <a:rPr lang="en-SG" smtClean="0"/>
              <a:t>5</a:t>
            </a:fld>
            <a:endParaRPr lang="en-SG"/>
          </a:p>
        </p:txBody>
      </p:sp>
      <p:sp>
        <p:nvSpPr>
          <p:cNvPr id="93" name="Shape 4">
            <a:extLst>
              <a:ext uri="{FF2B5EF4-FFF2-40B4-BE49-F238E27FC236}">
                <a16:creationId xmlns:a16="http://schemas.microsoft.com/office/drawing/2014/main" id="{06B63BEF-DEF6-7666-E41F-99B02B3243A3}"/>
              </a:ext>
            </a:extLst>
          </p:cNvPr>
          <p:cNvSpPr/>
          <p:nvPr/>
        </p:nvSpPr>
        <p:spPr>
          <a:xfrm>
            <a:off x="2428333" y="1427956"/>
            <a:ext cx="1664208" cy="868680"/>
          </a:xfrm>
          <a:prstGeom prst="rect">
            <a:avLst/>
          </a:prstGeom>
          <a:solidFill>
            <a:srgbClr val="162032"/>
          </a:solidFill>
          <a:ln w="12700">
            <a:solidFill>
              <a:srgbClr val="1E3A5F"/>
            </a:solidFill>
            <a:prstDash val="solid"/>
          </a:ln>
          <a:effectLst>
            <a:outerShdw blurRad="101600" dist="25400" dir="8100000" algn="bl" rotWithShape="0">
              <a:srgbClr val="000000">
                <a:alpha val="18000"/>
              </a:srgbClr>
            </a:outerShdw>
          </a:effectLst>
        </p:spPr>
        <p:txBody>
          <a:bodyPr/>
          <a:lstStyle/>
          <a:p>
            <a:endParaRPr lang="en-SG"/>
          </a:p>
        </p:txBody>
      </p:sp>
      <p:sp>
        <p:nvSpPr>
          <p:cNvPr id="94" name="Shape 5">
            <a:extLst>
              <a:ext uri="{FF2B5EF4-FFF2-40B4-BE49-F238E27FC236}">
                <a16:creationId xmlns:a16="http://schemas.microsoft.com/office/drawing/2014/main" id="{7D5C8456-CB15-4AEA-A791-3AF7B31D1014}"/>
              </a:ext>
            </a:extLst>
          </p:cNvPr>
          <p:cNvSpPr/>
          <p:nvPr/>
        </p:nvSpPr>
        <p:spPr>
          <a:xfrm>
            <a:off x="2428333" y="1427956"/>
            <a:ext cx="64008" cy="868680"/>
          </a:xfrm>
          <a:prstGeom prst="rect">
            <a:avLst/>
          </a:prstGeom>
          <a:solidFill>
            <a:srgbClr val="64748B"/>
          </a:solidFill>
          <a:ln w="12700">
            <a:solidFill>
              <a:srgbClr val="64748B"/>
            </a:solidFill>
            <a:prstDash val="solid"/>
          </a:ln>
        </p:spPr>
        <p:txBody>
          <a:bodyPr/>
          <a:lstStyle/>
          <a:p>
            <a:endParaRPr lang="en-SG"/>
          </a:p>
        </p:txBody>
      </p:sp>
      <p:sp>
        <p:nvSpPr>
          <p:cNvPr id="95" name="Text 6">
            <a:extLst>
              <a:ext uri="{FF2B5EF4-FFF2-40B4-BE49-F238E27FC236}">
                <a16:creationId xmlns:a16="http://schemas.microsoft.com/office/drawing/2014/main" id="{CF21DFF9-4EB2-A38A-AF46-74B1CD99EDE1}"/>
              </a:ext>
            </a:extLst>
          </p:cNvPr>
          <p:cNvSpPr/>
          <p:nvPr/>
        </p:nvSpPr>
        <p:spPr>
          <a:xfrm>
            <a:off x="2592925" y="1501108"/>
            <a:ext cx="1435608" cy="477774"/>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541,909</a:t>
            </a:r>
            <a:endParaRPr lang="en-US" sz="2200" dirty="0"/>
          </a:p>
        </p:txBody>
      </p:sp>
      <p:sp>
        <p:nvSpPr>
          <p:cNvPr id="96" name="Text 7">
            <a:extLst>
              <a:ext uri="{FF2B5EF4-FFF2-40B4-BE49-F238E27FC236}">
                <a16:creationId xmlns:a16="http://schemas.microsoft.com/office/drawing/2014/main" id="{EEB18BF6-8105-742C-A06A-5468517FA45B}"/>
              </a:ext>
            </a:extLst>
          </p:cNvPr>
          <p:cNvSpPr/>
          <p:nvPr/>
        </p:nvSpPr>
        <p:spPr>
          <a:xfrm>
            <a:off x="2592925" y="1931790"/>
            <a:ext cx="1435608" cy="330098"/>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950" dirty="0">
                <a:solidFill>
                  <a:srgbClr val="CBD5E1"/>
                </a:solidFill>
              </a:rPr>
              <a:t>Raw Records</a:t>
            </a:r>
            <a:endParaRPr lang="en-US" sz="950" dirty="0"/>
          </a:p>
        </p:txBody>
      </p:sp>
      <p:sp>
        <p:nvSpPr>
          <p:cNvPr id="97" name="Shape 8">
            <a:extLst>
              <a:ext uri="{FF2B5EF4-FFF2-40B4-BE49-F238E27FC236}">
                <a16:creationId xmlns:a16="http://schemas.microsoft.com/office/drawing/2014/main" id="{EE652DF9-2B1E-7DFC-50C6-F36764B6EDE3}"/>
              </a:ext>
            </a:extLst>
          </p:cNvPr>
          <p:cNvSpPr/>
          <p:nvPr/>
        </p:nvSpPr>
        <p:spPr>
          <a:xfrm>
            <a:off x="4183981" y="1427956"/>
            <a:ext cx="1664208" cy="868680"/>
          </a:xfrm>
          <a:prstGeom prst="rect">
            <a:avLst/>
          </a:prstGeom>
          <a:solidFill>
            <a:srgbClr val="162032"/>
          </a:solidFill>
          <a:ln w="12700">
            <a:solidFill>
              <a:srgbClr val="1E3A5F"/>
            </a:solidFill>
            <a:prstDash val="solid"/>
          </a:ln>
          <a:effectLst>
            <a:outerShdw blurRad="101600" dist="25400" dir="8100000" algn="bl" rotWithShape="0">
              <a:srgbClr val="000000">
                <a:alpha val="18000"/>
              </a:srgbClr>
            </a:outerShdw>
          </a:effectLst>
        </p:spPr>
        <p:txBody>
          <a:bodyPr/>
          <a:lstStyle/>
          <a:p>
            <a:endParaRPr lang="en-SG"/>
          </a:p>
        </p:txBody>
      </p:sp>
      <p:sp>
        <p:nvSpPr>
          <p:cNvPr id="98" name="Shape 9">
            <a:extLst>
              <a:ext uri="{FF2B5EF4-FFF2-40B4-BE49-F238E27FC236}">
                <a16:creationId xmlns:a16="http://schemas.microsoft.com/office/drawing/2014/main" id="{4FC620D5-FFAE-A3C4-ACE6-328165B73DBD}"/>
              </a:ext>
            </a:extLst>
          </p:cNvPr>
          <p:cNvSpPr/>
          <p:nvPr/>
        </p:nvSpPr>
        <p:spPr>
          <a:xfrm>
            <a:off x="4183981" y="1427956"/>
            <a:ext cx="64008" cy="868680"/>
          </a:xfrm>
          <a:prstGeom prst="rect">
            <a:avLst/>
          </a:prstGeom>
          <a:solidFill>
            <a:srgbClr val="10B981"/>
          </a:solidFill>
          <a:ln w="12700">
            <a:solidFill>
              <a:srgbClr val="10B981"/>
            </a:solidFill>
            <a:prstDash val="solid"/>
          </a:ln>
        </p:spPr>
        <p:txBody>
          <a:bodyPr/>
          <a:lstStyle/>
          <a:p>
            <a:endParaRPr lang="en-SG"/>
          </a:p>
        </p:txBody>
      </p:sp>
      <p:sp>
        <p:nvSpPr>
          <p:cNvPr id="99" name="Text 10">
            <a:extLst>
              <a:ext uri="{FF2B5EF4-FFF2-40B4-BE49-F238E27FC236}">
                <a16:creationId xmlns:a16="http://schemas.microsoft.com/office/drawing/2014/main" id="{85386827-66C4-A253-E1BA-FA7234D63D55}"/>
              </a:ext>
            </a:extLst>
          </p:cNvPr>
          <p:cNvSpPr/>
          <p:nvPr/>
        </p:nvSpPr>
        <p:spPr>
          <a:xfrm>
            <a:off x="4348573" y="1501108"/>
            <a:ext cx="1435608" cy="477774"/>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530,104</a:t>
            </a:r>
            <a:endParaRPr lang="en-US" sz="2200" dirty="0"/>
          </a:p>
        </p:txBody>
      </p:sp>
      <p:sp>
        <p:nvSpPr>
          <p:cNvPr id="100" name="Text 11">
            <a:extLst>
              <a:ext uri="{FF2B5EF4-FFF2-40B4-BE49-F238E27FC236}">
                <a16:creationId xmlns:a16="http://schemas.microsoft.com/office/drawing/2014/main" id="{785B05A7-D649-1B17-BA2F-08080937A7FB}"/>
              </a:ext>
            </a:extLst>
          </p:cNvPr>
          <p:cNvSpPr/>
          <p:nvPr/>
        </p:nvSpPr>
        <p:spPr>
          <a:xfrm>
            <a:off x="4348573" y="1931790"/>
            <a:ext cx="1435608" cy="330098"/>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950" dirty="0">
                <a:solidFill>
                  <a:srgbClr val="CBD5E1"/>
                </a:solidFill>
              </a:rPr>
              <a:t>Clean Records</a:t>
            </a:r>
            <a:endParaRPr lang="en-US" sz="950" dirty="0"/>
          </a:p>
        </p:txBody>
      </p:sp>
      <p:sp>
        <p:nvSpPr>
          <p:cNvPr id="101" name="Shape 12">
            <a:extLst>
              <a:ext uri="{FF2B5EF4-FFF2-40B4-BE49-F238E27FC236}">
                <a16:creationId xmlns:a16="http://schemas.microsoft.com/office/drawing/2014/main" id="{E150E356-D983-BF8C-F1BB-D743C93BAB52}"/>
              </a:ext>
            </a:extLst>
          </p:cNvPr>
          <p:cNvSpPr/>
          <p:nvPr/>
        </p:nvSpPr>
        <p:spPr>
          <a:xfrm>
            <a:off x="5939629" y="1427956"/>
            <a:ext cx="1664208" cy="868680"/>
          </a:xfrm>
          <a:prstGeom prst="rect">
            <a:avLst/>
          </a:prstGeom>
          <a:solidFill>
            <a:srgbClr val="162032"/>
          </a:solidFill>
          <a:ln w="12700">
            <a:solidFill>
              <a:srgbClr val="1E3A5F"/>
            </a:solidFill>
            <a:prstDash val="solid"/>
          </a:ln>
          <a:effectLst>
            <a:outerShdw blurRad="101600" dist="25400" dir="8100000" algn="bl" rotWithShape="0">
              <a:srgbClr val="000000">
                <a:alpha val="18000"/>
              </a:srgbClr>
            </a:outerShdw>
          </a:effectLst>
        </p:spPr>
        <p:txBody>
          <a:bodyPr/>
          <a:lstStyle/>
          <a:p>
            <a:endParaRPr lang="en-SG"/>
          </a:p>
        </p:txBody>
      </p:sp>
      <p:sp>
        <p:nvSpPr>
          <p:cNvPr id="102" name="Shape 13">
            <a:extLst>
              <a:ext uri="{FF2B5EF4-FFF2-40B4-BE49-F238E27FC236}">
                <a16:creationId xmlns:a16="http://schemas.microsoft.com/office/drawing/2014/main" id="{5D437424-706F-AACD-6CD0-154E3B96ECEE}"/>
              </a:ext>
            </a:extLst>
          </p:cNvPr>
          <p:cNvSpPr/>
          <p:nvPr/>
        </p:nvSpPr>
        <p:spPr>
          <a:xfrm>
            <a:off x="5939629" y="1427956"/>
            <a:ext cx="64008" cy="868680"/>
          </a:xfrm>
          <a:prstGeom prst="rect">
            <a:avLst/>
          </a:prstGeom>
          <a:solidFill>
            <a:srgbClr val="00B4D8"/>
          </a:solidFill>
          <a:ln w="12700">
            <a:solidFill>
              <a:srgbClr val="00B4D8"/>
            </a:solidFill>
            <a:prstDash val="solid"/>
          </a:ln>
        </p:spPr>
        <p:txBody>
          <a:bodyPr/>
          <a:lstStyle/>
          <a:p>
            <a:endParaRPr lang="en-SG"/>
          </a:p>
        </p:txBody>
      </p:sp>
      <p:sp>
        <p:nvSpPr>
          <p:cNvPr id="103" name="Text 14">
            <a:extLst>
              <a:ext uri="{FF2B5EF4-FFF2-40B4-BE49-F238E27FC236}">
                <a16:creationId xmlns:a16="http://schemas.microsoft.com/office/drawing/2014/main" id="{97401A78-52A5-E75A-A066-8B7A90C0FBE0}"/>
              </a:ext>
            </a:extLst>
          </p:cNvPr>
          <p:cNvSpPr/>
          <p:nvPr/>
        </p:nvSpPr>
        <p:spPr>
          <a:xfrm>
            <a:off x="6104221" y="1501108"/>
            <a:ext cx="1435608" cy="477774"/>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3,922</a:t>
            </a:r>
            <a:endParaRPr lang="en-US" sz="2200" dirty="0"/>
          </a:p>
        </p:txBody>
      </p:sp>
      <p:sp>
        <p:nvSpPr>
          <p:cNvPr id="104" name="Text 15">
            <a:extLst>
              <a:ext uri="{FF2B5EF4-FFF2-40B4-BE49-F238E27FC236}">
                <a16:creationId xmlns:a16="http://schemas.microsoft.com/office/drawing/2014/main" id="{D3CD04FC-20E6-48B3-D3D0-9633B6603FDE}"/>
              </a:ext>
            </a:extLst>
          </p:cNvPr>
          <p:cNvSpPr/>
          <p:nvPr/>
        </p:nvSpPr>
        <p:spPr>
          <a:xfrm>
            <a:off x="6104221" y="1931790"/>
            <a:ext cx="1435608" cy="330098"/>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950" dirty="0">
                <a:solidFill>
                  <a:srgbClr val="CBD5E1"/>
                </a:solidFill>
              </a:rPr>
              <a:t>Unique SKUs</a:t>
            </a:r>
            <a:endParaRPr lang="en-US" sz="950" dirty="0"/>
          </a:p>
        </p:txBody>
      </p:sp>
      <p:sp>
        <p:nvSpPr>
          <p:cNvPr id="105" name="Shape 16">
            <a:extLst>
              <a:ext uri="{FF2B5EF4-FFF2-40B4-BE49-F238E27FC236}">
                <a16:creationId xmlns:a16="http://schemas.microsoft.com/office/drawing/2014/main" id="{C6A513F8-C857-6CCF-87A2-49387B945FD8}"/>
              </a:ext>
            </a:extLst>
          </p:cNvPr>
          <p:cNvSpPr/>
          <p:nvPr/>
        </p:nvSpPr>
        <p:spPr>
          <a:xfrm>
            <a:off x="7695277" y="1427956"/>
            <a:ext cx="1664208" cy="868680"/>
          </a:xfrm>
          <a:prstGeom prst="rect">
            <a:avLst/>
          </a:prstGeom>
          <a:solidFill>
            <a:srgbClr val="162032"/>
          </a:solidFill>
          <a:ln w="12700">
            <a:solidFill>
              <a:srgbClr val="1E3A5F"/>
            </a:solidFill>
            <a:prstDash val="solid"/>
          </a:ln>
          <a:effectLst>
            <a:outerShdw blurRad="101600" dist="25400" dir="8100000" algn="bl" rotWithShape="0">
              <a:srgbClr val="000000">
                <a:alpha val="18000"/>
              </a:srgbClr>
            </a:outerShdw>
          </a:effectLst>
        </p:spPr>
        <p:txBody>
          <a:bodyPr/>
          <a:lstStyle/>
          <a:p>
            <a:endParaRPr lang="en-SG"/>
          </a:p>
        </p:txBody>
      </p:sp>
      <p:sp>
        <p:nvSpPr>
          <p:cNvPr id="106" name="Shape 17">
            <a:extLst>
              <a:ext uri="{FF2B5EF4-FFF2-40B4-BE49-F238E27FC236}">
                <a16:creationId xmlns:a16="http://schemas.microsoft.com/office/drawing/2014/main" id="{8AFC75B2-7649-19EE-62D7-C35AB63B8B15}"/>
              </a:ext>
            </a:extLst>
          </p:cNvPr>
          <p:cNvSpPr/>
          <p:nvPr/>
        </p:nvSpPr>
        <p:spPr>
          <a:xfrm>
            <a:off x="7695277" y="1427956"/>
            <a:ext cx="64008" cy="868680"/>
          </a:xfrm>
          <a:prstGeom prst="rect">
            <a:avLst/>
          </a:prstGeom>
          <a:solidFill>
            <a:srgbClr val="F59E0B"/>
          </a:solidFill>
          <a:ln w="12700">
            <a:solidFill>
              <a:srgbClr val="F59E0B"/>
            </a:solidFill>
            <a:prstDash val="solid"/>
          </a:ln>
        </p:spPr>
        <p:txBody>
          <a:bodyPr/>
          <a:lstStyle/>
          <a:p>
            <a:endParaRPr lang="en-SG"/>
          </a:p>
        </p:txBody>
      </p:sp>
      <p:sp>
        <p:nvSpPr>
          <p:cNvPr id="107" name="Text 18">
            <a:extLst>
              <a:ext uri="{FF2B5EF4-FFF2-40B4-BE49-F238E27FC236}">
                <a16:creationId xmlns:a16="http://schemas.microsoft.com/office/drawing/2014/main" id="{922C6E4C-F29A-B28F-79CF-A45285CDFAE3}"/>
              </a:ext>
            </a:extLst>
          </p:cNvPr>
          <p:cNvSpPr/>
          <p:nvPr/>
        </p:nvSpPr>
        <p:spPr>
          <a:xfrm>
            <a:off x="7859869" y="1501108"/>
            <a:ext cx="1435608" cy="477774"/>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39</a:t>
            </a:r>
            <a:endParaRPr lang="en-US" sz="2200" dirty="0"/>
          </a:p>
        </p:txBody>
      </p:sp>
      <p:sp>
        <p:nvSpPr>
          <p:cNvPr id="108" name="Text 19">
            <a:extLst>
              <a:ext uri="{FF2B5EF4-FFF2-40B4-BE49-F238E27FC236}">
                <a16:creationId xmlns:a16="http://schemas.microsoft.com/office/drawing/2014/main" id="{C5F9693F-8DE8-1523-1D13-68BF1A8D1E20}"/>
              </a:ext>
            </a:extLst>
          </p:cNvPr>
          <p:cNvSpPr/>
          <p:nvPr/>
        </p:nvSpPr>
        <p:spPr>
          <a:xfrm>
            <a:off x="7859869" y="1931790"/>
            <a:ext cx="1435608" cy="330098"/>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950" dirty="0">
                <a:solidFill>
                  <a:srgbClr val="CBD5E1"/>
                </a:solidFill>
              </a:rPr>
              <a:t>Countries</a:t>
            </a:r>
            <a:endParaRPr lang="en-US" sz="950" dirty="0"/>
          </a:p>
        </p:txBody>
      </p:sp>
      <p:sp>
        <p:nvSpPr>
          <p:cNvPr id="109" name="Shape 20">
            <a:extLst>
              <a:ext uri="{FF2B5EF4-FFF2-40B4-BE49-F238E27FC236}">
                <a16:creationId xmlns:a16="http://schemas.microsoft.com/office/drawing/2014/main" id="{791E5A47-B3C0-7375-C32E-89B5375F6D57}"/>
              </a:ext>
            </a:extLst>
          </p:cNvPr>
          <p:cNvSpPr/>
          <p:nvPr/>
        </p:nvSpPr>
        <p:spPr>
          <a:xfrm>
            <a:off x="9450925" y="1427956"/>
            <a:ext cx="1664208" cy="868680"/>
          </a:xfrm>
          <a:prstGeom prst="rect">
            <a:avLst/>
          </a:prstGeom>
          <a:solidFill>
            <a:srgbClr val="162032"/>
          </a:solidFill>
          <a:ln w="12700">
            <a:solidFill>
              <a:srgbClr val="1E3A5F"/>
            </a:solidFill>
            <a:prstDash val="solid"/>
          </a:ln>
          <a:effectLst>
            <a:outerShdw blurRad="101600" dist="25400" dir="8100000" algn="bl" rotWithShape="0">
              <a:srgbClr val="000000">
                <a:alpha val="18000"/>
              </a:srgbClr>
            </a:outerShdw>
          </a:effectLst>
        </p:spPr>
        <p:txBody>
          <a:bodyPr/>
          <a:lstStyle/>
          <a:p>
            <a:endParaRPr lang="en-SG"/>
          </a:p>
        </p:txBody>
      </p:sp>
      <p:sp>
        <p:nvSpPr>
          <p:cNvPr id="110" name="Shape 21">
            <a:extLst>
              <a:ext uri="{FF2B5EF4-FFF2-40B4-BE49-F238E27FC236}">
                <a16:creationId xmlns:a16="http://schemas.microsoft.com/office/drawing/2014/main" id="{4E9A3EB5-F556-D956-071E-A6625C7C7BE8}"/>
              </a:ext>
            </a:extLst>
          </p:cNvPr>
          <p:cNvSpPr/>
          <p:nvPr/>
        </p:nvSpPr>
        <p:spPr>
          <a:xfrm>
            <a:off x="9450925" y="1427956"/>
            <a:ext cx="64008" cy="868680"/>
          </a:xfrm>
          <a:prstGeom prst="rect">
            <a:avLst/>
          </a:prstGeom>
          <a:solidFill>
            <a:srgbClr val="90E0EF"/>
          </a:solidFill>
          <a:ln w="12700">
            <a:solidFill>
              <a:srgbClr val="90E0EF"/>
            </a:solidFill>
            <a:prstDash val="solid"/>
          </a:ln>
        </p:spPr>
        <p:txBody>
          <a:bodyPr/>
          <a:lstStyle/>
          <a:p>
            <a:endParaRPr lang="en-SG"/>
          </a:p>
        </p:txBody>
      </p:sp>
      <p:sp>
        <p:nvSpPr>
          <p:cNvPr id="111" name="Text 22">
            <a:extLst>
              <a:ext uri="{FF2B5EF4-FFF2-40B4-BE49-F238E27FC236}">
                <a16:creationId xmlns:a16="http://schemas.microsoft.com/office/drawing/2014/main" id="{FAA9C04D-40A2-7F8C-C608-EE3F92A1529D}"/>
              </a:ext>
            </a:extLst>
          </p:cNvPr>
          <p:cNvSpPr/>
          <p:nvPr/>
        </p:nvSpPr>
        <p:spPr>
          <a:xfrm>
            <a:off x="9615517" y="1501108"/>
            <a:ext cx="1435608" cy="477774"/>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1 Year</a:t>
            </a:r>
            <a:endParaRPr lang="en-US" sz="2200" dirty="0"/>
          </a:p>
        </p:txBody>
      </p:sp>
      <p:sp>
        <p:nvSpPr>
          <p:cNvPr id="112" name="Text 23">
            <a:extLst>
              <a:ext uri="{FF2B5EF4-FFF2-40B4-BE49-F238E27FC236}">
                <a16:creationId xmlns:a16="http://schemas.microsoft.com/office/drawing/2014/main" id="{FD72F49E-8025-AC70-4BB3-8B8D5274919D}"/>
              </a:ext>
            </a:extLst>
          </p:cNvPr>
          <p:cNvSpPr/>
          <p:nvPr/>
        </p:nvSpPr>
        <p:spPr>
          <a:xfrm>
            <a:off x="9615517" y="1931790"/>
            <a:ext cx="1435608" cy="330098"/>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950" dirty="0">
                <a:solidFill>
                  <a:srgbClr val="CBD5E1"/>
                </a:solidFill>
              </a:rPr>
              <a:t>Dec 2010–Dec 2011</a:t>
            </a:r>
            <a:endParaRPr lang="en-US" sz="950" dirty="0"/>
          </a:p>
        </p:txBody>
      </p:sp>
      <p:sp>
        <p:nvSpPr>
          <p:cNvPr id="133" name="Rectangle 132">
            <a:extLst>
              <a:ext uri="{FF2B5EF4-FFF2-40B4-BE49-F238E27FC236}">
                <a16:creationId xmlns:a16="http://schemas.microsoft.com/office/drawing/2014/main" id="{63383FD1-77F0-E62C-9801-86ED2142AAF2}"/>
              </a:ext>
            </a:extLst>
          </p:cNvPr>
          <p:cNvSpPr/>
          <p:nvPr/>
        </p:nvSpPr>
        <p:spPr>
          <a:xfrm>
            <a:off x="996159" y="2692114"/>
            <a:ext cx="4658267" cy="3657600"/>
          </a:xfrm>
          <a:prstGeom prst="rect">
            <a:avLst/>
          </a:prstGeom>
          <a:solidFill>
            <a:srgbClr val="D0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Rectangle 133">
            <a:extLst>
              <a:ext uri="{FF2B5EF4-FFF2-40B4-BE49-F238E27FC236}">
                <a16:creationId xmlns:a16="http://schemas.microsoft.com/office/drawing/2014/main" id="{1B6E9065-0491-0903-4B3D-FAC85FA38BCF}"/>
              </a:ext>
            </a:extLst>
          </p:cNvPr>
          <p:cNvSpPr/>
          <p:nvPr/>
        </p:nvSpPr>
        <p:spPr>
          <a:xfrm>
            <a:off x="959584" y="2655538"/>
            <a:ext cx="4658267" cy="36576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134">
            <a:extLst>
              <a:ext uri="{FF2B5EF4-FFF2-40B4-BE49-F238E27FC236}">
                <a16:creationId xmlns:a16="http://schemas.microsoft.com/office/drawing/2014/main" id="{DBE6E263-C717-54A7-5CC7-E6420BE606F6}"/>
              </a:ext>
            </a:extLst>
          </p:cNvPr>
          <p:cNvSpPr txBox="1"/>
          <p:nvPr/>
        </p:nvSpPr>
        <p:spPr>
          <a:xfrm>
            <a:off x="1142464" y="2746978"/>
            <a:ext cx="4338227" cy="347472"/>
          </a:xfrm>
          <a:prstGeom prst="rect">
            <a:avLst/>
          </a:prstGeom>
          <a:noFill/>
        </p:spPr>
        <p:txBody>
          <a:bodyPr wrap="square"/>
          <a:lstStyle/>
          <a:p>
            <a:pPr algn="l"/>
            <a:r>
              <a:rPr sz="1500" b="1" i="0" dirty="0">
                <a:solidFill>
                  <a:srgbClr val="1A2E4A"/>
                </a:solidFill>
                <a:latin typeface="Calibri"/>
              </a:rPr>
              <a:t>Dataset Features</a:t>
            </a:r>
          </a:p>
        </p:txBody>
      </p:sp>
      <p:sp>
        <p:nvSpPr>
          <p:cNvPr id="136" name="TextBox 135">
            <a:extLst>
              <a:ext uri="{FF2B5EF4-FFF2-40B4-BE49-F238E27FC236}">
                <a16:creationId xmlns:a16="http://schemas.microsoft.com/office/drawing/2014/main" id="{DAE40E03-0717-F949-8FA9-314D819120EC}"/>
              </a:ext>
            </a:extLst>
          </p:cNvPr>
          <p:cNvSpPr txBox="1"/>
          <p:nvPr/>
        </p:nvSpPr>
        <p:spPr>
          <a:xfrm>
            <a:off x="1096744" y="3176746"/>
            <a:ext cx="1417320" cy="301752"/>
          </a:xfrm>
          <a:prstGeom prst="rect">
            <a:avLst/>
          </a:prstGeom>
          <a:noFill/>
        </p:spPr>
        <p:txBody>
          <a:bodyPr wrap="square"/>
          <a:lstStyle/>
          <a:p>
            <a:pPr algn="l"/>
            <a:r>
              <a:rPr sz="1200" b="1" i="0" dirty="0" err="1">
                <a:solidFill>
                  <a:srgbClr val="0D9488"/>
                </a:solidFill>
                <a:latin typeface="Calibri"/>
              </a:rPr>
              <a:t>InvoiceNo</a:t>
            </a:r>
            <a:endParaRPr sz="1200" b="1" i="0" dirty="0">
              <a:solidFill>
                <a:srgbClr val="0D9488"/>
              </a:solidFill>
              <a:latin typeface="Calibri"/>
            </a:endParaRPr>
          </a:p>
        </p:txBody>
      </p:sp>
      <p:sp>
        <p:nvSpPr>
          <p:cNvPr id="137" name="TextBox 136">
            <a:extLst>
              <a:ext uri="{FF2B5EF4-FFF2-40B4-BE49-F238E27FC236}">
                <a16:creationId xmlns:a16="http://schemas.microsoft.com/office/drawing/2014/main" id="{A7F60DD2-5BBD-0241-1666-B91E686B6ADF}"/>
              </a:ext>
            </a:extLst>
          </p:cNvPr>
          <p:cNvSpPr txBox="1"/>
          <p:nvPr/>
        </p:nvSpPr>
        <p:spPr>
          <a:xfrm>
            <a:off x="2559784" y="3176746"/>
            <a:ext cx="2920907" cy="301752"/>
          </a:xfrm>
          <a:prstGeom prst="rect">
            <a:avLst/>
          </a:prstGeom>
          <a:noFill/>
        </p:spPr>
        <p:txBody>
          <a:bodyPr wrap="square"/>
          <a:lstStyle/>
          <a:p>
            <a:pPr algn="l"/>
            <a:r>
              <a:rPr sz="1200" b="0" i="0" dirty="0">
                <a:solidFill>
                  <a:srgbClr val="1E293B"/>
                </a:solidFill>
                <a:latin typeface="Calibri"/>
              </a:rPr>
              <a:t>Invoice number (C-prefix = cancellation)</a:t>
            </a:r>
          </a:p>
        </p:txBody>
      </p:sp>
      <p:sp>
        <p:nvSpPr>
          <p:cNvPr id="138" name="TextBox 137">
            <a:extLst>
              <a:ext uri="{FF2B5EF4-FFF2-40B4-BE49-F238E27FC236}">
                <a16:creationId xmlns:a16="http://schemas.microsoft.com/office/drawing/2014/main" id="{E7ECE551-0BAD-B231-3F68-F55023970E4C}"/>
              </a:ext>
            </a:extLst>
          </p:cNvPr>
          <p:cNvSpPr txBox="1"/>
          <p:nvPr/>
        </p:nvSpPr>
        <p:spPr>
          <a:xfrm>
            <a:off x="1096744" y="3524218"/>
            <a:ext cx="1417320" cy="301752"/>
          </a:xfrm>
          <a:prstGeom prst="rect">
            <a:avLst/>
          </a:prstGeom>
          <a:noFill/>
        </p:spPr>
        <p:txBody>
          <a:bodyPr wrap="square"/>
          <a:lstStyle/>
          <a:p>
            <a:pPr algn="l"/>
            <a:r>
              <a:rPr sz="1200" b="1" i="0">
                <a:solidFill>
                  <a:srgbClr val="0D9488"/>
                </a:solidFill>
                <a:latin typeface="Calibri"/>
              </a:rPr>
              <a:t>StockCode</a:t>
            </a:r>
          </a:p>
        </p:txBody>
      </p:sp>
      <p:sp>
        <p:nvSpPr>
          <p:cNvPr id="139" name="TextBox 138">
            <a:extLst>
              <a:ext uri="{FF2B5EF4-FFF2-40B4-BE49-F238E27FC236}">
                <a16:creationId xmlns:a16="http://schemas.microsoft.com/office/drawing/2014/main" id="{098D2620-B6EE-5F8D-3A44-B68B38A513A8}"/>
              </a:ext>
            </a:extLst>
          </p:cNvPr>
          <p:cNvSpPr txBox="1"/>
          <p:nvPr/>
        </p:nvSpPr>
        <p:spPr>
          <a:xfrm>
            <a:off x="2559784" y="3524218"/>
            <a:ext cx="2920907" cy="301752"/>
          </a:xfrm>
          <a:prstGeom prst="rect">
            <a:avLst/>
          </a:prstGeom>
          <a:noFill/>
        </p:spPr>
        <p:txBody>
          <a:bodyPr wrap="square"/>
          <a:lstStyle/>
          <a:p>
            <a:pPr algn="l"/>
            <a:r>
              <a:rPr sz="1200" b="0" i="0" dirty="0">
                <a:solidFill>
                  <a:srgbClr val="1E293B"/>
                </a:solidFill>
                <a:latin typeface="Calibri"/>
              </a:rPr>
              <a:t>Product code (SKU identifier)</a:t>
            </a:r>
          </a:p>
        </p:txBody>
      </p:sp>
      <p:sp>
        <p:nvSpPr>
          <p:cNvPr id="140" name="TextBox 139">
            <a:extLst>
              <a:ext uri="{FF2B5EF4-FFF2-40B4-BE49-F238E27FC236}">
                <a16:creationId xmlns:a16="http://schemas.microsoft.com/office/drawing/2014/main" id="{D337C53C-678B-C1B3-DF5B-383C89244D90}"/>
              </a:ext>
            </a:extLst>
          </p:cNvPr>
          <p:cNvSpPr txBox="1"/>
          <p:nvPr/>
        </p:nvSpPr>
        <p:spPr>
          <a:xfrm>
            <a:off x="1096744" y="3871689"/>
            <a:ext cx="1417320" cy="301752"/>
          </a:xfrm>
          <a:prstGeom prst="rect">
            <a:avLst/>
          </a:prstGeom>
          <a:noFill/>
        </p:spPr>
        <p:txBody>
          <a:bodyPr wrap="square"/>
          <a:lstStyle/>
          <a:p>
            <a:pPr algn="l"/>
            <a:r>
              <a:rPr sz="1200" b="1" i="0">
                <a:solidFill>
                  <a:srgbClr val="0D9488"/>
                </a:solidFill>
                <a:latin typeface="Calibri"/>
              </a:rPr>
              <a:t>Description</a:t>
            </a:r>
          </a:p>
        </p:txBody>
      </p:sp>
      <p:sp>
        <p:nvSpPr>
          <p:cNvPr id="141" name="TextBox 140">
            <a:extLst>
              <a:ext uri="{FF2B5EF4-FFF2-40B4-BE49-F238E27FC236}">
                <a16:creationId xmlns:a16="http://schemas.microsoft.com/office/drawing/2014/main" id="{B8A0A9D9-BF1D-85A9-CC95-90B42A2F7F8F}"/>
              </a:ext>
            </a:extLst>
          </p:cNvPr>
          <p:cNvSpPr txBox="1"/>
          <p:nvPr/>
        </p:nvSpPr>
        <p:spPr>
          <a:xfrm>
            <a:off x="2559784" y="3871689"/>
            <a:ext cx="2920907" cy="301752"/>
          </a:xfrm>
          <a:prstGeom prst="rect">
            <a:avLst/>
          </a:prstGeom>
          <a:noFill/>
        </p:spPr>
        <p:txBody>
          <a:bodyPr wrap="square"/>
          <a:lstStyle/>
          <a:p>
            <a:pPr algn="l"/>
            <a:r>
              <a:rPr sz="1200" b="0" i="0" dirty="0">
                <a:solidFill>
                  <a:srgbClr val="1E293B"/>
                </a:solidFill>
                <a:latin typeface="Calibri"/>
              </a:rPr>
              <a:t>Product name</a:t>
            </a:r>
          </a:p>
        </p:txBody>
      </p:sp>
      <p:sp>
        <p:nvSpPr>
          <p:cNvPr id="142" name="TextBox 141">
            <a:extLst>
              <a:ext uri="{FF2B5EF4-FFF2-40B4-BE49-F238E27FC236}">
                <a16:creationId xmlns:a16="http://schemas.microsoft.com/office/drawing/2014/main" id="{3BF31767-FABD-A266-C093-6F7FA0688D43}"/>
              </a:ext>
            </a:extLst>
          </p:cNvPr>
          <p:cNvSpPr txBox="1"/>
          <p:nvPr/>
        </p:nvSpPr>
        <p:spPr>
          <a:xfrm>
            <a:off x="1096744" y="4219161"/>
            <a:ext cx="1417320" cy="301752"/>
          </a:xfrm>
          <a:prstGeom prst="rect">
            <a:avLst/>
          </a:prstGeom>
          <a:noFill/>
        </p:spPr>
        <p:txBody>
          <a:bodyPr wrap="square"/>
          <a:lstStyle/>
          <a:p>
            <a:pPr algn="l"/>
            <a:r>
              <a:rPr sz="1200" b="1" i="0">
                <a:solidFill>
                  <a:srgbClr val="0D9488"/>
                </a:solidFill>
                <a:latin typeface="Calibri"/>
              </a:rPr>
              <a:t>Quantity</a:t>
            </a:r>
          </a:p>
        </p:txBody>
      </p:sp>
      <p:sp>
        <p:nvSpPr>
          <p:cNvPr id="143" name="TextBox 142">
            <a:extLst>
              <a:ext uri="{FF2B5EF4-FFF2-40B4-BE49-F238E27FC236}">
                <a16:creationId xmlns:a16="http://schemas.microsoft.com/office/drawing/2014/main" id="{71790FAF-0081-3B76-1C5F-186D00F7E051}"/>
              </a:ext>
            </a:extLst>
          </p:cNvPr>
          <p:cNvSpPr txBox="1"/>
          <p:nvPr/>
        </p:nvSpPr>
        <p:spPr>
          <a:xfrm>
            <a:off x="2559784" y="4219161"/>
            <a:ext cx="2920907" cy="301752"/>
          </a:xfrm>
          <a:prstGeom prst="rect">
            <a:avLst/>
          </a:prstGeom>
          <a:noFill/>
        </p:spPr>
        <p:txBody>
          <a:bodyPr wrap="square"/>
          <a:lstStyle/>
          <a:p>
            <a:pPr algn="l"/>
            <a:r>
              <a:rPr sz="1200" b="0" i="0">
                <a:solidFill>
                  <a:srgbClr val="1E293B"/>
                </a:solidFill>
                <a:latin typeface="Calibri"/>
              </a:rPr>
              <a:t>Units per transaction (negatives = returns)</a:t>
            </a:r>
          </a:p>
        </p:txBody>
      </p:sp>
      <p:sp>
        <p:nvSpPr>
          <p:cNvPr id="144" name="TextBox 143">
            <a:extLst>
              <a:ext uri="{FF2B5EF4-FFF2-40B4-BE49-F238E27FC236}">
                <a16:creationId xmlns:a16="http://schemas.microsoft.com/office/drawing/2014/main" id="{897CC641-61B9-867C-F380-A4717BAF48F1}"/>
              </a:ext>
            </a:extLst>
          </p:cNvPr>
          <p:cNvSpPr txBox="1"/>
          <p:nvPr/>
        </p:nvSpPr>
        <p:spPr>
          <a:xfrm>
            <a:off x="1096744" y="4566634"/>
            <a:ext cx="1417320" cy="301752"/>
          </a:xfrm>
          <a:prstGeom prst="rect">
            <a:avLst/>
          </a:prstGeom>
          <a:noFill/>
        </p:spPr>
        <p:txBody>
          <a:bodyPr wrap="square"/>
          <a:lstStyle/>
          <a:p>
            <a:pPr algn="l"/>
            <a:r>
              <a:rPr sz="1200" b="1" i="0">
                <a:solidFill>
                  <a:srgbClr val="0D9488"/>
                </a:solidFill>
                <a:latin typeface="Calibri"/>
              </a:rPr>
              <a:t>InvoiceDate</a:t>
            </a:r>
          </a:p>
        </p:txBody>
      </p:sp>
      <p:sp>
        <p:nvSpPr>
          <p:cNvPr id="145" name="TextBox 144">
            <a:extLst>
              <a:ext uri="{FF2B5EF4-FFF2-40B4-BE49-F238E27FC236}">
                <a16:creationId xmlns:a16="http://schemas.microsoft.com/office/drawing/2014/main" id="{F0408193-AA03-C83A-CB7A-F72C00D35CE1}"/>
              </a:ext>
            </a:extLst>
          </p:cNvPr>
          <p:cNvSpPr txBox="1"/>
          <p:nvPr/>
        </p:nvSpPr>
        <p:spPr>
          <a:xfrm>
            <a:off x="2559784" y="4566634"/>
            <a:ext cx="2920907" cy="301752"/>
          </a:xfrm>
          <a:prstGeom prst="rect">
            <a:avLst/>
          </a:prstGeom>
          <a:noFill/>
        </p:spPr>
        <p:txBody>
          <a:bodyPr wrap="square"/>
          <a:lstStyle/>
          <a:p>
            <a:pPr algn="l"/>
            <a:r>
              <a:rPr sz="1200" b="0" i="0">
                <a:solidFill>
                  <a:srgbClr val="1E293B"/>
                </a:solidFill>
                <a:latin typeface="Calibri"/>
              </a:rPr>
              <a:t>Date and time of transaction</a:t>
            </a:r>
          </a:p>
        </p:txBody>
      </p:sp>
      <p:sp>
        <p:nvSpPr>
          <p:cNvPr id="146" name="TextBox 145">
            <a:extLst>
              <a:ext uri="{FF2B5EF4-FFF2-40B4-BE49-F238E27FC236}">
                <a16:creationId xmlns:a16="http://schemas.microsoft.com/office/drawing/2014/main" id="{DBE7DFFC-DCAA-FE6C-38C6-7EBD574B3D23}"/>
              </a:ext>
            </a:extLst>
          </p:cNvPr>
          <p:cNvSpPr txBox="1"/>
          <p:nvPr/>
        </p:nvSpPr>
        <p:spPr>
          <a:xfrm>
            <a:off x="1096744" y="4914105"/>
            <a:ext cx="1417320" cy="301752"/>
          </a:xfrm>
          <a:prstGeom prst="rect">
            <a:avLst/>
          </a:prstGeom>
          <a:noFill/>
        </p:spPr>
        <p:txBody>
          <a:bodyPr wrap="square"/>
          <a:lstStyle/>
          <a:p>
            <a:pPr algn="l"/>
            <a:r>
              <a:rPr sz="1200" b="1" i="0">
                <a:solidFill>
                  <a:srgbClr val="0D9488"/>
                </a:solidFill>
                <a:latin typeface="Calibri"/>
              </a:rPr>
              <a:t>UnitPrice</a:t>
            </a:r>
          </a:p>
        </p:txBody>
      </p:sp>
      <p:sp>
        <p:nvSpPr>
          <p:cNvPr id="147" name="TextBox 146">
            <a:extLst>
              <a:ext uri="{FF2B5EF4-FFF2-40B4-BE49-F238E27FC236}">
                <a16:creationId xmlns:a16="http://schemas.microsoft.com/office/drawing/2014/main" id="{EB011E0A-09D0-C956-42A5-CAF155D0BACC}"/>
              </a:ext>
            </a:extLst>
          </p:cNvPr>
          <p:cNvSpPr txBox="1"/>
          <p:nvPr/>
        </p:nvSpPr>
        <p:spPr>
          <a:xfrm>
            <a:off x="2559784" y="4914105"/>
            <a:ext cx="2920907" cy="301752"/>
          </a:xfrm>
          <a:prstGeom prst="rect">
            <a:avLst/>
          </a:prstGeom>
          <a:noFill/>
        </p:spPr>
        <p:txBody>
          <a:bodyPr wrap="square"/>
          <a:lstStyle/>
          <a:p>
            <a:pPr algn="l"/>
            <a:r>
              <a:rPr sz="1200" b="0" i="0">
                <a:solidFill>
                  <a:srgbClr val="1E293B"/>
                </a:solidFill>
                <a:latin typeface="Calibri"/>
              </a:rPr>
              <a:t>Price per unit in GBP (£)</a:t>
            </a:r>
          </a:p>
        </p:txBody>
      </p:sp>
      <p:sp>
        <p:nvSpPr>
          <p:cNvPr id="148" name="TextBox 147">
            <a:extLst>
              <a:ext uri="{FF2B5EF4-FFF2-40B4-BE49-F238E27FC236}">
                <a16:creationId xmlns:a16="http://schemas.microsoft.com/office/drawing/2014/main" id="{B60ED5AF-74DE-421D-204E-7ACA57A99602}"/>
              </a:ext>
            </a:extLst>
          </p:cNvPr>
          <p:cNvSpPr txBox="1"/>
          <p:nvPr/>
        </p:nvSpPr>
        <p:spPr>
          <a:xfrm>
            <a:off x="1096744" y="5261577"/>
            <a:ext cx="1417320" cy="301752"/>
          </a:xfrm>
          <a:prstGeom prst="rect">
            <a:avLst/>
          </a:prstGeom>
          <a:noFill/>
        </p:spPr>
        <p:txBody>
          <a:bodyPr wrap="square"/>
          <a:lstStyle/>
          <a:p>
            <a:pPr algn="l"/>
            <a:r>
              <a:rPr sz="1200" b="1" i="0" dirty="0" err="1">
                <a:solidFill>
                  <a:srgbClr val="0D9488"/>
                </a:solidFill>
                <a:latin typeface="Calibri"/>
              </a:rPr>
              <a:t>CustomerID</a:t>
            </a:r>
            <a:endParaRPr sz="1200" b="1" i="0" dirty="0">
              <a:solidFill>
                <a:srgbClr val="0D9488"/>
              </a:solidFill>
              <a:latin typeface="Calibri"/>
            </a:endParaRPr>
          </a:p>
        </p:txBody>
      </p:sp>
      <p:sp>
        <p:nvSpPr>
          <p:cNvPr id="149" name="TextBox 148">
            <a:extLst>
              <a:ext uri="{FF2B5EF4-FFF2-40B4-BE49-F238E27FC236}">
                <a16:creationId xmlns:a16="http://schemas.microsoft.com/office/drawing/2014/main" id="{39C1C704-EC01-7116-5D58-EED7CA1EA238}"/>
              </a:ext>
            </a:extLst>
          </p:cNvPr>
          <p:cNvSpPr txBox="1"/>
          <p:nvPr/>
        </p:nvSpPr>
        <p:spPr>
          <a:xfrm>
            <a:off x="2559784" y="5261577"/>
            <a:ext cx="2920907" cy="301752"/>
          </a:xfrm>
          <a:prstGeom prst="rect">
            <a:avLst/>
          </a:prstGeom>
          <a:noFill/>
        </p:spPr>
        <p:txBody>
          <a:bodyPr wrap="square"/>
          <a:lstStyle/>
          <a:p>
            <a:pPr algn="l"/>
            <a:r>
              <a:rPr sz="1200" b="0" i="0">
                <a:solidFill>
                  <a:srgbClr val="1E293B"/>
                </a:solidFill>
                <a:latin typeface="Calibri"/>
              </a:rPr>
              <a:t>Unique customer identifier</a:t>
            </a:r>
          </a:p>
        </p:txBody>
      </p:sp>
      <p:sp>
        <p:nvSpPr>
          <p:cNvPr id="150" name="TextBox 149">
            <a:extLst>
              <a:ext uri="{FF2B5EF4-FFF2-40B4-BE49-F238E27FC236}">
                <a16:creationId xmlns:a16="http://schemas.microsoft.com/office/drawing/2014/main" id="{4B80CE92-C3FF-4439-8A13-A78C02D8BA69}"/>
              </a:ext>
            </a:extLst>
          </p:cNvPr>
          <p:cNvSpPr txBox="1"/>
          <p:nvPr/>
        </p:nvSpPr>
        <p:spPr>
          <a:xfrm>
            <a:off x="1096744" y="5609049"/>
            <a:ext cx="1417320" cy="301752"/>
          </a:xfrm>
          <a:prstGeom prst="rect">
            <a:avLst/>
          </a:prstGeom>
          <a:noFill/>
        </p:spPr>
        <p:txBody>
          <a:bodyPr wrap="square"/>
          <a:lstStyle/>
          <a:p>
            <a:pPr algn="l"/>
            <a:r>
              <a:rPr sz="1200" b="1" i="0">
                <a:solidFill>
                  <a:srgbClr val="0D9488"/>
                </a:solidFill>
                <a:latin typeface="Calibri"/>
              </a:rPr>
              <a:t>Country</a:t>
            </a:r>
          </a:p>
        </p:txBody>
      </p:sp>
      <p:sp>
        <p:nvSpPr>
          <p:cNvPr id="151" name="TextBox 150">
            <a:extLst>
              <a:ext uri="{FF2B5EF4-FFF2-40B4-BE49-F238E27FC236}">
                <a16:creationId xmlns:a16="http://schemas.microsoft.com/office/drawing/2014/main" id="{7B99C3BB-73DD-3DFB-9CED-155A005535E4}"/>
              </a:ext>
            </a:extLst>
          </p:cNvPr>
          <p:cNvSpPr txBox="1"/>
          <p:nvPr/>
        </p:nvSpPr>
        <p:spPr>
          <a:xfrm>
            <a:off x="2559784" y="5609049"/>
            <a:ext cx="2920907" cy="301752"/>
          </a:xfrm>
          <a:prstGeom prst="rect">
            <a:avLst/>
          </a:prstGeom>
          <a:noFill/>
        </p:spPr>
        <p:txBody>
          <a:bodyPr wrap="square"/>
          <a:lstStyle/>
          <a:p>
            <a:pPr algn="l"/>
            <a:r>
              <a:rPr sz="1200" b="0" i="0">
                <a:solidFill>
                  <a:srgbClr val="1E293B"/>
                </a:solidFill>
                <a:latin typeface="Calibri"/>
              </a:rPr>
              <a:t>Customer country of origin</a:t>
            </a:r>
          </a:p>
        </p:txBody>
      </p:sp>
      <p:sp>
        <p:nvSpPr>
          <p:cNvPr id="152" name="Rectangle 151">
            <a:extLst>
              <a:ext uri="{FF2B5EF4-FFF2-40B4-BE49-F238E27FC236}">
                <a16:creationId xmlns:a16="http://schemas.microsoft.com/office/drawing/2014/main" id="{6EFF3DAB-04E5-A7C0-62EB-F7C71DF37987}"/>
              </a:ext>
            </a:extLst>
          </p:cNvPr>
          <p:cNvSpPr/>
          <p:nvPr/>
        </p:nvSpPr>
        <p:spPr>
          <a:xfrm>
            <a:off x="6154017" y="2692114"/>
            <a:ext cx="5501880" cy="2694431"/>
          </a:xfrm>
          <a:prstGeom prst="rect">
            <a:avLst/>
          </a:prstGeom>
          <a:solidFill>
            <a:srgbClr val="D0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Rectangle 152">
            <a:extLst>
              <a:ext uri="{FF2B5EF4-FFF2-40B4-BE49-F238E27FC236}">
                <a16:creationId xmlns:a16="http://schemas.microsoft.com/office/drawing/2014/main" id="{BAE79A40-1515-E5D7-BF30-7AC96198F993}"/>
              </a:ext>
            </a:extLst>
          </p:cNvPr>
          <p:cNvSpPr/>
          <p:nvPr/>
        </p:nvSpPr>
        <p:spPr>
          <a:xfrm>
            <a:off x="6104220" y="2655538"/>
            <a:ext cx="5554379" cy="2694431"/>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153">
            <a:extLst>
              <a:ext uri="{FF2B5EF4-FFF2-40B4-BE49-F238E27FC236}">
                <a16:creationId xmlns:a16="http://schemas.microsoft.com/office/drawing/2014/main" id="{9B107D45-5686-A021-732A-395E904B6AF6}"/>
              </a:ext>
            </a:extLst>
          </p:cNvPr>
          <p:cNvSpPr txBox="1"/>
          <p:nvPr/>
        </p:nvSpPr>
        <p:spPr>
          <a:xfrm>
            <a:off x="6464799" y="2746978"/>
            <a:ext cx="4848698" cy="347472"/>
          </a:xfrm>
          <a:prstGeom prst="rect">
            <a:avLst/>
          </a:prstGeom>
          <a:noFill/>
        </p:spPr>
        <p:txBody>
          <a:bodyPr wrap="square"/>
          <a:lstStyle/>
          <a:p>
            <a:pPr algn="l"/>
            <a:r>
              <a:rPr sz="1500" b="1" i="0" dirty="0">
                <a:solidFill>
                  <a:srgbClr val="1A2E4A"/>
                </a:solidFill>
                <a:latin typeface="Calibri"/>
              </a:rPr>
              <a:t>Preprocessing Pipeline</a:t>
            </a:r>
          </a:p>
        </p:txBody>
      </p:sp>
      <p:sp>
        <p:nvSpPr>
          <p:cNvPr id="155" name="TextBox 154">
            <a:extLst>
              <a:ext uri="{FF2B5EF4-FFF2-40B4-BE49-F238E27FC236}">
                <a16:creationId xmlns:a16="http://schemas.microsoft.com/office/drawing/2014/main" id="{0807C1C4-FF9A-4145-54B2-9DE3A2765E2F}"/>
              </a:ext>
            </a:extLst>
          </p:cNvPr>
          <p:cNvSpPr txBox="1"/>
          <p:nvPr/>
        </p:nvSpPr>
        <p:spPr>
          <a:xfrm>
            <a:off x="6396691" y="3176746"/>
            <a:ext cx="5119170" cy="2018501"/>
          </a:xfrm>
          <a:prstGeom prst="rect">
            <a:avLst/>
          </a:prstGeom>
          <a:noFill/>
        </p:spPr>
        <p:txBody>
          <a:bodyPr wrap="square">
            <a:spAutoFit/>
          </a:bodyPr>
          <a:lstStyle/>
          <a:p>
            <a:pPr>
              <a:spcAft>
                <a:spcPts val="500"/>
              </a:spcAft>
            </a:pPr>
            <a:r>
              <a:rPr sz="1200" dirty="0">
                <a:solidFill>
                  <a:srgbClr val="1E293B"/>
                </a:solidFill>
                <a:latin typeface="Calibri"/>
              </a:rPr>
              <a:t>▸  </a:t>
            </a:r>
            <a:r>
              <a:rPr lang="en-US" sz="1200" dirty="0">
                <a:solidFill>
                  <a:srgbClr val="1E293B"/>
                </a:solidFill>
                <a:latin typeface="Calibri"/>
              </a:rPr>
              <a:t>Remove null </a:t>
            </a:r>
            <a:r>
              <a:rPr lang="en-US" sz="1200" dirty="0" err="1">
                <a:solidFill>
                  <a:srgbClr val="1E293B"/>
                </a:solidFill>
                <a:latin typeface="Calibri"/>
              </a:rPr>
              <a:t>CustomerIDs</a:t>
            </a:r>
            <a:r>
              <a:rPr lang="en-US" sz="1200" dirty="0">
                <a:solidFill>
                  <a:srgbClr val="1E293B"/>
                </a:solidFill>
                <a:latin typeface="Calibri"/>
              </a:rPr>
              <a:t> and invalid rows (~11,805 records total removed)</a:t>
            </a:r>
          </a:p>
          <a:p>
            <a:pPr>
              <a:spcAft>
                <a:spcPts val="500"/>
              </a:spcAft>
            </a:pPr>
            <a:r>
              <a:rPr sz="1200" dirty="0">
                <a:solidFill>
                  <a:srgbClr val="1E293B"/>
                </a:solidFill>
                <a:latin typeface="Calibri"/>
              </a:rPr>
              <a:t>▸  Drop cancellations (</a:t>
            </a:r>
            <a:r>
              <a:rPr sz="1200" dirty="0" err="1">
                <a:solidFill>
                  <a:srgbClr val="1E293B"/>
                </a:solidFill>
                <a:latin typeface="Calibri"/>
              </a:rPr>
              <a:t>InvoiceNo</a:t>
            </a:r>
            <a:r>
              <a:rPr sz="1200" dirty="0">
                <a:solidFill>
                  <a:srgbClr val="1E293B"/>
                </a:solidFill>
                <a:latin typeface="Calibri"/>
              </a:rPr>
              <a:t> starting with 'C')</a:t>
            </a:r>
          </a:p>
          <a:p>
            <a:pPr>
              <a:spcAft>
                <a:spcPts val="500"/>
              </a:spcAft>
            </a:pPr>
            <a:r>
              <a:rPr sz="1200" dirty="0">
                <a:solidFill>
                  <a:srgbClr val="1E293B"/>
                </a:solidFill>
                <a:latin typeface="Calibri"/>
              </a:rPr>
              <a:t>▸  Filter Quantity &gt; 0 and </a:t>
            </a:r>
            <a:r>
              <a:rPr sz="1200" dirty="0" err="1">
                <a:solidFill>
                  <a:srgbClr val="1E293B"/>
                </a:solidFill>
                <a:latin typeface="Calibri"/>
              </a:rPr>
              <a:t>UnitPrice</a:t>
            </a:r>
            <a:r>
              <a:rPr sz="1200" dirty="0">
                <a:solidFill>
                  <a:srgbClr val="1E293B"/>
                </a:solidFill>
                <a:latin typeface="Calibri"/>
              </a:rPr>
              <a:t> &gt; 0</a:t>
            </a:r>
          </a:p>
          <a:p>
            <a:pPr>
              <a:spcAft>
                <a:spcPts val="500"/>
              </a:spcAft>
            </a:pPr>
            <a:r>
              <a:rPr sz="1200" dirty="0">
                <a:solidFill>
                  <a:srgbClr val="1E293B"/>
                </a:solidFill>
                <a:latin typeface="Calibri"/>
              </a:rPr>
              <a:t>▸  Parse </a:t>
            </a:r>
            <a:r>
              <a:rPr sz="1200" dirty="0" err="1">
                <a:solidFill>
                  <a:srgbClr val="1E293B"/>
                </a:solidFill>
                <a:latin typeface="Calibri"/>
              </a:rPr>
              <a:t>InvoiceDate</a:t>
            </a:r>
            <a:r>
              <a:rPr sz="1200" dirty="0">
                <a:solidFill>
                  <a:srgbClr val="1E293B"/>
                </a:solidFill>
                <a:latin typeface="Calibri"/>
              </a:rPr>
              <a:t> to datetime format</a:t>
            </a:r>
          </a:p>
          <a:p>
            <a:pPr>
              <a:spcAft>
                <a:spcPts val="500"/>
              </a:spcAft>
            </a:pPr>
            <a:r>
              <a:rPr sz="1200" dirty="0">
                <a:solidFill>
                  <a:srgbClr val="1E293B"/>
                </a:solidFill>
                <a:latin typeface="Calibri"/>
              </a:rPr>
              <a:t>▸  Compute Revenue = Quantity × </a:t>
            </a:r>
            <a:r>
              <a:rPr sz="1200" dirty="0" err="1">
                <a:solidFill>
                  <a:srgbClr val="1E293B"/>
                </a:solidFill>
                <a:latin typeface="Calibri"/>
              </a:rPr>
              <a:t>UnitPrice</a:t>
            </a:r>
            <a:endParaRPr sz="1200" dirty="0">
              <a:solidFill>
                <a:srgbClr val="1E293B"/>
              </a:solidFill>
              <a:latin typeface="Calibri"/>
            </a:endParaRPr>
          </a:p>
          <a:p>
            <a:pPr>
              <a:spcAft>
                <a:spcPts val="500"/>
              </a:spcAft>
            </a:pPr>
            <a:r>
              <a:rPr sz="1200" dirty="0">
                <a:solidFill>
                  <a:srgbClr val="1E293B"/>
                </a:solidFill>
                <a:latin typeface="Calibri"/>
              </a:rPr>
              <a:t>▸  Aggregate daily demand per SKU</a:t>
            </a:r>
          </a:p>
          <a:p>
            <a:pPr>
              <a:spcAft>
                <a:spcPts val="500"/>
              </a:spcAft>
            </a:pPr>
            <a:r>
              <a:rPr sz="1200" dirty="0">
                <a:solidFill>
                  <a:srgbClr val="1E293B"/>
                </a:solidFill>
                <a:latin typeface="Calibri"/>
              </a:rPr>
              <a:t>▸  Engineer lag &amp; rolling window features</a:t>
            </a:r>
          </a:p>
          <a:p>
            <a:pPr>
              <a:spcAft>
                <a:spcPts val="500"/>
              </a:spcAft>
            </a:pPr>
            <a:r>
              <a:rPr sz="1200" dirty="0">
                <a:solidFill>
                  <a:srgbClr val="1E293B"/>
                </a:solidFill>
                <a:latin typeface="Calibri"/>
              </a:rPr>
              <a:t>▸  Apply </a:t>
            </a:r>
            <a:r>
              <a:rPr sz="1200" dirty="0" err="1">
                <a:solidFill>
                  <a:srgbClr val="1E293B"/>
                </a:solidFill>
                <a:latin typeface="Calibri"/>
              </a:rPr>
              <a:t>RobustScaler</a:t>
            </a:r>
            <a:r>
              <a:rPr sz="1200" dirty="0">
                <a:solidFill>
                  <a:srgbClr val="1E293B"/>
                </a:solidFill>
                <a:latin typeface="Calibri"/>
              </a:rPr>
              <a:t> + log transforms for RFM</a:t>
            </a:r>
          </a:p>
        </p:txBody>
      </p:sp>
      <p:sp>
        <p:nvSpPr>
          <p:cNvPr id="157" name="TextBox 156">
            <a:extLst>
              <a:ext uri="{FF2B5EF4-FFF2-40B4-BE49-F238E27FC236}">
                <a16:creationId xmlns:a16="http://schemas.microsoft.com/office/drawing/2014/main" id="{21522AB3-9331-2DAA-F2AE-9492CFFB6075}"/>
              </a:ext>
            </a:extLst>
          </p:cNvPr>
          <p:cNvSpPr txBox="1"/>
          <p:nvPr/>
        </p:nvSpPr>
        <p:spPr>
          <a:xfrm>
            <a:off x="7397495" y="6041937"/>
            <a:ext cx="4700017" cy="307777"/>
          </a:xfrm>
          <a:prstGeom prst="rect">
            <a:avLst/>
          </a:prstGeom>
          <a:noFill/>
        </p:spPr>
        <p:txBody>
          <a:bodyPr wrap="square">
            <a:spAutoFit/>
          </a:bodyPr>
          <a:lstStyle/>
          <a:p>
            <a:r>
              <a:rPr lang="en-SG" sz="1400" dirty="0">
                <a:hlinkClick r:id="rId3"/>
              </a:rPr>
              <a:t>https://archive.ics.uci.edu/dataset/352/online+retail</a:t>
            </a:r>
            <a:endParaRPr lang="en-SG" sz="1400" dirty="0"/>
          </a:p>
        </p:txBody>
      </p:sp>
    </p:spTree>
    <p:extLst>
      <p:ext uri="{BB962C8B-B14F-4D97-AF65-F5344CB8AC3E}">
        <p14:creationId xmlns:p14="http://schemas.microsoft.com/office/powerpoint/2010/main" val="27228559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D2673-78FE-032D-6382-930E61CF80E4}"/>
            </a:ext>
          </a:extLst>
        </p:cNvPr>
        <p:cNvGrpSpPr/>
        <p:nvPr/>
      </p:nvGrpSpPr>
      <p:grpSpPr>
        <a:xfrm>
          <a:off x="0" y="0"/>
          <a:ext cx="0" cy="0"/>
          <a:chOff x="0" y="0"/>
          <a:chExt cx="0" cy="0"/>
        </a:xfrm>
      </p:grpSpPr>
      <p:sp>
        <p:nvSpPr>
          <p:cNvPr id="49" name="Title 48">
            <a:extLst>
              <a:ext uri="{FF2B5EF4-FFF2-40B4-BE49-F238E27FC236}">
                <a16:creationId xmlns:a16="http://schemas.microsoft.com/office/drawing/2014/main" id="{9878A42E-D6A4-FA57-AB29-345C4AD75651}"/>
              </a:ext>
            </a:extLst>
          </p:cNvPr>
          <p:cNvSpPr>
            <a:spLocks noGrp="1"/>
          </p:cNvSpPr>
          <p:nvPr>
            <p:ph type="title"/>
          </p:nvPr>
        </p:nvSpPr>
        <p:spPr>
          <a:xfrm>
            <a:off x="1991488" y="624110"/>
            <a:ext cx="9668699" cy="1280890"/>
          </a:xfrm>
        </p:spPr>
        <p:txBody>
          <a:bodyPr/>
          <a:lstStyle/>
          <a:p>
            <a:r>
              <a:rPr lang="en-SG" dirty="0"/>
              <a:t>System Architecture – 6 Subsystems</a:t>
            </a:r>
          </a:p>
        </p:txBody>
      </p:sp>
      <p:sp>
        <p:nvSpPr>
          <p:cNvPr id="4" name="Slide Number Placeholder 3">
            <a:extLst>
              <a:ext uri="{FF2B5EF4-FFF2-40B4-BE49-F238E27FC236}">
                <a16:creationId xmlns:a16="http://schemas.microsoft.com/office/drawing/2014/main" id="{78767857-ECB5-7643-0B58-EFC093D55DCE}"/>
              </a:ext>
            </a:extLst>
          </p:cNvPr>
          <p:cNvSpPr>
            <a:spLocks noGrp="1"/>
          </p:cNvSpPr>
          <p:nvPr>
            <p:ph type="sldNum" sz="quarter" idx="12"/>
          </p:nvPr>
        </p:nvSpPr>
        <p:spPr/>
        <p:txBody>
          <a:bodyPr/>
          <a:lstStyle/>
          <a:p>
            <a:fld id="{5A37AB63-62EB-4EDF-B1C9-C7FAE06A9E45}" type="slidenum">
              <a:rPr lang="en-SG" smtClean="0"/>
              <a:t>6</a:t>
            </a:fld>
            <a:endParaRPr lang="en-SG"/>
          </a:p>
        </p:txBody>
      </p:sp>
      <p:graphicFrame>
        <p:nvGraphicFramePr>
          <p:cNvPr id="39" name="Diagram 38">
            <a:extLst>
              <a:ext uri="{FF2B5EF4-FFF2-40B4-BE49-F238E27FC236}">
                <a16:creationId xmlns:a16="http://schemas.microsoft.com/office/drawing/2014/main" id="{85ED5A21-A1B4-AD15-DFF4-1DA99DC99BDB}"/>
              </a:ext>
            </a:extLst>
          </p:cNvPr>
          <p:cNvGraphicFramePr/>
          <p:nvPr>
            <p:extLst>
              <p:ext uri="{D42A27DB-BD31-4B8C-83A1-F6EECF244321}">
                <p14:modId xmlns:p14="http://schemas.microsoft.com/office/powerpoint/2010/main" val="897662371"/>
              </p:ext>
            </p:extLst>
          </p:nvPr>
        </p:nvGraphicFramePr>
        <p:xfrm>
          <a:off x="1001923" y="1279706"/>
          <a:ext cx="10618268" cy="27093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3" name="Straight Connector 42">
            <a:extLst>
              <a:ext uri="{FF2B5EF4-FFF2-40B4-BE49-F238E27FC236}">
                <a16:creationId xmlns:a16="http://schemas.microsoft.com/office/drawing/2014/main" id="{6FDED3D4-1654-E9A5-8FD9-D124725451D9}"/>
              </a:ext>
            </a:extLst>
          </p:cNvPr>
          <p:cNvCxnSpPr>
            <a:cxnSpLocks/>
          </p:cNvCxnSpPr>
          <p:nvPr/>
        </p:nvCxnSpPr>
        <p:spPr>
          <a:xfrm>
            <a:off x="9339794" y="1711570"/>
            <a:ext cx="0" cy="4306824"/>
          </a:xfrm>
          <a:prstGeom prst="line">
            <a:avLst/>
          </a:prstGeom>
        </p:spPr>
        <p:style>
          <a:lnRef idx="3">
            <a:schemeClr val="dk1"/>
          </a:lnRef>
          <a:fillRef idx="0">
            <a:schemeClr val="dk1"/>
          </a:fillRef>
          <a:effectRef idx="2">
            <a:schemeClr val="dk1"/>
          </a:effectRef>
          <a:fontRef idx="minor">
            <a:schemeClr val="tx1"/>
          </a:fontRef>
        </p:style>
      </p:cxnSp>
      <p:sp>
        <p:nvSpPr>
          <p:cNvPr id="44" name="Rectangle 43">
            <a:extLst>
              <a:ext uri="{FF2B5EF4-FFF2-40B4-BE49-F238E27FC236}">
                <a16:creationId xmlns:a16="http://schemas.microsoft.com/office/drawing/2014/main" id="{DA80EC74-FA90-41F0-97C4-8241854DBB84}"/>
              </a:ext>
            </a:extLst>
          </p:cNvPr>
          <p:cNvSpPr/>
          <p:nvPr/>
        </p:nvSpPr>
        <p:spPr>
          <a:xfrm>
            <a:off x="576619" y="3901558"/>
            <a:ext cx="1807923" cy="1417320"/>
          </a:xfrm>
          <a:prstGeom prst="rect">
            <a:avLst/>
          </a:prstGeom>
          <a:solidFill>
            <a:srgbClr val="D0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a:extLst>
              <a:ext uri="{FF2B5EF4-FFF2-40B4-BE49-F238E27FC236}">
                <a16:creationId xmlns:a16="http://schemas.microsoft.com/office/drawing/2014/main" id="{D68317BE-F090-8B09-72B4-BABCFA3F3159}"/>
              </a:ext>
            </a:extLst>
          </p:cNvPr>
          <p:cNvSpPr/>
          <p:nvPr/>
        </p:nvSpPr>
        <p:spPr>
          <a:xfrm>
            <a:off x="540044" y="3864982"/>
            <a:ext cx="1807923" cy="14173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a:extLst>
              <a:ext uri="{FF2B5EF4-FFF2-40B4-BE49-F238E27FC236}">
                <a16:creationId xmlns:a16="http://schemas.microsoft.com/office/drawing/2014/main" id="{087F5690-A9CA-7E02-7BEA-7A633D4BFCEF}"/>
              </a:ext>
            </a:extLst>
          </p:cNvPr>
          <p:cNvSpPr/>
          <p:nvPr/>
        </p:nvSpPr>
        <p:spPr>
          <a:xfrm>
            <a:off x="540044" y="3864982"/>
            <a:ext cx="70614" cy="1417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a:extLst>
              <a:ext uri="{FF2B5EF4-FFF2-40B4-BE49-F238E27FC236}">
                <a16:creationId xmlns:a16="http://schemas.microsoft.com/office/drawing/2014/main" id="{4A5F0EE0-85E7-D647-8D95-2E275CA2F946}"/>
              </a:ext>
            </a:extLst>
          </p:cNvPr>
          <p:cNvSpPr txBox="1"/>
          <p:nvPr/>
        </p:nvSpPr>
        <p:spPr>
          <a:xfrm>
            <a:off x="741211" y="3956422"/>
            <a:ext cx="1649729" cy="365760"/>
          </a:xfrm>
          <a:prstGeom prst="rect">
            <a:avLst/>
          </a:prstGeom>
          <a:noFill/>
        </p:spPr>
        <p:txBody>
          <a:bodyPr wrap="square"/>
          <a:lstStyle/>
          <a:p>
            <a:pPr algn="l"/>
            <a:r>
              <a:rPr sz="1400" b="1" i="0">
                <a:solidFill>
                  <a:srgbClr val="1A2E4A"/>
                </a:solidFill>
                <a:latin typeface="Calibri"/>
              </a:rPr>
              <a:t>Data Layer</a:t>
            </a:r>
          </a:p>
        </p:txBody>
      </p:sp>
      <p:sp>
        <p:nvSpPr>
          <p:cNvPr id="48" name="TextBox 47">
            <a:extLst>
              <a:ext uri="{FF2B5EF4-FFF2-40B4-BE49-F238E27FC236}">
                <a16:creationId xmlns:a16="http://schemas.microsoft.com/office/drawing/2014/main" id="{29B2545D-25FD-0E96-9B60-556814CD04CF}"/>
              </a:ext>
            </a:extLst>
          </p:cNvPr>
          <p:cNvSpPr txBox="1"/>
          <p:nvPr/>
        </p:nvSpPr>
        <p:spPr>
          <a:xfrm>
            <a:off x="741211" y="4386189"/>
            <a:ext cx="1649729" cy="822960"/>
          </a:xfrm>
          <a:prstGeom prst="rect">
            <a:avLst/>
          </a:prstGeom>
          <a:noFill/>
        </p:spPr>
        <p:txBody>
          <a:bodyPr wrap="square"/>
          <a:lstStyle/>
          <a:p>
            <a:pPr algn="l"/>
            <a:r>
              <a:rPr sz="1100" b="0" i="0">
                <a:solidFill>
                  <a:srgbClr val="475569"/>
                </a:solidFill>
                <a:latin typeface="Calibri"/>
              </a:rPr>
              <a:t>Raw Excel → Pandas DataFrame → Daily aggregates</a:t>
            </a:r>
          </a:p>
        </p:txBody>
      </p:sp>
      <p:sp>
        <p:nvSpPr>
          <p:cNvPr id="50" name="Rectangle 49">
            <a:extLst>
              <a:ext uri="{FF2B5EF4-FFF2-40B4-BE49-F238E27FC236}">
                <a16:creationId xmlns:a16="http://schemas.microsoft.com/office/drawing/2014/main" id="{DAD516C4-17AA-EC6B-61B2-4DC2C3D8FCF7}"/>
              </a:ext>
            </a:extLst>
          </p:cNvPr>
          <p:cNvSpPr/>
          <p:nvPr/>
        </p:nvSpPr>
        <p:spPr>
          <a:xfrm>
            <a:off x="3647675" y="3918141"/>
            <a:ext cx="4707567" cy="1417320"/>
          </a:xfrm>
          <a:prstGeom prst="rect">
            <a:avLst/>
          </a:prstGeom>
          <a:solidFill>
            <a:srgbClr val="D0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a:extLst>
              <a:ext uri="{FF2B5EF4-FFF2-40B4-BE49-F238E27FC236}">
                <a16:creationId xmlns:a16="http://schemas.microsoft.com/office/drawing/2014/main" id="{67271BA7-AC03-00EF-759D-883DC4B80076}"/>
              </a:ext>
            </a:extLst>
          </p:cNvPr>
          <p:cNvSpPr/>
          <p:nvPr/>
        </p:nvSpPr>
        <p:spPr>
          <a:xfrm>
            <a:off x="3611099" y="3881565"/>
            <a:ext cx="4707567" cy="141732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a:extLst>
              <a:ext uri="{FF2B5EF4-FFF2-40B4-BE49-F238E27FC236}">
                <a16:creationId xmlns:a16="http://schemas.microsoft.com/office/drawing/2014/main" id="{B52EF4F6-F273-DB4A-E431-A52D3C12B059}"/>
              </a:ext>
            </a:extLst>
          </p:cNvPr>
          <p:cNvSpPr/>
          <p:nvPr/>
        </p:nvSpPr>
        <p:spPr>
          <a:xfrm>
            <a:off x="3611100" y="3881565"/>
            <a:ext cx="70614" cy="1417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a:extLst>
              <a:ext uri="{FF2B5EF4-FFF2-40B4-BE49-F238E27FC236}">
                <a16:creationId xmlns:a16="http://schemas.microsoft.com/office/drawing/2014/main" id="{8F0FC076-85C6-84B3-BFBC-8A3A00982931}"/>
              </a:ext>
            </a:extLst>
          </p:cNvPr>
          <p:cNvSpPr txBox="1"/>
          <p:nvPr/>
        </p:nvSpPr>
        <p:spPr>
          <a:xfrm>
            <a:off x="3812267" y="3973005"/>
            <a:ext cx="4295655" cy="365760"/>
          </a:xfrm>
          <a:prstGeom prst="rect">
            <a:avLst/>
          </a:prstGeom>
          <a:noFill/>
        </p:spPr>
        <p:txBody>
          <a:bodyPr wrap="square"/>
          <a:lstStyle/>
          <a:p>
            <a:pPr algn="l"/>
            <a:r>
              <a:rPr sz="1400" b="1" i="0">
                <a:solidFill>
                  <a:srgbClr val="1A2E4A"/>
                </a:solidFill>
                <a:latin typeface="Calibri"/>
              </a:rPr>
              <a:t>ML Layer</a:t>
            </a:r>
          </a:p>
        </p:txBody>
      </p:sp>
      <p:sp>
        <p:nvSpPr>
          <p:cNvPr id="54" name="TextBox 53">
            <a:extLst>
              <a:ext uri="{FF2B5EF4-FFF2-40B4-BE49-F238E27FC236}">
                <a16:creationId xmlns:a16="http://schemas.microsoft.com/office/drawing/2014/main" id="{018ED660-06D4-F7F7-8C66-E08B54BEE58A}"/>
              </a:ext>
            </a:extLst>
          </p:cNvPr>
          <p:cNvSpPr txBox="1"/>
          <p:nvPr/>
        </p:nvSpPr>
        <p:spPr>
          <a:xfrm>
            <a:off x="3812267" y="4402772"/>
            <a:ext cx="4295655" cy="822960"/>
          </a:xfrm>
          <a:prstGeom prst="rect">
            <a:avLst/>
          </a:prstGeom>
          <a:noFill/>
        </p:spPr>
        <p:txBody>
          <a:bodyPr wrap="square"/>
          <a:lstStyle/>
          <a:p>
            <a:pPr algn="l"/>
            <a:r>
              <a:rPr lang="en-SG" sz="1100" b="0" i="0" dirty="0">
                <a:solidFill>
                  <a:srgbClr val="475569"/>
                </a:solidFill>
                <a:latin typeface="Calibri"/>
              </a:rPr>
              <a:t>Sub 2: Random Forest for demand forecasting (13 features)</a:t>
            </a:r>
          </a:p>
          <a:p>
            <a:pPr algn="l"/>
            <a:r>
              <a:rPr lang="en-SG" sz="1100" b="0" i="0" dirty="0">
                <a:solidFill>
                  <a:srgbClr val="475569"/>
                </a:solidFill>
                <a:latin typeface="Calibri"/>
              </a:rPr>
              <a:t>Sub 3: Isolation Forest for anomaly detection (vs IQR baseline)</a:t>
            </a:r>
          </a:p>
          <a:p>
            <a:pPr algn="l"/>
            <a:r>
              <a:rPr lang="en-SG" sz="1100" b="0" i="0" dirty="0">
                <a:solidFill>
                  <a:srgbClr val="475569"/>
                </a:solidFill>
                <a:latin typeface="Calibri"/>
              </a:rPr>
              <a:t>Sub 4: K-Means on RFM scores for customer segmentation (k=4)</a:t>
            </a:r>
            <a:endParaRPr lang="en-US" sz="1100" b="0" i="0" dirty="0">
              <a:solidFill>
                <a:srgbClr val="475569"/>
              </a:solidFill>
              <a:latin typeface="Calibri"/>
            </a:endParaRPr>
          </a:p>
          <a:p>
            <a:pPr algn="l"/>
            <a:r>
              <a:rPr lang="en-US" sz="1100" b="0" i="0" dirty="0">
                <a:solidFill>
                  <a:srgbClr val="475569"/>
                </a:solidFill>
                <a:latin typeface="Calibri"/>
              </a:rPr>
              <a:t>Sub 5: Fuzzy Logic for reorder prioritization (EOQ/ROP/SS)</a:t>
            </a:r>
          </a:p>
        </p:txBody>
      </p:sp>
      <p:sp>
        <p:nvSpPr>
          <p:cNvPr id="55" name="Rectangle 54">
            <a:extLst>
              <a:ext uri="{FF2B5EF4-FFF2-40B4-BE49-F238E27FC236}">
                <a16:creationId xmlns:a16="http://schemas.microsoft.com/office/drawing/2014/main" id="{6ED92550-1E08-5AA2-724C-2DB4C26890D1}"/>
              </a:ext>
            </a:extLst>
          </p:cNvPr>
          <p:cNvSpPr/>
          <p:nvPr/>
        </p:nvSpPr>
        <p:spPr>
          <a:xfrm>
            <a:off x="9630951" y="3888843"/>
            <a:ext cx="1984430" cy="1797397"/>
          </a:xfrm>
          <a:prstGeom prst="rect">
            <a:avLst/>
          </a:prstGeom>
          <a:solidFill>
            <a:srgbClr val="D0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a:extLst>
              <a:ext uri="{FF2B5EF4-FFF2-40B4-BE49-F238E27FC236}">
                <a16:creationId xmlns:a16="http://schemas.microsoft.com/office/drawing/2014/main" id="{EA96F743-C77F-9122-3866-808336FD5D53}"/>
              </a:ext>
            </a:extLst>
          </p:cNvPr>
          <p:cNvSpPr/>
          <p:nvPr/>
        </p:nvSpPr>
        <p:spPr>
          <a:xfrm>
            <a:off x="9594376" y="3852267"/>
            <a:ext cx="1984430" cy="1797397"/>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a:extLst>
              <a:ext uri="{FF2B5EF4-FFF2-40B4-BE49-F238E27FC236}">
                <a16:creationId xmlns:a16="http://schemas.microsoft.com/office/drawing/2014/main" id="{BD8E15B5-68B6-9C0A-477F-59DC90558360}"/>
              </a:ext>
            </a:extLst>
          </p:cNvPr>
          <p:cNvSpPr/>
          <p:nvPr/>
        </p:nvSpPr>
        <p:spPr>
          <a:xfrm>
            <a:off x="9594376" y="3852267"/>
            <a:ext cx="51767" cy="1797397"/>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a:extLst>
              <a:ext uri="{FF2B5EF4-FFF2-40B4-BE49-F238E27FC236}">
                <a16:creationId xmlns:a16="http://schemas.microsoft.com/office/drawing/2014/main" id="{34A995DE-67E0-A931-5ECA-A69BD2F7DF39}"/>
              </a:ext>
            </a:extLst>
          </p:cNvPr>
          <p:cNvSpPr txBox="1"/>
          <p:nvPr/>
        </p:nvSpPr>
        <p:spPr>
          <a:xfrm>
            <a:off x="9795543" y="3943708"/>
            <a:ext cx="1810793" cy="463844"/>
          </a:xfrm>
          <a:prstGeom prst="rect">
            <a:avLst/>
          </a:prstGeom>
          <a:noFill/>
        </p:spPr>
        <p:txBody>
          <a:bodyPr wrap="square"/>
          <a:lstStyle/>
          <a:p>
            <a:pPr algn="l"/>
            <a:r>
              <a:rPr sz="1400" b="1" i="0">
                <a:solidFill>
                  <a:srgbClr val="1A2E4A"/>
                </a:solidFill>
                <a:latin typeface="Calibri"/>
              </a:rPr>
              <a:t>Interface Layer</a:t>
            </a:r>
          </a:p>
        </p:txBody>
      </p:sp>
      <p:sp>
        <p:nvSpPr>
          <p:cNvPr id="59" name="TextBox 58">
            <a:extLst>
              <a:ext uri="{FF2B5EF4-FFF2-40B4-BE49-F238E27FC236}">
                <a16:creationId xmlns:a16="http://schemas.microsoft.com/office/drawing/2014/main" id="{CE23CC3A-3EF8-C184-6C4F-3D5D851F5E01}"/>
              </a:ext>
            </a:extLst>
          </p:cNvPr>
          <p:cNvSpPr txBox="1"/>
          <p:nvPr/>
        </p:nvSpPr>
        <p:spPr>
          <a:xfrm>
            <a:off x="9795543" y="4373475"/>
            <a:ext cx="1810793" cy="1043650"/>
          </a:xfrm>
          <a:prstGeom prst="rect">
            <a:avLst/>
          </a:prstGeom>
          <a:noFill/>
        </p:spPr>
        <p:txBody>
          <a:bodyPr wrap="square"/>
          <a:lstStyle/>
          <a:p>
            <a:pPr marL="171450" indent="-171450" algn="l">
              <a:buFont typeface="Arial" panose="020B0604020202020204" pitchFamily="34" charset="0"/>
              <a:buChar char="•"/>
            </a:pPr>
            <a:r>
              <a:rPr lang="en-US" sz="1100" b="0" i="0" dirty="0">
                <a:solidFill>
                  <a:srgbClr val="475569"/>
                </a:solidFill>
                <a:latin typeface="Calibri"/>
              </a:rPr>
              <a:t>Analytics</a:t>
            </a:r>
          </a:p>
          <a:p>
            <a:pPr marL="171450" indent="-171450" algn="l">
              <a:buFont typeface="Arial" panose="020B0604020202020204" pitchFamily="34" charset="0"/>
              <a:buChar char="•"/>
            </a:pPr>
            <a:r>
              <a:rPr lang="en-US" sz="1100" b="0" i="0" dirty="0">
                <a:solidFill>
                  <a:srgbClr val="475569"/>
                </a:solidFill>
                <a:latin typeface="Calibri"/>
              </a:rPr>
              <a:t>Forecast Explorer </a:t>
            </a:r>
          </a:p>
          <a:p>
            <a:pPr marL="171450" indent="-171450" algn="l">
              <a:buFont typeface="Arial" panose="020B0604020202020204" pitchFamily="34" charset="0"/>
              <a:buChar char="•"/>
            </a:pPr>
            <a:r>
              <a:rPr lang="en-US" sz="1100" b="0" i="0" dirty="0">
                <a:solidFill>
                  <a:srgbClr val="475569"/>
                </a:solidFill>
                <a:latin typeface="Calibri"/>
              </a:rPr>
              <a:t>Alert Filter  </a:t>
            </a:r>
          </a:p>
          <a:p>
            <a:pPr marL="171450" indent="-171450" algn="l">
              <a:buFont typeface="Arial" panose="020B0604020202020204" pitchFamily="34" charset="0"/>
              <a:buChar char="•"/>
            </a:pPr>
            <a:r>
              <a:rPr lang="en-US" sz="1100" b="0" i="0" dirty="0">
                <a:solidFill>
                  <a:srgbClr val="475569"/>
                </a:solidFill>
                <a:latin typeface="Calibri"/>
              </a:rPr>
              <a:t>Segment Explorer</a:t>
            </a:r>
          </a:p>
          <a:p>
            <a:pPr marL="171450" indent="-171450" algn="l">
              <a:buFont typeface="Arial" panose="020B0604020202020204" pitchFamily="34" charset="0"/>
              <a:buChar char="•"/>
            </a:pPr>
            <a:r>
              <a:rPr lang="en-US" sz="1100" b="0" i="0" dirty="0">
                <a:solidFill>
                  <a:srgbClr val="475569"/>
                </a:solidFill>
                <a:latin typeface="Calibri"/>
              </a:rPr>
              <a:t>Anomaly Detection</a:t>
            </a:r>
          </a:p>
          <a:p>
            <a:pPr marL="171450" indent="-171450" algn="l">
              <a:buFont typeface="Arial" panose="020B0604020202020204" pitchFamily="34" charset="0"/>
              <a:buChar char="•"/>
            </a:pPr>
            <a:r>
              <a:rPr lang="en-US" sz="1100" b="0" i="0" dirty="0">
                <a:solidFill>
                  <a:srgbClr val="475569"/>
                </a:solidFill>
                <a:latin typeface="Calibri"/>
              </a:rPr>
              <a:t>System Info</a:t>
            </a:r>
          </a:p>
        </p:txBody>
      </p:sp>
      <p:sp>
        <p:nvSpPr>
          <p:cNvPr id="65" name="TextBox 64">
            <a:extLst>
              <a:ext uri="{FF2B5EF4-FFF2-40B4-BE49-F238E27FC236}">
                <a16:creationId xmlns:a16="http://schemas.microsoft.com/office/drawing/2014/main" id="{F627D698-6BAD-75DD-92EE-59564AEF314D}"/>
              </a:ext>
            </a:extLst>
          </p:cNvPr>
          <p:cNvSpPr txBox="1"/>
          <p:nvPr/>
        </p:nvSpPr>
        <p:spPr>
          <a:xfrm>
            <a:off x="1991488" y="6204984"/>
            <a:ext cx="9588222" cy="369332"/>
          </a:xfrm>
          <a:prstGeom prst="rect">
            <a:avLst/>
          </a:prstGeom>
          <a:noFill/>
        </p:spPr>
        <p:txBody>
          <a:bodyPr wrap="square">
            <a:spAutoFit/>
          </a:bodyPr>
          <a:lstStyle/>
          <a:p>
            <a:pPr marL="0" indent="0">
              <a:buNone/>
            </a:pPr>
            <a:r>
              <a:rPr lang="en-US" sz="1800" i="1" dirty="0">
                <a:solidFill>
                  <a:srgbClr val="64748B"/>
                </a:solidFill>
              </a:rPr>
              <a:t>All subsystems feed into Sub 6 </a:t>
            </a:r>
            <a:r>
              <a:rPr lang="en-US" i="1" dirty="0">
                <a:solidFill>
                  <a:srgbClr val="64748B"/>
                </a:solidFill>
              </a:rPr>
              <a:t>– t</a:t>
            </a:r>
            <a:r>
              <a:rPr lang="en-US" sz="1800" i="1" dirty="0">
                <a:solidFill>
                  <a:srgbClr val="64748B"/>
                </a:solidFill>
              </a:rPr>
              <a:t>he single interface stakeholders interact with.</a:t>
            </a:r>
            <a:endParaRPr lang="en-US" sz="1800" dirty="0"/>
          </a:p>
        </p:txBody>
      </p:sp>
      <p:cxnSp>
        <p:nvCxnSpPr>
          <p:cNvPr id="41" name="Straight Connector 40">
            <a:extLst>
              <a:ext uri="{FF2B5EF4-FFF2-40B4-BE49-F238E27FC236}">
                <a16:creationId xmlns:a16="http://schemas.microsoft.com/office/drawing/2014/main" id="{1610E446-AF17-0EFF-51AA-25A11C33050A}"/>
              </a:ext>
            </a:extLst>
          </p:cNvPr>
          <p:cNvCxnSpPr>
            <a:cxnSpLocks/>
          </p:cNvCxnSpPr>
          <p:nvPr/>
        </p:nvCxnSpPr>
        <p:spPr>
          <a:xfrm>
            <a:off x="2640059" y="1711570"/>
            <a:ext cx="0" cy="4306824"/>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4043868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Shape 4">
            <a:extLst>
              <a:ext uri="{FF2B5EF4-FFF2-40B4-BE49-F238E27FC236}">
                <a16:creationId xmlns:a16="http://schemas.microsoft.com/office/drawing/2014/main" id="{5E055BBF-21ED-25E6-CCE3-86825403C251}"/>
              </a:ext>
            </a:extLst>
          </p:cNvPr>
          <p:cNvSpPr/>
          <p:nvPr/>
        </p:nvSpPr>
        <p:spPr>
          <a:xfrm>
            <a:off x="423419" y="1518030"/>
            <a:ext cx="6729975" cy="5099586"/>
          </a:xfrm>
          <a:prstGeom prst="rect">
            <a:avLst/>
          </a:prstGeom>
          <a:solidFill>
            <a:srgbClr val="162032"/>
          </a:solidFill>
          <a:ln w="12700">
            <a:solidFill>
              <a:srgbClr val="1E3A5F"/>
            </a:solidFill>
            <a:prstDash val="solid"/>
          </a:ln>
          <a:effectLst>
            <a:outerShdw blurRad="101600" dist="25400" dir="8100000" algn="bl" rotWithShape="0">
              <a:srgbClr val="000000">
                <a:alpha val="18000"/>
              </a:srgbClr>
            </a:outerShdw>
          </a:effectLst>
        </p:spPr>
        <p:txBody>
          <a:bodyPr/>
          <a:lstStyle/>
          <a:p>
            <a:endParaRPr lang="en-SG" sz="1200"/>
          </a:p>
        </p:txBody>
      </p:sp>
      <p:sp>
        <p:nvSpPr>
          <p:cNvPr id="2" name="Title 1">
            <a:extLst>
              <a:ext uri="{FF2B5EF4-FFF2-40B4-BE49-F238E27FC236}">
                <a16:creationId xmlns:a16="http://schemas.microsoft.com/office/drawing/2014/main" id="{24FF2978-AB3D-A4F9-1F50-2AF658E0E4C3}"/>
              </a:ext>
            </a:extLst>
          </p:cNvPr>
          <p:cNvSpPr>
            <a:spLocks noGrp="1"/>
          </p:cNvSpPr>
          <p:nvPr>
            <p:ph type="title"/>
          </p:nvPr>
        </p:nvSpPr>
        <p:spPr/>
        <p:txBody>
          <a:bodyPr/>
          <a:lstStyle/>
          <a:p>
            <a:r>
              <a:rPr lang="en-SG" dirty="0"/>
              <a:t>NASA PLC &amp; Agile SDLC</a:t>
            </a:r>
            <a:br>
              <a:rPr lang="en-SG" dirty="0"/>
            </a:br>
            <a:endParaRPr lang="en-SG" dirty="0"/>
          </a:p>
        </p:txBody>
      </p:sp>
      <p:sp>
        <p:nvSpPr>
          <p:cNvPr id="4" name="Slide Number Placeholder 3">
            <a:extLst>
              <a:ext uri="{FF2B5EF4-FFF2-40B4-BE49-F238E27FC236}">
                <a16:creationId xmlns:a16="http://schemas.microsoft.com/office/drawing/2014/main" id="{B60CAC3E-DDAC-69C5-D9C4-CF92612B22EA}"/>
              </a:ext>
            </a:extLst>
          </p:cNvPr>
          <p:cNvSpPr>
            <a:spLocks noGrp="1"/>
          </p:cNvSpPr>
          <p:nvPr>
            <p:ph type="sldNum" sz="quarter" idx="12"/>
          </p:nvPr>
        </p:nvSpPr>
        <p:spPr/>
        <p:txBody>
          <a:bodyPr/>
          <a:lstStyle/>
          <a:p>
            <a:fld id="{5A37AB63-62EB-4EDF-B1C9-C7FAE06A9E45}" type="slidenum">
              <a:rPr lang="en-SG" smtClean="0"/>
              <a:t>7</a:t>
            </a:fld>
            <a:endParaRPr lang="en-SG"/>
          </a:p>
        </p:txBody>
      </p:sp>
      <p:sp>
        <p:nvSpPr>
          <p:cNvPr id="6" name="Shape 5">
            <a:extLst>
              <a:ext uri="{FF2B5EF4-FFF2-40B4-BE49-F238E27FC236}">
                <a16:creationId xmlns:a16="http://schemas.microsoft.com/office/drawing/2014/main" id="{CE265D13-EC43-2E0C-4A9F-0C08562ACE6F}"/>
              </a:ext>
            </a:extLst>
          </p:cNvPr>
          <p:cNvSpPr/>
          <p:nvPr/>
        </p:nvSpPr>
        <p:spPr>
          <a:xfrm>
            <a:off x="423419" y="1518030"/>
            <a:ext cx="6729975" cy="45719"/>
          </a:xfrm>
          <a:prstGeom prst="rect">
            <a:avLst/>
          </a:prstGeom>
          <a:solidFill>
            <a:srgbClr val="0077B6"/>
          </a:solidFill>
          <a:ln w="12700">
            <a:solidFill>
              <a:srgbClr val="0077B6"/>
            </a:solidFill>
            <a:prstDash val="solid"/>
          </a:ln>
        </p:spPr>
        <p:txBody>
          <a:bodyPr/>
          <a:lstStyle/>
          <a:p>
            <a:endParaRPr lang="en-SG" sz="1200"/>
          </a:p>
        </p:txBody>
      </p:sp>
      <p:sp>
        <p:nvSpPr>
          <p:cNvPr id="7" name="Text 6">
            <a:extLst>
              <a:ext uri="{FF2B5EF4-FFF2-40B4-BE49-F238E27FC236}">
                <a16:creationId xmlns:a16="http://schemas.microsoft.com/office/drawing/2014/main" id="{FD060351-37E5-6CDA-9E97-4D0C903A804B}"/>
              </a:ext>
            </a:extLst>
          </p:cNvPr>
          <p:cNvSpPr/>
          <p:nvPr/>
        </p:nvSpPr>
        <p:spPr>
          <a:xfrm>
            <a:off x="588011" y="1627757"/>
            <a:ext cx="6565383" cy="38832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solidFill>
                  <a:srgbClr val="90E0EF"/>
                </a:solidFill>
              </a:rPr>
              <a:t>NASA Systems Engineering Product Life Cycle</a:t>
            </a:r>
            <a:endParaRPr lang="en-US" sz="1200" dirty="0"/>
          </a:p>
        </p:txBody>
      </p:sp>
      <p:sp>
        <p:nvSpPr>
          <p:cNvPr id="8" name="Shape 7">
            <a:extLst>
              <a:ext uri="{FF2B5EF4-FFF2-40B4-BE49-F238E27FC236}">
                <a16:creationId xmlns:a16="http://schemas.microsoft.com/office/drawing/2014/main" id="{676FF0A4-67A1-FDB6-6F6D-BD1302B2073F}"/>
              </a:ext>
            </a:extLst>
          </p:cNvPr>
          <p:cNvSpPr/>
          <p:nvPr/>
        </p:nvSpPr>
        <p:spPr>
          <a:xfrm>
            <a:off x="661357" y="2248440"/>
            <a:ext cx="1416063" cy="443800"/>
          </a:xfrm>
          <a:prstGeom prst="rect">
            <a:avLst/>
          </a:prstGeom>
          <a:solidFill>
            <a:srgbClr val="64748B"/>
          </a:solidFill>
          <a:ln w="12700">
            <a:solidFill>
              <a:srgbClr val="64748B"/>
            </a:solidFill>
            <a:prstDash val="solid"/>
          </a:ln>
        </p:spPr>
        <p:txBody>
          <a:bodyPr/>
          <a:lstStyle/>
          <a:p>
            <a:endParaRPr lang="en-SG" sz="1200"/>
          </a:p>
        </p:txBody>
      </p:sp>
      <p:sp>
        <p:nvSpPr>
          <p:cNvPr id="9" name="Text 8">
            <a:extLst>
              <a:ext uri="{FF2B5EF4-FFF2-40B4-BE49-F238E27FC236}">
                <a16:creationId xmlns:a16="http://schemas.microsoft.com/office/drawing/2014/main" id="{284DB197-32CB-D79B-1352-11DEB3B32974}"/>
              </a:ext>
            </a:extLst>
          </p:cNvPr>
          <p:cNvSpPr/>
          <p:nvPr/>
        </p:nvSpPr>
        <p:spPr>
          <a:xfrm>
            <a:off x="661357" y="2248440"/>
            <a:ext cx="1416063" cy="4438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rPr>
              <a:t>Pre-Phase A</a:t>
            </a:r>
            <a:endParaRPr lang="en-US" sz="1200" dirty="0"/>
          </a:p>
        </p:txBody>
      </p:sp>
      <p:sp>
        <p:nvSpPr>
          <p:cNvPr id="10" name="Text 9">
            <a:extLst>
              <a:ext uri="{FF2B5EF4-FFF2-40B4-BE49-F238E27FC236}">
                <a16:creationId xmlns:a16="http://schemas.microsoft.com/office/drawing/2014/main" id="{A0375384-CFFC-5128-376E-72324095057E}"/>
              </a:ext>
            </a:extLst>
          </p:cNvPr>
          <p:cNvSpPr/>
          <p:nvPr/>
        </p:nvSpPr>
        <p:spPr>
          <a:xfrm>
            <a:off x="2532470" y="2234129"/>
            <a:ext cx="4349655" cy="47096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CBD5E1"/>
                </a:solidFill>
              </a:rPr>
              <a:t>Feasibility study, identified warehouse pain points</a:t>
            </a:r>
            <a:endParaRPr lang="en-US" sz="1200" dirty="0"/>
          </a:p>
        </p:txBody>
      </p:sp>
      <p:sp>
        <p:nvSpPr>
          <p:cNvPr id="11" name="Shape 10">
            <a:extLst>
              <a:ext uri="{FF2B5EF4-FFF2-40B4-BE49-F238E27FC236}">
                <a16:creationId xmlns:a16="http://schemas.microsoft.com/office/drawing/2014/main" id="{C6C27052-B896-87CB-02F6-24C013E9F760}"/>
              </a:ext>
            </a:extLst>
          </p:cNvPr>
          <p:cNvSpPr/>
          <p:nvPr/>
        </p:nvSpPr>
        <p:spPr>
          <a:xfrm>
            <a:off x="661357" y="2822448"/>
            <a:ext cx="1416063" cy="443800"/>
          </a:xfrm>
          <a:prstGeom prst="rect">
            <a:avLst/>
          </a:prstGeom>
          <a:solidFill>
            <a:srgbClr val="0077B6"/>
          </a:solidFill>
          <a:ln w="12700">
            <a:solidFill>
              <a:srgbClr val="0077B6"/>
            </a:solidFill>
            <a:prstDash val="solid"/>
          </a:ln>
        </p:spPr>
        <p:txBody>
          <a:bodyPr/>
          <a:lstStyle/>
          <a:p>
            <a:endParaRPr lang="en-SG" sz="1200"/>
          </a:p>
        </p:txBody>
      </p:sp>
      <p:sp>
        <p:nvSpPr>
          <p:cNvPr id="12" name="Text 11">
            <a:extLst>
              <a:ext uri="{FF2B5EF4-FFF2-40B4-BE49-F238E27FC236}">
                <a16:creationId xmlns:a16="http://schemas.microsoft.com/office/drawing/2014/main" id="{33B8B1F1-0BAE-83F3-00F3-4823559165C5}"/>
              </a:ext>
            </a:extLst>
          </p:cNvPr>
          <p:cNvSpPr/>
          <p:nvPr/>
        </p:nvSpPr>
        <p:spPr>
          <a:xfrm>
            <a:off x="661357" y="2822448"/>
            <a:ext cx="1416063" cy="4438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rPr>
              <a:t>Phase A</a:t>
            </a:r>
            <a:endParaRPr lang="en-US" sz="1200" dirty="0"/>
          </a:p>
        </p:txBody>
      </p:sp>
      <p:sp>
        <p:nvSpPr>
          <p:cNvPr id="13" name="Text 12">
            <a:extLst>
              <a:ext uri="{FF2B5EF4-FFF2-40B4-BE49-F238E27FC236}">
                <a16:creationId xmlns:a16="http://schemas.microsoft.com/office/drawing/2014/main" id="{1F1C8A89-1A6C-9EBB-C72B-636F6118FF10}"/>
              </a:ext>
            </a:extLst>
          </p:cNvPr>
          <p:cNvSpPr/>
          <p:nvPr/>
        </p:nvSpPr>
        <p:spPr>
          <a:xfrm>
            <a:off x="2532470" y="2807209"/>
            <a:ext cx="4349655" cy="47096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CBD5E1"/>
                </a:solidFill>
              </a:rPr>
              <a:t>Selected Python, RF, IF, K-Means; risk assessment</a:t>
            </a:r>
            <a:endParaRPr lang="en-US" sz="1200" dirty="0"/>
          </a:p>
        </p:txBody>
      </p:sp>
      <p:sp>
        <p:nvSpPr>
          <p:cNvPr id="14" name="Shape 13">
            <a:extLst>
              <a:ext uri="{FF2B5EF4-FFF2-40B4-BE49-F238E27FC236}">
                <a16:creationId xmlns:a16="http://schemas.microsoft.com/office/drawing/2014/main" id="{645A20A0-EB87-73CD-BEBE-D5A6B1337789}"/>
              </a:ext>
            </a:extLst>
          </p:cNvPr>
          <p:cNvSpPr/>
          <p:nvPr/>
        </p:nvSpPr>
        <p:spPr>
          <a:xfrm>
            <a:off x="661357" y="3394099"/>
            <a:ext cx="1416063" cy="443800"/>
          </a:xfrm>
          <a:prstGeom prst="rect">
            <a:avLst/>
          </a:prstGeom>
          <a:solidFill>
            <a:srgbClr val="0077B6"/>
          </a:solidFill>
          <a:ln w="12700">
            <a:solidFill>
              <a:srgbClr val="0077B6"/>
            </a:solidFill>
            <a:prstDash val="solid"/>
          </a:ln>
        </p:spPr>
        <p:txBody>
          <a:bodyPr/>
          <a:lstStyle/>
          <a:p>
            <a:endParaRPr lang="en-SG" sz="1200"/>
          </a:p>
        </p:txBody>
      </p:sp>
      <p:sp>
        <p:nvSpPr>
          <p:cNvPr id="15" name="Text 14">
            <a:extLst>
              <a:ext uri="{FF2B5EF4-FFF2-40B4-BE49-F238E27FC236}">
                <a16:creationId xmlns:a16="http://schemas.microsoft.com/office/drawing/2014/main" id="{DFB88A84-75F6-DDF0-0F2F-73B21C6536C1}"/>
              </a:ext>
            </a:extLst>
          </p:cNvPr>
          <p:cNvSpPr/>
          <p:nvPr/>
        </p:nvSpPr>
        <p:spPr>
          <a:xfrm>
            <a:off x="661357" y="3394099"/>
            <a:ext cx="1416063" cy="4438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rPr>
              <a:t>Phase B</a:t>
            </a:r>
            <a:endParaRPr lang="en-US" sz="1200" dirty="0"/>
          </a:p>
        </p:txBody>
      </p:sp>
      <p:sp>
        <p:nvSpPr>
          <p:cNvPr id="16" name="Text 15">
            <a:extLst>
              <a:ext uri="{FF2B5EF4-FFF2-40B4-BE49-F238E27FC236}">
                <a16:creationId xmlns:a16="http://schemas.microsoft.com/office/drawing/2014/main" id="{090CEC2E-67BD-3062-888D-276E7AB9C8C1}"/>
              </a:ext>
            </a:extLst>
          </p:cNvPr>
          <p:cNvSpPr/>
          <p:nvPr/>
        </p:nvSpPr>
        <p:spPr>
          <a:xfrm>
            <a:off x="2532470" y="3379032"/>
            <a:ext cx="4349655" cy="47096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CBD5E1"/>
                </a:solidFill>
              </a:rPr>
              <a:t>System architecture, data flow, subsystem interfaces</a:t>
            </a:r>
            <a:endParaRPr lang="en-US" sz="1200" dirty="0"/>
          </a:p>
        </p:txBody>
      </p:sp>
      <p:sp>
        <p:nvSpPr>
          <p:cNvPr id="17" name="Shape 16">
            <a:extLst>
              <a:ext uri="{FF2B5EF4-FFF2-40B4-BE49-F238E27FC236}">
                <a16:creationId xmlns:a16="http://schemas.microsoft.com/office/drawing/2014/main" id="{3385E54D-7C4E-A9D8-BE30-794F61517C80}"/>
              </a:ext>
            </a:extLst>
          </p:cNvPr>
          <p:cNvSpPr/>
          <p:nvPr/>
        </p:nvSpPr>
        <p:spPr>
          <a:xfrm>
            <a:off x="661357" y="3993216"/>
            <a:ext cx="1416063" cy="443800"/>
          </a:xfrm>
          <a:prstGeom prst="rect">
            <a:avLst/>
          </a:prstGeom>
          <a:solidFill>
            <a:srgbClr val="00B4D8"/>
          </a:solidFill>
          <a:ln w="12700">
            <a:solidFill>
              <a:srgbClr val="00B4D8"/>
            </a:solidFill>
            <a:prstDash val="solid"/>
          </a:ln>
        </p:spPr>
        <p:txBody>
          <a:bodyPr/>
          <a:lstStyle/>
          <a:p>
            <a:endParaRPr lang="en-SG" sz="1200"/>
          </a:p>
        </p:txBody>
      </p:sp>
      <p:sp>
        <p:nvSpPr>
          <p:cNvPr id="18" name="Text 17">
            <a:extLst>
              <a:ext uri="{FF2B5EF4-FFF2-40B4-BE49-F238E27FC236}">
                <a16:creationId xmlns:a16="http://schemas.microsoft.com/office/drawing/2014/main" id="{B0625DC0-AA40-AB14-A161-4BD93997B7D2}"/>
              </a:ext>
            </a:extLst>
          </p:cNvPr>
          <p:cNvSpPr/>
          <p:nvPr/>
        </p:nvSpPr>
        <p:spPr>
          <a:xfrm>
            <a:off x="661357" y="3993216"/>
            <a:ext cx="1416063" cy="4438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rPr>
              <a:t>Phase C</a:t>
            </a:r>
            <a:endParaRPr lang="en-US" sz="1200" dirty="0"/>
          </a:p>
        </p:txBody>
      </p:sp>
      <p:sp>
        <p:nvSpPr>
          <p:cNvPr id="19" name="Text 18">
            <a:extLst>
              <a:ext uri="{FF2B5EF4-FFF2-40B4-BE49-F238E27FC236}">
                <a16:creationId xmlns:a16="http://schemas.microsoft.com/office/drawing/2014/main" id="{80EA915A-48F9-EDC0-9BDE-067E29A49E14}"/>
              </a:ext>
            </a:extLst>
          </p:cNvPr>
          <p:cNvSpPr/>
          <p:nvPr/>
        </p:nvSpPr>
        <p:spPr>
          <a:xfrm>
            <a:off x="2532469" y="3979635"/>
            <a:ext cx="4349655" cy="47096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CBD5E1"/>
                </a:solidFill>
              </a:rPr>
              <a:t>Detailed algorithm design, feature engineering plan</a:t>
            </a:r>
            <a:endParaRPr lang="en-US" sz="1200" dirty="0"/>
          </a:p>
        </p:txBody>
      </p:sp>
      <p:sp>
        <p:nvSpPr>
          <p:cNvPr id="20" name="Shape 19">
            <a:extLst>
              <a:ext uri="{FF2B5EF4-FFF2-40B4-BE49-F238E27FC236}">
                <a16:creationId xmlns:a16="http://schemas.microsoft.com/office/drawing/2014/main" id="{4736E4CE-A44B-AAF5-8FA9-6DD2FA6145EE}"/>
              </a:ext>
            </a:extLst>
          </p:cNvPr>
          <p:cNvSpPr/>
          <p:nvPr/>
        </p:nvSpPr>
        <p:spPr>
          <a:xfrm>
            <a:off x="661357" y="4605914"/>
            <a:ext cx="1416063" cy="443800"/>
          </a:xfrm>
          <a:prstGeom prst="rect">
            <a:avLst/>
          </a:prstGeom>
          <a:solidFill>
            <a:srgbClr val="00B4D8"/>
          </a:solidFill>
          <a:ln w="12700">
            <a:solidFill>
              <a:srgbClr val="00B4D8"/>
            </a:solidFill>
            <a:prstDash val="solid"/>
          </a:ln>
        </p:spPr>
        <p:txBody>
          <a:bodyPr/>
          <a:lstStyle/>
          <a:p>
            <a:endParaRPr lang="en-SG" sz="1200"/>
          </a:p>
        </p:txBody>
      </p:sp>
      <p:sp>
        <p:nvSpPr>
          <p:cNvPr id="21" name="Text 20">
            <a:extLst>
              <a:ext uri="{FF2B5EF4-FFF2-40B4-BE49-F238E27FC236}">
                <a16:creationId xmlns:a16="http://schemas.microsoft.com/office/drawing/2014/main" id="{EED9010E-CE1B-9728-BEB3-CE0FA56F481B}"/>
              </a:ext>
            </a:extLst>
          </p:cNvPr>
          <p:cNvSpPr/>
          <p:nvPr/>
        </p:nvSpPr>
        <p:spPr>
          <a:xfrm>
            <a:off x="661357" y="4605914"/>
            <a:ext cx="1416063" cy="4438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rPr>
              <a:t>Phase D</a:t>
            </a:r>
            <a:endParaRPr lang="en-US" sz="1200" dirty="0"/>
          </a:p>
        </p:txBody>
      </p:sp>
      <p:sp>
        <p:nvSpPr>
          <p:cNvPr id="22" name="Text 21">
            <a:extLst>
              <a:ext uri="{FF2B5EF4-FFF2-40B4-BE49-F238E27FC236}">
                <a16:creationId xmlns:a16="http://schemas.microsoft.com/office/drawing/2014/main" id="{A44D8C82-98BC-8574-A636-519D35A22501}"/>
              </a:ext>
            </a:extLst>
          </p:cNvPr>
          <p:cNvSpPr/>
          <p:nvPr/>
        </p:nvSpPr>
        <p:spPr>
          <a:xfrm>
            <a:off x="2532468" y="4592333"/>
            <a:ext cx="4349655" cy="47096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CBD5E1"/>
                </a:solidFill>
              </a:rPr>
              <a:t>Coded &amp; integrated all 6 subsystems, unit testing</a:t>
            </a:r>
            <a:endParaRPr lang="en-US" sz="1200" dirty="0"/>
          </a:p>
        </p:txBody>
      </p:sp>
      <p:sp>
        <p:nvSpPr>
          <p:cNvPr id="23" name="Shape 22">
            <a:extLst>
              <a:ext uri="{FF2B5EF4-FFF2-40B4-BE49-F238E27FC236}">
                <a16:creationId xmlns:a16="http://schemas.microsoft.com/office/drawing/2014/main" id="{F4123619-2908-CA7E-7241-A4365B25668D}"/>
              </a:ext>
            </a:extLst>
          </p:cNvPr>
          <p:cNvSpPr/>
          <p:nvPr/>
        </p:nvSpPr>
        <p:spPr>
          <a:xfrm>
            <a:off x="661357" y="5227283"/>
            <a:ext cx="1416063" cy="443800"/>
          </a:xfrm>
          <a:prstGeom prst="rect">
            <a:avLst/>
          </a:prstGeom>
          <a:solidFill>
            <a:srgbClr val="10B981"/>
          </a:solidFill>
          <a:ln w="12700">
            <a:solidFill>
              <a:srgbClr val="10B981"/>
            </a:solidFill>
            <a:prstDash val="solid"/>
          </a:ln>
        </p:spPr>
        <p:txBody>
          <a:bodyPr/>
          <a:lstStyle/>
          <a:p>
            <a:endParaRPr lang="en-SG" sz="1200"/>
          </a:p>
        </p:txBody>
      </p:sp>
      <p:sp>
        <p:nvSpPr>
          <p:cNvPr id="24" name="Text 23">
            <a:extLst>
              <a:ext uri="{FF2B5EF4-FFF2-40B4-BE49-F238E27FC236}">
                <a16:creationId xmlns:a16="http://schemas.microsoft.com/office/drawing/2014/main" id="{EDFE2F07-2702-F064-A93E-54487C5A381D}"/>
              </a:ext>
            </a:extLst>
          </p:cNvPr>
          <p:cNvSpPr/>
          <p:nvPr/>
        </p:nvSpPr>
        <p:spPr>
          <a:xfrm>
            <a:off x="661357" y="5227283"/>
            <a:ext cx="1416063" cy="4438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rPr>
              <a:t>Phase E</a:t>
            </a:r>
            <a:endParaRPr lang="en-US" sz="1200" dirty="0"/>
          </a:p>
        </p:txBody>
      </p:sp>
      <p:sp>
        <p:nvSpPr>
          <p:cNvPr id="25" name="Text 24">
            <a:extLst>
              <a:ext uri="{FF2B5EF4-FFF2-40B4-BE49-F238E27FC236}">
                <a16:creationId xmlns:a16="http://schemas.microsoft.com/office/drawing/2014/main" id="{538FF407-F312-8E3B-A90E-80A7E8F41C60}"/>
              </a:ext>
            </a:extLst>
          </p:cNvPr>
          <p:cNvSpPr/>
          <p:nvPr/>
        </p:nvSpPr>
        <p:spPr>
          <a:xfrm>
            <a:off x="2532467" y="5218199"/>
            <a:ext cx="4349655" cy="47096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CBD5E1"/>
                </a:solidFill>
              </a:rPr>
              <a:t>Live deployment via Streamlit + ngrok, UAT</a:t>
            </a:r>
            <a:endParaRPr lang="en-US" sz="1200" dirty="0"/>
          </a:p>
        </p:txBody>
      </p:sp>
      <p:sp>
        <p:nvSpPr>
          <p:cNvPr id="26" name="Shape 25">
            <a:extLst>
              <a:ext uri="{FF2B5EF4-FFF2-40B4-BE49-F238E27FC236}">
                <a16:creationId xmlns:a16="http://schemas.microsoft.com/office/drawing/2014/main" id="{A64036A4-1C49-0C27-12F3-B6C21CD725A0}"/>
              </a:ext>
            </a:extLst>
          </p:cNvPr>
          <p:cNvSpPr/>
          <p:nvPr/>
        </p:nvSpPr>
        <p:spPr>
          <a:xfrm>
            <a:off x="661358" y="5856080"/>
            <a:ext cx="1416063" cy="443800"/>
          </a:xfrm>
          <a:prstGeom prst="rect">
            <a:avLst/>
          </a:prstGeom>
          <a:solidFill>
            <a:srgbClr val="F59E0B"/>
          </a:solidFill>
          <a:ln w="12700">
            <a:solidFill>
              <a:srgbClr val="F59E0B"/>
            </a:solidFill>
            <a:prstDash val="solid"/>
          </a:ln>
        </p:spPr>
        <p:txBody>
          <a:bodyPr/>
          <a:lstStyle/>
          <a:p>
            <a:endParaRPr lang="en-SG" sz="1200"/>
          </a:p>
        </p:txBody>
      </p:sp>
      <p:sp>
        <p:nvSpPr>
          <p:cNvPr id="27" name="Text 26">
            <a:extLst>
              <a:ext uri="{FF2B5EF4-FFF2-40B4-BE49-F238E27FC236}">
                <a16:creationId xmlns:a16="http://schemas.microsoft.com/office/drawing/2014/main" id="{87A17C47-1E4E-C032-E18C-2082C8CECA13}"/>
              </a:ext>
            </a:extLst>
          </p:cNvPr>
          <p:cNvSpPr/>
          <p:nvPr/>
        </p:nvSpPr>
        <p:spPr>
          <a:xfrm>
            <a:off x="661358" y="5856080"/>
            <a:ext cx="1416063" cy="4438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rPr>
              <a:t>Phase F</a:t>
            </a:r>
            <a:endParaRPr lang="en-US" sz="1200" dirty="0"/>
          </a:p>
        </p:txBody>
      </p:sp>
      <p:sp>
        <p:nvSpPr>
          <p:cNvPr id="28" name="Text 27">
            <a:extLst>
              <a:ext uri="{FF2B5EF4-FFF2-40B4-BE49-F238E27FC236}">
                <a16:creationId xmlns:a16="http://schemas.microsoft.com/office/drawing/2014/main" id="{D56747FC-6F81-0A9D-9D1A-7FFB1BDBB646}"/>
              </a:ext>
            </a:extLst>
          </p:cNvPr>
          <p:cNvSpPr/>
          <p:nvPr/>
        </p:nvSpPr>
        <p:spPr>
          <a:xfrm>
            <a:off x="2532467" y="5842499"/>
            <a:ext cx="4349655" cy="47096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CBD5E1"/>
                </a:solidFill>
              </a:rPr>
              <a:t>Documentation, report, lessons learned, submission</a:t>
            </a:r>
            <a:endParaRPr lang="en-US" sz="1200" dirty="0"/>
          </a:p>
        </p:txBody>
      </p:sp>
      <p:graphicFrame>
        <p:nvGraphicFramePr>
          <p:cNvPr id="85" name="Table 84">
            <a:extLst>
              <a:ext uri="{FF2B5EF4-FFF2-40B4-BE49-F238E27FC236}">
                <a16:creationId xmlns:a16="http://schemas.microsoft.com/office/drawing/2014/main" id="{0A00A3CE-2B0B-419E-2144-DDD305B43776}"/>
              </a:ext>
            </a:extLst>
          </p:cNvPr>
          <p:cNvGraphicFramePr>
            <a:graphicFrameLocks noGrp="1"/>
          </p:cNvGraphicFramePr>
          <p:nvPr>
            <p:extLst>
              <p:ext uri="{D42A27DB-BD31-4B8C-83A1-F6EECF244321}">
                <p14:modId xmlns:p14="http://schemas.microsoft.com/office/powerpoint/2010/main" val="3395216642"/>
              </p:ext>
            </p:extLst>
          </p:nvPr>
        </p:nvGraphicFramePr>
        <p:xfrm>
          <a:off x="7848651" y="1821919"/>
          <a:ext cx="3919930" cy="3784254"/>
        </p:xfrm>
        <a:graphic>
          <a:graphicData uri="http://schemas.openxmlformats.org/drawingml/2006/table">
            <a:tbl>
              <a:tblPr firstRow="1" bandRow="1">
                <a:tableStyleId>{AF606853-7671-496A-8E4F-DF71F8EC918B}</a:tableStyleId>
              </a:tblPr>
              <a:tblGrid>
                <a:gridCol w="1043816">
                  <a:extLst>
                    <a:ext uri="{9D8B030D-6E8A-4147-A177-3AD203B41FA5}">
                      <a16:colId xmlns:a16="http://schemas.microsoft.com/office/drawing/2014/main" val="3474621663"/>
                    </a:ext>
                  </a:extLst>
                </a:gridCol>
                <a:gridCol w="2876114">
                  <a:extLst>
                    <a:ext uri="{9D8B030D-6E8A-4147-A177-3AD203B41FA5}">
                      <a16:colId xmlns:a16="http://schemas.microsoft.com/office/drawing/2014/main" val="3548392939"/>
                    </a:ext>
                  </a:extLst>
                </a:gridCol>
              </a:tblGrid>
              <a:tr h="304092">
                <a:tc gridSpan="2">
                  <a:txBody>
                    <a:bodyPr/>
                    <a:lstStyle/>
                    <a:p>
                      <a:r>
                        <a:rPr lang="en-SG" sz="1200" dirty="0"/>
                        <a:t>Agile SDLC - 8 Sprints</a:t>
                      </a:r>
                    </a:p>
                  </a:txBody>
                  <a:tcPr/>
                </a:tc>
                <a:tc hMerge="1">
                  <a:txBody>
                    <a:bodyPr/>
                    <a:lstStyle/>
                    <a:p>
                      <a:endParaRPr lang="en-SG" dirty="0"/>
                    </a:p>
                  </a:txBody>
                  <a:tcPr/>
                </a:tc>
                <a:extLst>
                  <a:ext uri="{0D108BD9-81ED-4DB2-BD59-A6C34878D82A}">
                    <a16:rowId xmlns:a16="http://schemas.microsoft.com/office/drawing/2014/main" val="4115789747"/>
                  </a:ext>
                </a:extLst>
              </a:tr>
              <a:tr h="411087">
                <a:tc>
                  <a:txBody>
                    <a:bodyPr/>
                    <a:lstStyle/>
                    <a:p>
                      <a:r>
                        <a:rPr lang="en-SG" sz="1200" dirty="0"/>
                        <a:t>Sprint 0</a:t>
                      </a:r>
                    </a:p>
                  </a:txBody>
                  <a:tcPr/>
                </a:tc>
                <a:tc>
                  <a:txBody>
                    <a:bodyPr/>
                    <a:lstStyle/>
                    <a:p>
                      <a:r>
                        <a:rPr lang="en-SG" sz="1200" dirty="0"/>
                        <a:t>Setup, EDA, scope definition</a:t>
                      </a:r>
                    </a:p>
                  </a:txBody>
                  <a:tcPr/>
                </a:tc>
                <a:extLst>
                  <a:ext uri="{0D108BD9-81ED-4DB2-BD59-A6C34878D82A}">
                    <a16:rowId xmlns:a16="http://schemas.microsoft.com/office/drawing/2014/main" val="742323638"/>
                  </a:ext>
                </a:extLst>
              </a:tr>
              <a:tr h="41108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SG" sz="1200" dirty="0"/>
                        <a:t>Sprint 1</a:t>
                      </a:r>
                    </a:p>
                  </a:txBody>
                  <a:tcPr/>
                </a:tc>
                <a:tc>
                  <a:txBody>
                    <a:bodyPr/>
                    <a:lstStyle/>
                    <a:p>
                      <a:r>
                        <a:rPr lang="en-SG" sz="1200" dirty="0"/>
                        <a:t>Sub1: Data ingestion pipeline</a:t>
                      </a:r>
                    </a:p>
                  </a:txBody>
                  <a:tcPr/>
                </a:tc>
                <a:extLst>
                  <a:ext uri="{0D108BD9-81ED-4DB2-BD59-A6C34878D82A}">
                    <a16:rowId xmlns:a16="http://schemas.microsoft.com/office/drawing/2014/main" val="3160596649"/>
                  </a:ext>
                </a:extLst>
              </a:tr>
              <a:tr h="506820">
                <a:tc>
                  <a:txBody>
                    <a:bodyPr/>
                    <a:lstStyle/>
                    <a:p>
                      <a:r>
                        <a:rPr lang="en-SG" sz="1200" dirty="0"/>
                        <a:t>Sprint 2</a:t>
                      </a:r>
                    </a:p>
                  </a:txBody>
                  <a:tcPr/>
                </a:tc>
                <a:tc>
                  <a:txBody>
                    <a:bodyPr/>
                    <a:lstStyle/>
                    <a:p>
                      <a:r>
                        <a:rPr lang="en-SG" sz="1200" dirty="0"/>
                        <a:t>Sub2: Random Forest demand forecast</a:t>
                      </a:r>
                    </a:p>
                  </a:txBody>
                  <a:tcPr/>
                </a:tc>
                <a:extLst>
                  <a:ext uri="{0D108BD9-81ED-4DB2-BD59-A6C34878D82A}">
                    <a16:rowId xmlns:a16="http://schemas.microsoft.com/office/drawing/2014/main" val="603697277"/>
                  </a:ext>
                </a:extLst>
              </a:tr>
              <a:tr h="506820">
                <a:tc>
                  <a:txBody>
                    <a:bodyPr/>
                    <a:lstStyle/>
                    <a:p>
                      <a:r>
                        <a:rPr lang="en-SG" sz="1200" dirty="0"/>
                        <a:t>Sprint 3</a:t>
                      </a:r>
                    </a:p>
                  </a:txBody>
                  <a:tcPr/>
                </a:tc>
                <a:tc>
                  <a:txBody>
                    <a:bodyPr/>
                    <a:lstStyle/>
                    <a:p>
                      <a:r>
                        <a:rPr lang="en-US" sz="1200" dirty="0"/>
                        <a:t>Sub3: Isolation Forest anomaly detection</a:t>
                      </a:r>
                    </a:p>
                  </a:txBody>
                  <a:tcPr/>
                </a:tc>
                <a:extLst>
                  <a:ext uri="{0D108BD9-81ED-4DB2-BD59-A6C34878D82A}">
                    <a16:rowId xmlns:a16="http://schemas.microsoft.com/office/drawing/2014/main" val="135955876"/>
                  </a:ext>
                </a:extLst>
              </a:tr>
              <a:tr h="411087">
                <a:tc>
                  <a:txBody>
                    <a:bodyPr/>
                    <a:lstStyle/>
                    <a:p>
                      <a:r>
                        <a:rPr lang="en-SG" sz="1200" dirty="0"/>
                        <a:t>Sprint 4</a:t>
                      </a:r>
                    </a:p>
                  </a:txBody>
                  <a:tcPr/>
                </a:tc>
                <a:tc>
                  <a:txBody>
                    <a:bodyPr/>
                    <a:lstStyle/>
                    <a:p>
                      <a:r>
                        <a:rPr lang="en-SG" sz="1200" dirty="0"/>
                        <a:t>Sub4: RFM + K-Means segmentation</a:t>
                      </a:r>
                    </a:p>
                  </a:txBody>
                  <a:tcPr/>
                </a:tc>
                <a:extLst>
                  <a:ext uri="{0D108BD9-81ED-4DB2-BD59-A6C34878D82A}">
                    <a16:rowId xmlns:a16="http://schemas.microsoft.com/office/drawing/2014/main" val="299027215"/>
                  </a:ext>
                </a:extLst>
              </a:tr>
              <a:tr h="411087">
                <a:tc>
                  <a:txBody>
                    <a:bodyPr/>
                    <a:lstStyle/>
                    <a:p>
                      <a:r>
                        <a:rPr lang="en-SG" sz="1200" dirty="0"/>
                        <a:t>Sprint 5</a:t>
                      </a:r>
                    </a:p>
                  </a:txBody>
                  <a:tcPr/>
                </a:tc>
                <a:tc>
                  <a:txBody>
                    <a:bodyPr/>
                    <a:lstStyle/>
                    <a:p>
                      <a:r>
                        <a:rPr lang="en-SG" sz="1200" dirty="0"/>
                        <a:t>Sub5: Fuzzy logic reorder engine</a:t>
                      </a:r>
                    </a:p>
                  </a:txBody>
                  <a:tcPr/>
                </a:tc>
                <a:extLst>
                  <a:ext uri="{0D108BD9-81ED-4DB2-BD59-A6C34878D82A}">
                    <a16:rowId xmlns:a16="http://schemas.microsoft.com/office/drawing/2014/main" val="2402968608"/>
                  </a:ext>
                </a:extLst>
              </a:tr>
              <a:tr h="411087">
                <a:tc>
                  <a:txBody>
                    <a:bodyPr/>
                    <a:lstStyle/>
                    <a:p>
                      <a:r>
                        <a:rPr lang="en-SG" sz="1200" dirty="0"/>
                        <a:t>Sprint 6</a:t>
                      </a:r>
                    </a:p>
                  </a:txBody>
                  <a:tcPr/>
                </a:tc>
                <a:tc>
                  <a:txBody>
                    <a:bodyPr/>
                    <a:lstStyle/>
                    <a:p>
                      <a:r>
                        <a:rPr lang="en-SG" sz="1200" dirty="0"/>
                        <a:t>Sub6: </a:t>
                      </a:r>
                      <a:r>
                        <a:rPr lang="en-SG" sz="1200" dirty="0" err="1"/>
                        <a:t>Streamlit</a:t>
                      </a:r>
                      <a:r>
                        <a:rPr lang="en-SG" sz="1200" dirty="0"/>
                        <a:t> dashboard + </a:t>
                      </a:r>
                      <a:r>
                        <a:rPr lang="en-SG" sz="1200" dirty="0" err="1"/>
                        <a:t>ngrok</a:t>
                      </a:r>
                      <a:endParaRPr lang="en-SG" sz="1200" dirty="0"/>
                    </a:p>
                  </a:txBody>
                  <a:tcPr/>
                </a:tc>
                <a:extLst>
                  <a:ext uri="{0D108BD9-81ED-4DB2-BD59-A6C34878D82A}">
                    <a16:rowId xmlns:a16="http://schemas.microsoft.com/office/drawing/2014/main" val="2779345477"/>
                  </a:ext>
                </a:extLst>
              </a:tr>
              <a:tr h="411087">
                <a:tc>
                  <a:txBody>
                    <a:bodyPr/>
                    <a:lstStyle/>
                    <a:p>
                      <a:r>
                        <a:rPr lang="en-SG" sz="1200" dirty="0"/>
                        <a:t>Sprint 7</a:t>
                      </a:r>
                    </a:p>
                  </a:txBody>
                  <a:tcPr/>
                </a:tc>
                <a:tc>
                  <a:txBody>
                    <a:bodyPr/>
                    <a:lstStyle/>
                    <a:p>
                      <a:r>
                        <a:rPr lang="en-SG" sz="1200" dirty="0"/>
                        <a:t>QA, evaluation, report, submission</a:t>
                      </a:r>
                    </a:p>
                  </a:txBody>
                  <a:tcPr/>
                </a:tc>
                <a:extLst>
                  <a:ext uri="{0D108BD9-81ED-4DB2-BD59-A6C34878D82A}">
                    <a16:rowId xmlns:a16="http://schemas.microsoft.com/office/drawing/2014/main" val="1994575740"/>
                  </a:ext>
                </a:extLst>
              </a:tr>
            </a:tbl>
          </a:graphicData>
        </a:graphic>
      </p:graphicFrame>
    </p:spTree>
    <p:extLst>
      <p:ext uri="{BB962C8B-B14F-4D97-AF65-F5344CB8AC3E}">
        <p14:creationId xmlns:p14="http://schemas.microsoft.com/office/powerpoint/2010/main" val="1235251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Title 1">
            <a:extLst>
              <a:ext uri="{FF2B5EF4-FFF2-40B4-BE49-F238E27FC236}">
                <a16:creationId xmlns:a16="http://schemas.microsoft.com/office/drawing/2014/main" id="{4A6A38CB-3D21-E856-4BE5-E27974FC1B2C}"/>
              </a:ext>
            </a:extLst>
          </p:cNvPr>
          <p:cNvSpPr>
            <a:spLocks noGrp="1"/>
          </p:cNvSpPr>
          <p:nvPr>
            <p:ph type="title"/>
          </p:nvPr>
        </p:nvSpPr>
        <p:spPr>
          <a:xfrm>
            <a:off x="2557604" y="379799"/>
            <a:ext cx="8911687" cy="1280890"/>
          </a:xfrm>
        </p:spPr>
        <p:txBody>
          <a:bodyPr/>
          <a:lstStyle/>
          <a:p>
            <a:r>
              <a:rPr lang="en-SG" dirty="0"/>
              <a:t>Sub1: Data Ingestion &amp; Preprocessing</a:t>
            </a:r>
          </a:p>
        </p:txBody>
      </p:sp>
      <p:sp>
        <p:nvSpPr>
          <p:cNvPr id="4" name="Slide Number Placeholder 3">
            <a:extLst>
              <a:ext uri="{FF2B5EF4-FFF2-40B4-BE49-F238E27FC236}">
                <a16:creationId xmlns:a16="http://schemas.microsoft.com/office/drawing/2014/main" id="{28E1D4EB-29DA-598D-D8E2-6A13091F76C7}"/>
              </a:ext>
            </a:extLst>
          </p:cNvPr>
          <p:cNvSpPr>
            <a:spLocks noGrp="1"/>
          </p:cNvSpPr>
          <p:nvPr>
            <p:ph type="sldNum" sz="quarter" idx="12"/>
          </p:nvPr>
        </p:nvSpPr>
        <p:spPr/>
        <p:txBody>
          <a:bodyPr/>
          <a:lstStyle/>
          <a:p>
            <a:fld id="{5A37AB63-62EB-4EDF-B1C9-C7FAE06A9E45}" type="slidenum">
              <a:rPr lang="en-SG" smtClean="0"/>
              <a:t>8</a:t>
            </a:fld>
            <a:endParaRPr lang="en-SG" dirty="0"/>
          </a:p>
        </p:txBody>
      </p:sp>
      <p:sp>
        <p:nvSpPr>
          <p:cNvPr id="94" name="Rectangle 93">
            <a:extLst>
              <a:ext uri="{FF2B5EF4-FFF2-40B4-BE49-F238E27FC236}">
                <a16:creationId xmlns:a16="http://schemas.microsoft.com/office/drawing/2014/main" id="{18D18003-90A3-BB24-C8A9-C4B40A07C7F5}"/>
              </a:ext>
            </a:extLst>
          </p:cNvPr>
          <p:cNvSpPr/>
          <p:nvPr/>
        </p:nvSpPr>
        <p:spPr>
          <a:xfrm>
            <a:off x="1786980" y="1124682"/>
            <a:ext cx="4170231" cy="3150146"/>
          </a:xfrm>
          <a:prstGeom prst="rect">
            <a:avLst/>
          </a:prstGeom>
          <a:solidFill>
            <a:srgbClr val="D0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a:extLst>
              <a:ext uri="{FF2B5EF4-FFF2-40B4-BE49-F238E27FC236}">
                <a16:creationId xmlns:a16="http://schemas.microsoft.com/office/drawing/2014/main" id="{0F1E5843-2035-2521-0481-F3A9827C8304}"/>
              </a:ext>
            </a:extLst>
          </p:cNvPr>
          <p:cNvSpPr/>
          <p:nvPr/>
        </p:nvSpPr>
        <p:spPr>
          <a:xfrm>
            <a:off x="1750405" y="1088106"/>
            <a:ext cx="4206806" cy="318672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a:extLst>
              <a:ext uri="{FF2B5EF4-FFF2-40B4-BE49-F238E27FC236}">
                <a16:creationId xmlns:a16="http://schemas.microsoft.com/office/drawing/2014/main" id="{035244C6-A2CF-44D2-B6CE-B528271F52D5}"/>
              </a:ext>
            </a:extLst>
          </p:cNvPr>
          <p:cNvSpPr txBox="1"/>
          <p:nvPr/>
        </p:nvSpPr>
        <p:spPr>
          <a:xfrm>
            <a:off x="1841844" y="1095194"/>
            <a:ext cx="4078791" cy="347472"/>
          </a:xfrm>
          <a:prstGeom prst="rect">
            <a:avLst/>
          </a:prstGeom>
          <a:noFill/>
        </p:spPr>
        <p:txBody>
          <a:bodyPr wrap="square"/>
          <a:lstStyle/>
          <a:p>
            <a:pPr algn="l"/>
            <a:r>
              <a:rPr sz="1500" b="1" i="0" dirty="0">
                <a:solidFill>
                  <a:srgbClr val="1A2E4A"/>
                </a:solidFill>
                <a:latin typeface="Calibri"/>
              </a:rPr>
              <a:t>Ingestion Pipeline Steps</a:t>
            </a:r>
          </a:p>
        </p:txBody>
      </p:sp>
      <p:sp>
        <p:nvSpPr>
          <p:cNvPr id="97" name="Rectangle 96">
            <a:extLst>
              <a:ext uri="{FF2B5EF4-FFF2-40B4-BE49-F238E27FC236}">
                <a16:creationId xmlns:a16="http://schemas.microsoft.com/office/drawing/2014/main" id="{CD786C85-B978-8003-6BB7-809CF3F2CD56}"/>
              </a:ext>
            </a:extLst>
          </p:cNvPr>
          <p:cNvSpPr/>
          <p:nvPr/>
        </p:nvSpPr>
        <p:spPr>
          <a:xfrm>
            <a:off x="1750405" y="1088106"/>
            <a:ext cx="54864" cy="34747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a:extLst>
              <a:ext uri="{FF2B5EF4-FFF2-40B4-BE49-F238E27FC236}">
                <a16:creationId xmlns:a16="http://schemas.microsoft.com/office/drawing/2014/main" id="{B9CB7BDB-0BEA-1AD0-FDA6-10DC7FB6C1DF}"/>
              </a:ext>
            </a:extLst>
          </p:cNvPr>
          <p:cNvSpPr txBox="1"/>
          <p:nvPr/>
        </p:nvSpPr>
        <p:spPr>
          <a:xfrm>
            <a:off x="1841844" y="1524962"/>
            <a:ext cx="4078791" cy="2703787"/>
          </a:xfrm>
          <a:prstGeom prst="rect">
            <a:avLst/>
          </a:prstGeom>
          <a:noFill/>
        </p:spPr>
        <p:txBody>
          <a:bodyPr wrap="square">
            <a:spAutoFit/>
          </a:bodyPr>
          <a:lstStyle/>
          <a:p>
            <a:pPr>
              <a:spcAft>
                <a:spcPts val="400"/>
              </a:spcAft>
            </a:pPr>
            <a:r>
              <a:rPr sz="1200" dirty="0">
                <a:solidFill>
                  <a:srgbClr val="1E293B"/>
                </a:solidFill>
                <a:latin typeface="Calibri"/>
              </a:rPr>
              <a:t>▸  Load raw Excel (541,909 rows) with </a:t>
            </a:r>
            <a:r>
              <a:rPr sz="1200" dirty="0" err="1">
                <a:solidFill>
                  <a:srgbClr val="1E293B"/>
                </a:solidFill>
                <a:latin typeface="Calibri"/>
              </a:rPr>
              <a:t>pd.read_excel</a:t>
            </a:r>
            <a:r>
              <a:rPr sz="1200" dirty="0">
                <a:solidFill>
                  <a:srgbClr val="1E293B"/>
                </a:solidFill>
                <a:latin typeface="Calibri"/>
              </a:rPr>
              <a:t>()</a:t>
            </a:r>
          </a:p>
          <a:p>
            <a:pPr>
              <a:spcAft>
                <a:spcPts val="400"/>
              </a:spcAft>
            </a:pPr>
            <a:r>
              <a:rPr sz="1200" dirty="0">
                <a:solidFill>
                  <a:srgbClr val="1E293B"/>
                </a:solidFill>
                <a:latin typeface="Calibri"/>
              </a:rPr>
              <a:t>▸  Remove </a:t>
            </a:r>
            <a:r>
              <a:rPr lang="en-SG" sz="1200" dirty="0">
                <a:solidFill>
                  <a:srgbClr val="1E293B"/>
                </a:solidFill>
                <a:latin typeface="Calibri"/>
              </a:rPr>
              <a:t>null </a:t>
            </a:r>
            <a:r>
              <a:rPr lang="en-SG" sz="1200" dirty="0" err="1">
                <a:solidFill>
                  <a:srgbClr val="1E293B"/>
                </a:solidFill>
                <a:latin typeface="Calibri"/>
              </a:rPr>
              <a:t>CustomerIDs</a:t>
            </a:r>
            <a:r>
              <a:rPr lang="en-SG" sz="1200" dirty="0">
                <a:solidFill>
                  <a:srgbClr val="1E293B"/>
                </a:solidFill>
                <a:latin typeface="Calibri"/>
              </a:rPr>
              <a:t> and invalid rows</a:t>
            </a:r>
            <a:endParaRPr sz="1200" dirty="0">
              <a:solidFill>
                <a:srgbClr val="1E293B"/>
              </a:solidFill>
              <a:latin typeface="Calibri"/>
            </a:endParaRPr>
          </a:p>
          <a:p>
            <a:pPr>
              <a:spcAft>
                <a:spcPts val="400"/>
              </a:spcAft>
            </a:pPr>
            <a:r>
              <a:rPr sz="1200" dirty="0">
                <a:solidFill>
                  <a:srgbClr val="1E293B"/>
                </a:solidFill>
                <a:latin typeface="Calibri"/>
              </a:rPr>
              <a:t>▸  Remove cancellations where </a:t>
            </a:r>
            <a:r>
              <a:rPr sz="1200" dirty="0" err="1">
                <a:solidFill>
                  <a:srgbClr val="1E293B"/>
                </a:solidFill>
                <a:latin typeface="Calibri"/>
              </a:rPr>
              <a:t>InvoiceNo</a:t>
            </a:r>
            <a:r>
              <a:rPr sz="1200" dirty="0">
                <a:solidFill>
                  <a:srgbClr val="1E293B"/>
                </a:solidFill>
                <a:latin typeface="Calibri"/>
              </a:rPr>
              <a:t> starts with 'C'</a:t>
            </a:r>
          </a:p>
          <a:p>
            <a:pPr>
              <a:spcAft>
                <a:spcPts val="400"/>
              </a:spcAft>
            </a:pPr>
            <a:r>
              <a:rPr sz="1200" dirty="0">
                <a:solidFill>
                  <a:srgbClr val="1E293B"/>
                </a:solidFill>
                <a:latin typeface="Calibri"/>
              </a:rPr>
              <a:t>▸  Filter: Quantity &gt; 0 AND </a:t>
            </a:r>
            <a:r>
              <a:rPr sz="1200" dirty="0" err="1">
                <a:solidFill>
                  <a:srgbClr val="1E293B"/>
                </a:solidFill>
                <a:latin typeface="Calibri"/>
              </a:rPr>
              <a:t>UnitPrice</a:t>
            </a:r>
            <a:r>
              <a:rPr sz="1200" dirty="0">
                <a:solidFill>
                  <a:srgbClr val="1E293B"/>
                </a:solidFill>
                <a:latin typeface="Calibri"/>
              </a:rPr>
              <a:t> &gt; 0</a:t>
            </a:r>
          </a:p>
          <a:p>
            <a:pPr>
              <a:spcAft>
                <a:spcPts val="400"/>
              </a:spcAft>
            </a:pPr>
            <a:r>
              <a:rPr sz="1200" dirty="0">
                <a:solidFill>
                  <a:srgbClr val="1E293B"/>
                </a:solidFill>
                <a:latin typeface="Calibri"/>
              </a:rPr>
              <a:t>▸  Parse </a:t>
            </a:r>
            <a:r>
              <a:rPr sz="1200" dirty="0" err="1">
                <a:solidFill>
                  <a:srgbClr val="1E293B"/>
                </a:solidFill>
                <a:latin typeface="Calibri"/>
              </a:rPr>
              <a:t>InvoiceDate</a:t>
            </a:r>
            <a:r>
              <a:rPr sz="1200" dirty="0">
                <a:solidFill>
                  <a:srgbClr val="1E293B"/>
                </a:solidFill>
                <a:latin typeface="Calibri"/>
              </a:rPr>
              <a:t> column to pandas datetime</a:t>
            </a:r>
          </a:p>
          <a:p>
            <a:pPr>
              <a:spcAft>
                <a:spcPts val="400"/>
              </a:spcAft>
            </a:pPr>
            <a:r>
              <a:rPr sz="1200" dirty="0">
                <a:solidFill>
                  <a:srgbClr val="1E293B"/>
                </a:solidFill>
                <a:latin typeface="Calibri"/>
              </a:rPr>
              <a:t>▸  Derive Revenue feature: Quantity × </a:t>
            </a:r>
            <a:r>
              <a:rPr sz="1200" dirty="0" err="1">
                <a:solidFill>
                  <a:srgbClr val="1E293B"/>
                </a:solidFill>
                <a:latin typeface="Calibri"/>
              </a:rPr>
              <a:t>UnitPrice</a:t>
            </a:r>
            <a:endParaRPr sz="1200" dirty="0">
              <a:solidFill>
                <a:srgbClr val="1E293B"/>
              </a:solidFill>
              <a:latin typeface="Calibri"/>
            </a:endParaRPr>
          </a:p>
          <a:p>
            <a:pPr>
              <a:spcAft>
                <a:spcPts val="400"/>
              </a:spcAft>
            </a:pPr>
            <a:r>
              <a:rPr sz="1200" dirty="0">
                <a:solidFill>
                  <a:srgbClr val="1E293B"/>
                </a:solidFill>
                <a:latin typeface="Calibri"/>
              </a:rPr>
              <a:t>▸  Group by </a:t>
            </a:r>
            <a:r>
              <a:rPr sz="1200" dirty="0" err="1">
                <a:solidFill>
                  <a:srgbClr val="1E293B"/>
                </a:solidFill>
                <a:latin typeface="Calibri"/>
              </a:rPr>
              <a:t>StockCode</a:t>
            </a:r>
            <a:r>
              <a:rPr sz="1200" dirty="0">
                <a:solidFill>
                  <a:srgbClr val="1E293B"/>
                </a:solidFill>
                <a:latin typeface="Calibri"/>
              </a:rPr>
              <a:t> + Date → </a:t>
            </a:r>
            <a:r>
              <a:rPr sz="1200" dirty="0" err="1">
                <a:solidFill>
                  <a:srgbClr val="1E293B"/>
                </a:solidFill>
                <a:latin typeface="Calibri"/>
              </a:rPr>
              <a:t>DailyQty</a:t>
            </a:r>
            <a:r>
              <a:rPr sz="1200" dirty="0">
                <a:solidFill>
                  <a:srgbClr val="1E293B"/>
                </a:solidFill>
                <a:latin typeface="Calibri"/>
              </a:rPr>
              <a:t> aggregate</a:t>
            </a:r>
          </a:p>
          <a:p>
            <a:pPr>
              <a:spcAft>
                <a:spcPts val="400"/>
              </a:spcAft>
            </a:pPr>
            <a:r>
              <a:rPr sz="1200" dirty="0">
                <a:solidFill>
                  <a:srgbClr val="1E293B"/>
                </a:solidFill>
                <a:latin typeface="Calibri"/>
              </a:rPr>
              <a:t>▸  Fill missing dates with 0 for continuous time series</a:t>
            </a:r>
          </a:p>
          <a:p>
            <a:pPr>
              <a:spcAft>
                <a:spcPts val="400"/>
              </a:spcAft>
            </a:pPr>
            <a:r>
              <a:rPr sz="1200" dirty="0">
                <a:solidFill>
                  <a:srgbClr val="1E293B"/>
                </a:solidFill>
                <a:latin typeface="Calibri"/>
              </a:rPr>
              <a:t>▸  Engineer lag features: lag_1, lag_3, lag_7, lag_14, lag_21</a:t>
            </a:r>
          </a:p>
          <a:p>
            <a:pPr>
              <a:spcAft>
                <a:spcPts val="400"/>
              </a:spcAft>
            </a:pPr>
            <a:r>
              <a:rPr sz="1200" dirty="0">
                <a:solidFill>
                  <a:srgbClr val="1E293B"/>
                </a:solidFill>
                <a:latin typeface="Calibri"/>
              </a:rPr>
              <a:t>▸  Rolling stats: mean &amp; std for windows 7, 14, 30 days</a:t>
            </a:r>
          </a:p>
          <a:p>
            <a:pPr>
              <a:spcAft>
                <a:spcPts val="400"/>
              </a:spcAft>
            </a:pPr>
            <a:r>
              <a:rPr sz="1200" dirty="0">
                <a:solidFill>
                  <a:srgbClr val="1E293B"/>
                </a:solidFill>
                <a:latin typeface="Calibri"/>
              </a:rPr>
              <a:t>▸  Add </a:t>
            </a:r>
            <a:r>
              <a:rPr sz="1200" dirty="0" err="1">
                <a:solidFill>
                  <a:srgbClr val="1E293B"/>
                </a:solidFill>
                <a:latin typeface="Calibri"/>
              </a:rPr>
              <a:t>dow</a:t>
            </a:r>
            <a:r>
              <a:rPr sz="1200" dirty="0">
                <a:solidFill>
                  <a:srgbClr val="1E293B"/>
                </a:solidFill>
                <a:latin typeface="Calibri"/>
              </a:rPr>
              <a:t> (day-of-week) and month calendar features</a:t>
            </a:r>
          </a:p>
        </p:txBody>
      </p:sp>
      <p:sp>
        <p:nvSpPr>
          <p:cNvPr id="100" name="Rectangle 99">
            <a:extLst>
              <a:ext uri="{FF2B5EF4-FFF2-40B4-BE49-F238E27FC236}">
                <a16:creationId xmlns:a16="http://schemas.microsoft.com/office/drawing/2014/main" id="{FC017888-7E60-526A-EE7A-0803CAF62BE7}"/>
              </a:ext>
            </a:extLst>
          </p:cNvPr>
          <p:cNvSpPr/>
          <p:nvPr/>
        </p:nvSpPr>
        <p:spPr>
          <a:xfrm>
            <a:off x="428341" y="4376885"/>
            <a:ext cx="2925455" cy="2333799"/>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a:extLst>
              <a:ext uri="{FF2B5EF4-FFF2-40B4-BE49-F238E27FC236}">
                <a16:creationId xmlns:a16="http://schemas.microsoft.com/office/drawing/2014/main" id="{2DDCB9E5-C913-4A13-EA94-EE6AEA18529D}"/>
              </a:ext>
            </a:extLst>
          </p:cNvPr>
          <p:cNvSpPr txBox="1"/>
          <p:nvPr/>
        </p:nvSpPr>
        <p:spPr>
          <a:xfrm>
            <a:off x="611221" y="4376885"/>
            <a:ext cx="2679192" cy="347472"/>
          </a:xfrm>
          <a:prstGeom prst="rect">
            <a:avLst/>
          </a:prstGeom>
          <a:noFill/>
        </p:spPr>
        <p:txBody>
          <a:bodyPr wrap="square"/>
          <a:lstStyle/>
          <a:p>
            <a:pPr algn="l"/>
            <a:r>
              <a:rPr sz="1500" b="1" i="0" dirty="0">
                <a:solidFill>
                  <a:srgbClr val="1A2E4A"/>
                </a:solidFill>
                <a:latin typeface="Calibri"/>
              </a:rPr>
              <a:t>Data Quality Summary</a:t>
            </a:r>
          </a:p>
        </p:txBody>
      </p:sp>
      <p:sp>
        <p:nvSpPr>
          <p:cNvPr id="102" name="Rectangle 101">
            <a:extLst>
              <a:ext uri="{FF2B5EF4-FFF2-40B4-BE49-F238E27FC236}">
                <a16:creationId xmlns:a16="http://schemas.microsoft.com/office/drawing/2014/main" id="{DDEBE39C-618B-4406-B176-730F324A0473}"/>
              </a:ext>
            </a:extLst>
          </p:cNvPr>
          <p:cNvSpPr/>
          <p:nvPr/>
        </p:nvSpPr>
        <p:spPr>
          <a:xfrm>
            <a:off x="428341" y="4376885"/>
            <a:ext cx="45719" cy="34747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a:extLst>
              <a:ext uri="{FF2B5EF4-FFF2-40B4-BE49-F238E27FC236}">
                <a16:creationId xmlns:a16="http://schemas.microsoft.com/office/drawing/2014/main" id="{168B208A-9FC2-FB76-9243-01D772718807}"/>
              </a:ext>
            </a:extLst>
          </p:cNvPr>
          <p:cNvSpPr txBox="1"/>
          <p:nvPr/>
        </p:nvSpPr>
        <p:spPr>
          <a:xfrm>
            <a:off x="611221" y="4806653"/>
            <a:ext cx="2350434" cy="274320"/>
          </a:xfrm>
          <a:prstGeom prst="rect">
            <a:avLst/>
          </a:prstGeom>
          <a:noFill/>
        </p:spPr>
        <p:txBody>
          <a:bodyPr wrap="square"/>
          <a:lstStyle/>
          <a:p>
            <a:pPr algn="l"/>
            <a:r>
              <a:rPr sz="1200" b="0" i="0">
                <a:solidFill>
                  <a:srgbClr val="475569"/>
                </a:solidFill>
                <a:latin typeface="Calibri"/>
              </a:rPr>
              <a:t>Raw records:</a:t>
            </a:r>
          </a:p>
        </p:txBody>
      </p:sp>
      <p:sp>
        <p:nvSpPr>
          <p:cNvPr id="104" name="TextBox 103">
            <a:extLst>
              <a:ext uri="{FF2B5EF4-FFF2-40B4-BE49-F238E27FC236}">
                <a16:creationId xmlns:a16="http://schemas.microsoft.com/office/drawing/2014/main" id="{885841EB-89E3-32AA-A1BC-9C391C5D7BBA}"/>
              </a:ext>
            </a:extLst>
          </p:cNvPr>
          <p:cNvSpPr txBox="1"/>
          <p:nvPr/>
        </p:nvSpPr>
        <p:spPr>
          <a:xfrm>
            <a:off x="1562153" y="4806653"/>
            <a:ext cx="1728260" cy="274320"/>
          </a:xfrm>
          <a:prstGeom prst="rect">
            <a:avLst/>
          </a:prstGeom>
          <a:noFill/>
        </p:spPr>
        <p:txBody>
          <a:bodyPr wrap="square"/>
          <a:lstStyle/>
          <a:p>
            <a:pPr algn="r"/>
            <a:r>
              <a:rPr sz="1200" b="1" i="0" dirty="0">
                <a:solidFill>
                  <a:srgbClr val="0D9488"/>
                </a:solidFill>
                <a:latin typeface="Calibri"/>
              </a:rPr>
              <a:t>541,909</a:t>
            </a:r>
          </a:p>
        </p:txBody>
      </p:sp>
      <p:sp>
        <p:nvSpPr>
          <p:cNvPr id="105" name="TextBox 104">
            <a:extLst>
              <a:ext uri="{FF2B5EF4-FFF2-40B4-BE49-F238E27FC236}">
                <a16:creationId xmlns:a16="http://schemas.microsoft.com/office/drawing/2014/main" id="{64243F76-224E-8E9F-3582-745EF5940A16}"/>
              </a:ext>
            </a:extLst>
          </p:cNvPr>
          <p:cNvSpPr txBox="1"/>
          <p:nvPr/>
        </p:nvSpPr>
        <p:spPr>
          <a:xfrm>
            <a:off x="611221" y="5117549"/>
            <a:ext cx="2350434" cy="274320"/>
          </a:xfrm>
          <a:prstGeom prst="rect">
            <a:avLst/>
          </a:prstGeom>
          <a:noFill/>
        </p:spPr>
        <p:txBody>
          <a:bodyPr wrap="square"/>
          <a:lstStyle/>
          <a:p>
            <a:pPr algn="l"/>
            <a:r>
              <a:rPr sz="1200" b="0" i="0">
                <a:solidFill>
                  <a:srgbClr val="475569"/>
                </a:solidFill>
                <a:latin typeface="Calibri"/>
              </a:rPr>
              <a:t>After cleaning:</a:t>
            </a:r>
          </a:p>
        </p:txBody>
      </p:sp>
      <p:sp>
        <p:nvSpPr>
          <p:cNvPr id="106" name="TextBox 105">
            <a:extLst>
              <a:ext uri="{FF2B5EF4-FFF2-40B4-BE49-F238E27FC236}">
                <a16:creationId xmlns:a16="http://schemas.microsoft.com/office/drawing/2014/main" id="{A30A5889-857C-776D-F1ED-092D95CED89C}"/>
              </a:ext>
            </a:extLst>
          </p:cNvPr>
          <p:cNvSpPr txBox="1"/>
          <p:nvPr/>
        </p:nvSpPr>
        <p:spPr>
          <a:xfrm>
            <a:off x="1562153" y="5117549"/>
            <a:ext cx="1728260" cy="274320"/>
          </a:xfrm>
          <a:prstGeom prst="rect">
            <a:avLst/>
          </a:prstGeom>
          <a:noFill/>
        </p:spPr>
        <p:txBody>
          <a:bodyPr wrap="square"/>
          <a:lstStyle/>
          <a:p>
            <a:pPr algn="r"/>
            <a:r>
              <a:rPr lang="en-SG" sz="1200" b="1" i="0" dirty="0">
                <a:solidFill>
                  <a:srgbClr val="0D9488"/>
                </a:solidFill>
                <a:latin typeface="Calibri"/>
              </a:rPr>
              <a:t>530,104</a:t>
            </a:r>
            <a:endParaRPr sz="1200" b="1" i="0" dirty="0">
              <a:solidFill>
                <a:srgbClr val="0D9488"/>
              </a:solidFill>
              <a:latin typeface="Calibri"/>
            </a:endParaRPr>
          </a:p>
        </p:txBody>
      </p:sp>
      <p:sp>
        <p:nvSpPr>
          <p:cNvPr id="107" name="TextBox 106">
            <a:extLst>
              <a:ext uri="{FF2B5EF4-FFF2-40B4-BE49-F238E27FC236}">
                <a16:creationId xmlns:a16="http://schemas.microsoft.com/office/drawing/2014/main" id="{A17D7958-FC43-4652-ED1E-F753B3522261}"/>
              </a:ext>
            </a:extLst>
          </p:cNvPr>
          <p:cNvSpPr txBox="1"/>
          <p:nvPr/>
        </p:nvSpPr>
        <p:spPr>
          <a:xfrm>
            <a:off x="611221" y="5428445"/>
            <a:ext cx="2350434" cy="274320"/>
          </a:xfrm>
          <a:prstGeom prst="rect">
            <a:avLst/>
          </a:prstGeom>
          <a:noFill/>
        </p:spPr>
        <p:txBody>
          <a:bodyPr wrap="square"/>
          <a:lstStyle/>
          <a:p>
            <a:pPr algn="l"/>
            <a:r>
              <a:rPr lang="en-SG" sz="1200" b="0" i="0" dirty="0">
                <a:solidFill>
                  <a:srgbClr val="475569"/>
                </a:solidFill>
                <a:latin typeface="Calibri"/>
              </a:rPr>
              <a:t>Segmentation stream:</a:t>
            </a:r>
            <a:endParaRPr sz="1200" b="0" i="0" dirty="0">
              <a:solidFill>
                <a:srgbClr val="475569"/>
              </a:solidFill>
              <a:latin typeface="Calibri"/>
            </a:endParaRPr>
          </a:p>
        </p:txBody>
      </p:sp>
      <p:sp>
        <p:nvSpPr>
          <p:cNvPr id="108" name="TextBox 107">
            <a:extLst>
              <a:ext uri="{FF2B5EF4-FFF2-40B4-BE49-F238E27FC236}">
                <a16:creationId xmlns:a16="http://schemas.microsoft.com/office/drawing/2014/main" id="{9AC5737D-C624-2909-9906-8B0CD7AE071C}"/>
              </a:ext>
            </a:extLst>
          </p:cNvPr>
          <p:cNvSpPr txBox="1"/>
          <p:nvPr/>
        </p:nvSpPr>
        <p:spPr>
          <a:xfrm>
            <a:off x="1562153" y="5428445"/>
            <a:ext cx="1728260" cy="274320"/>
          </a:xfrm>
          <a:prstGeom prst="rect">
            <a:avLst/>
          </a:prstGeom>
          <a:noFill/>
        </p:spPr>
        <p:txBody>
          <a:bodyPr wrap="square"/>
          <a:lstStyle/>
          <a:p>
            <a:pPr algn="r"/>
            <a:r>
              <a:rPr lang="en-SG" sz="1200" b="1" i="0" dirty="0">
                <a:solidFill>
                  <a:srgbClr val="0D9488"/>
                </a:solidFill>
                <a:latin typeface="Calibri"/>
              </a:rPr>
              <a:t> 397,884 rows</a:t>
            </a:r>
            <a:endParaRPr sz="1200" b="1" i="0" dirty="0">
              <a:solidFill>
                <a:srgbClr val="0D9488"/>
              </a:solidFill>
              <a:latin typeface="Calibri"/>
            </a:endParaRPr>
          </a:p>
        </p:txBody>
      </p:sp>
      <p:sp>
        <p:nvSpPr>
          <p:cNvPr id="109" name="TextBox 108">
            <a:extLst>
              <a:ext uri="{FF2B5EF4-FFF2-40B4-BE49-F238E27FC236}">
                <a16:creationId xmlns:a16="http://schemas.microsoft.com/office/drawing/2014/main" id="{0EC26F5D-1249-76AF-DB03-7171CDE65134}"/>
              </a:ext>
            </a:extLst>
          </p:cNvPr>
          <p:cNvSpPr txBox="1"/>
          <p:nvPr/>
        </p:nvSpPr>
        <p:spPr>
          <a:xfrm>
            <a:off x="611221" y="5739340"/>
            <a:ext cx="2350434" cy="274320"/>
          </a:xfrm>
          <a:prstGeom prst="rect">
            <a:avLst/>
          </a:prstGeom>
          <a:noFill/>
        </p:spPr>
        <p:txBody>
          <a:bodyPr wrap="square"/>
          <a:lstStyle/>
          <a:p>
            <a:pPr algn="l"/>
            <a:r>
              <a:rPr lang="en-SG" sz="1200" b="0" i="0" dirty="0">
                <a:solidFill>
                  <a:srgbClr val="475569"/>
                </a:solidFill>
                <a:latin typeface="Calibri"/>
              </a:rPr>
              <a:t>Daily demand: </a:t>
            </a:r>
            <a:endParaRPr sz="1200" b="0" i="0" dirty="0">
              <a:solidFill>
                <a:srgbClr val="475569"/>
              </a:solidFill>
              <a:latin typeface="Calibri"/>
            </a:endParaRPr>
          </a:p>
        </p:txBody>
      </p:sp>
      <p:sp>
        <p:nvSpPr>
          <p:cNvPr id="110" name="TextBox 109">
            <a:extLst>
              <a:ext uri="{FF2B5EF4-FFF2-40B4-BE49-F238E27FC236}">
                <a16:creationId xmlns:a16="http://schemas.microsoft.com/office/drawing/2014/main" id="{E8A6B9D9-E0AB-E0E6-2CD5-EC334E54F855}"/>
              </a:ext>
            </a:extLst>
          </p:cNvPr>
          <p:cNvSpPr txBox="1"/>
          <p:nvPr/>
        </p:nvSpPr>
        <p:spPr>
          <a:xfrm>
            <a:off x="1562153" y="5739340"/>
            <a:ext cx="1728260" cy="274320"/>
          </a:xfrm>
          <a:prstGeom prst="rect">
            <a:avLst/>
          </a:prstGeom>
          <a:noFill/>
        </p:spPr>
        <p:txBody>
          <a:bodyPr wrap="square"/>
          <a:lstStyle/>
          <a:p>
            <a:pPr algn="r"/>
            <a:r>
              <a:rPr lang="en-SG" sz="1200" b="1" i="0" dirty="0">
                <a:solidFill>
                  <a:srgbClr val="0D9488"/>
                </a:solidFill>
                <a:latin typeface="Calibri"/>
              </a:rPr>
              <a:t> 276,148 records</a:t>
            </a:r>
            <a:endParaRPr sz="1200" b="1" i="0" dirty="0">
              <a:solidFill>
                <a:srgbClr val="0D9488"/>
              </a:solidFill>
              <a:latin typeface="Calibri"/>
            </a:endParaRPr>
          </a:p>
        </p:txBody>
      </p:sp>
      <p:sp>
        <p:nvSpPr>
          <p:cNvPr id="111" name="TextBox 110">
            <a:extLst>
              <a:ext uri="{FF2B5EF4-FFF2-40B4-BE49-F238E27FC236}">
                <a16:creationId xmlns:a16="http://schemas.microsoft.com/office/drawing/2014/main" id="{A975E400-AABC-9783-FA76-CAFA8D04FAB0}"/>
              </a:ext>
            </a:extLst>
          </p:cNvPr>
          <p:cNvSpPr txBox="1"/>
          <p:nvPr/>
        </p:nvSpPr>
        <p:spPr>
          <a:xfrm>
            <a:off x="611221" y="6050236"/>
            <a:ext cx="2350434" cy="274320"/>
          </a:xfrm>
          <a:prstGeom prst="rect">
            <a:avLst/>
          </a:prstGeom>
          <a:noFill/>
        </p:spPr>
        <p:txBody>
          <a:bodyPr wrap="square"/>
          <a:lstStyle/>
          <a:p>
            <a:pPr algn="l"/>
            <a:r>
              <a:rPr sz="1200" b="0" i="0">
                <a:solidFill>
                  <a:srgbClr val="475569"/>
                </a:solidFill>
                <a:latin typeface="Calibri"/>
              </a:rPr>
              <a:t>Date range:</a:t>
            </a:r>
          </a:p>
        </p:txBody>
      </p:sp>
      <p:sp>
        <p:nvSpPr>
          <p:cNvPr id="112" name="TextBox 111">
            <a:extLst>
              <a:ext uri="{FF2B5EF4-FFF2-40B4-BE49-F238E27FC236}">
                <a16:creationId xmlns:a16="http://schemas.microsoft.com/office/drawing/2014/main" id="{3FD533A9-7E43-D409-6581-29BFE5ACA75A}"/>
              </a:ext>
            </a:extLst>
          </p:cNvPr>
          <p:cNvSpPr txBox="1"/>
          <p:nvPr/>
        </p:nvSpPr>
        <p:spPr>
          <a:xfrm>
            <a:off x="1562153" y="6050236"/>
            <a:ext cx="1728260" cy="274320"/>
          </a:xfrm>
          <a:prstGeom prst="rect">
            <a:avLst/>
          </a:prstGeom>
          <a:noFill/>
        </p:spPr>
        <p:txBody>
          <a:bodyPr wrap="square"/>
          <a:lstStyle/>
          <a:p>
            <a:pPr algn="r"/>
            <a:r>
              <a:rPr sz="1200" b="1" i="0">
                <a:solidFill>
                  <a:srgbClr val="0D9488"/>
                </a:solidFill>
                <a:latin typeface="Calibri"/>
              </a:rPr>
              <a:t>Dec 2010 – Dec 2011</a:t>
            </a:r>
          </a:p>
        </p:txBody>
      </p:sp>
      <p:sp>
        <p:nvSpPr>
          <p:cNvPr id="113" name="TextBox 112">
            <a:extLst>
              <a:ext uri="{FF2B5EF4-FFF2-40B4-BE49-F238E27FC236}">
                <a16:creationId xmlns:a16="http://schemas.microsoft.com/office/drawing/2014/main" id="{680CD4CA-B435-9E72-B8EF-664BFBC7CCFD}"/>
              </a:ext>
            </a:extLst>
          </p:cNvPr>
          <p:cNvSpPr txBox="1"/>
          <p:nvPr/>
        </p:nvSpPr>
        <p:spPr>
          <a:xfrm>
            <a:off x="611221" y="6361132"/>
            <a:ext cx="2350434" cy="274320"/>
          </a:xfrm>
          <a:prstGeom prst="rect">
            <a:avLst/>
          </a:prstGeom>
          <a:noFill/>
        </p:spPr>
        <p:txBody>
          <a:bodyPr wrap="square"/>
          <a:lstStyle/>
          <a:p>
            <a:pPr algn="l"/>
            <a:r>
              <a:rPr sz="1200" b="0" i="0">
                <a:solidFill>
                  <a:srgbClr val="475569"/>
                </a:solidFill>
                <a:latin typeface="Calibri"/>
              </a:rPr>
              <a:t>Final SKUs for modelling:</a:t>
            </a:r>
          </a:p>
        </p:txBody>
      </p:sp>
      <p:sp>
        <p:nvSpPr>
          <p:cNvPr id="114" name="TextBox 113">
            <a:extLst>
              <a:ext uri="{FF2B5EF4-FFF2-40B4-BE49-F238E27FC236}">
                <a16:creationId xmlns:a16="http://schemas.microsoft.com/office/drawing/2014/main" id="{656716D0-AE2A-6E55-0C0F-96590769C539}"/>
              </a:ext>
            </a:extLst>
          </p:cNvPr>
          <p:cNvSpPr txBox="1"/>
          <p:nvPr/>
        </p:nvSpPr>
        <p:spPr>
          <a:xfrm>
            <a:off x="1562153" y="6361132"/>
            <a:ext cx="1728260" cy="274320"/>
          </a:xfrm>
          <a:prstGeom prst="rect">
            <a:avLst/>
          </a:prstGeom>
          <a:noFill/>
        </p:spPr>
        <p:txBody>
          <a:bodyPr wrap="square"/>
          <a:lstStyle/>
          <a:p>
            <a:pPr algn="r"/>
            <a:r>
              <a:rPr lang="en-SG" sz="1200" b="1" i="0" dirty="0">
                <a:solidFill>
                  <a:srgbClr val="0D9488"/>
                </a:solidFill>
                <a:latin typeface="Calibri"/>
              </a:rPr>
              <a:t>3,922</a:t>
            </a:r>
            <a:endParaRPr sz="1200" b="1" i="0" dirty="0">
              <a:solidFill>
                <a:srgbClr val="0D9488"/>
              </a:solidFill>
              <a:latin typeface="Calibri"/>
            </a:endParaRPr>
          </a:p>
        </p:txBody>
      </p:sp>
      <p:sp>
        <p:nvSpPr>
          <p:cNvPr id="134" name="Shape 28">
            <a:extLst>
              <a:ext uri="{FF2B5EF4-FFF2-40B4-BE49-F238E27FC236}">
                <a16:creationId xmlns:a16="http://schemas.microsoft.com/office/drawing/2014/main" id="{AA408A79-A3E8-1F74-19E6-78416AF7D3C2}"/>
              </a:ext>
            </a:extLst>
          </p:cNvPr>
          <p:cNvSpPr/>
          <p:nvPr/>
        </p:nvSpPr>
        <p:spPr>
          <a:xfrm>
            <a:off x="6727834" y="1266881"/>
            <a:ext cx="4343400" cy="2697480"/>
          </a:xfrm>
          <a:prstGeom prst="rect">
            <a:avLst/>
          </a:prstGeom>
          <a:solidFill>
            <a:srgbClr val="162032"/>
          </a:solidFill>
          <a:ln w="12700">
            <a:solidFill>
              <a:srgbClr val="1E3A5F"/>
            </a:solidFill>
            <a:prstDash val="solid"/>
          </a:ln>
          <a:effectLst>
            <a:outerShdw blurRad="101600" dist="25400" dir="8100000" algn="bl" rotWithShape="0">
              <a:srgbClr val="000000">
                <a:alpha val="18000"/>
              </a:srgbClr>
            </a:outerShdw>
          </a:effectLst>
        </p:spPr>
        <p:txBody>
          <a:bodyPr/>
          <a:lstStyle/>
          <a:p>
            <a:endParaRPr lang="en-SG"/>
          </a:p>
        </p:txBody>
      </p:sp>
      <p:sp>
        <p:nvSpPr>
          <p:cNvPr id="135" name="Shape 29">
            <a:extLst>
              <a:ext uri="{FF2B5EF4-FFF2-40B4-BE49-F238E27FC236}">
                <a16:creationId xmlns:a16="http://schemas.microsoft.com/office/drawing/2014/main" id="{17AAC00A-1D5E-CA0A-5873-F32EEE005AFE}"/>
              </a:ext>
            </a:extLst>
          </p:cNvPr>
          <p:cNvSpPr/>
          <p:nvPr/>
        </p:nvSpPr>
        <p:spPr>
          <a:xfrm>
            <a:off x="6727834" y="1266881"/>
            <a:ext cx="4343400" cy="54864"/>
          </a:xfrm>
          <a:prstGeom prst="rect">
            <a:avLst/>
          </a:prstGeom>
          <a:solidFill>
            <a:srgbClr val="0077B6"/>
          </a:solidFill>
          <a:ln w="12700">
            <a:solidFill>
              <a:srgbClr val="0077B6"/>
            </a:solidFill>
            <a:prstDash val="solid"/>
          </a:ln>
        </p:spPr>
        <p:txBody>
          <a:bodyPr/>
          <a:lstStyle/>
          <a:p>
            <a:endParaRPr lang="en-SG"/>
          </a:p>
        </p:txBody>
      </p:sp>
      <p:sp>
        <p:nvSpPr>
          <p:cNvPr id="136" name="Text 30">
            <a:extLst>
              <a:ext uri="{FF2B5EF4-FFF2-40B4-BE49-F238E27FC236}">
                <a16:creationId xmlns:a16="http://schemas.microsoft.com/office/drawing/2014/main" id="{1708117C-A509-185C-48CC-2CA3D6B78F0D}"/>
              </a:ext>
            </a:extLst>
          </p:cNvPr>
          <p:cNvSpPr/>
          <p:nvPr/>
        </p:nvSpPr>
        <p:spPr>
          <a:xfrm>
            <a:off x="6892426" y="1385753"/>
            <a:ext cx="397764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solidFill>
                  <a:srgbClr val="90E0EF"/>
                </a:solidFill>
              </a:rPr>
              <a:t>Chronological Train / Val / Test Split</a:t>
            </a:r>
            <a:endParaRPr lang="en-US" sz="1200" dirty="0"/>
          </a:p>
        </p:txBody>
      </p:sp>
      <p:sp>
        <p:nvSpPr>
          <p:cNvPr id="137" name="Text 31">
            <a:extLst>
              <a:ext uri="{FF2B5EF4-FFF2-40B4-BE49-F238E27FC236}">
                <a16:creationId xmlns:a16="http://schemas.microsoft.com/office/drawing/2014/main" id="{6BE7D104-AAEA-A4CE-F98B-5BE4E19C727E}"/>
              </a:ext>
            </a:extLst>
          </p:cNvPr>
          <p:cNvSpPr/>
          <p:nvPr/>
        </p:nvSpPr>
        <p:spPr>
          <a:xfrm>
            <a:off x="6892426" y="1751513"/>
            <a:ext cx="3977640"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950" i="1" dirty="0">
                <a:solidFill>
                  <a:srgbClr val="64748B"/>
                </a:solidFill>
              </a:rPr>
              <a:t>No shuffling - chronological order preserved to prevent data leakage</a:t>
            </a:r>
            <a:endParaRPr lang="en-US" sz="950" dirty="0"/>
          </a:p>
        </p:txBody>
      </p:sp>
      <p:sp>
        <p:nvSpPr>
          <p:cNvPr id="138" name="Shape 32">
            <a:extLst>
              <a:ext uri="{FF2B5EF4-FFF2-40B4-BE49-F238E27FC236}">
                <a16:creationId xmlns:a16="http://schemas.microsoft.com/office/drawing/2014/main" id="{8887E2AD-C313-5D68-F6DA-5FD29A3B95C4}"/>
              </a:ext>
            </a:extLst>
          </p:cNvPr>
          <p:cNvSpPr/>
          <p:nvPr/>
        </p:nvSpPr>
        <p:spPr>
          <a:xfrm>
            <a:off x="6892426" y="2272721"/>
            <a:ext cx="2697480" cy="411480"/>
          </a:xfrm>
          <a:prstGeom prst="rect">
            <a:avLst/>
          </a:prstGeom>
          <a:solidFill>
            <a:srgbClr val="0077B6"/>
          </a:solidFill>
          <a:ln w="12700">
            <a:solidFill>
              <a:srgbClr val="0077B6"/>
            </a:solidFill>
            <a:prstDash val="solid"/>
          </a:ln>
        </p:spPr>
        <p:txBody>
          <a:bodyPr/>
          <a:lstStyle/>
          <a:p>
            <a:endParaRPr lang="en-SG"/>
          </a:p>
        </p:txBody>
      </p:sp>
      <p:sp>
        <p:nvSpPr>
          <p:cNvPr id="139" name="Text 33">
            <a:extLst>
              <a:ext uri="{FF2B5EF4-FFF2-40B4-BE49-F238E27FC236}">
                <a16:creationId xmlns:a16="http://schemas.microsoft.com/office/drawing/2014/main" id="{202E1ED9-E878-AC78-CF68-65DD791FFE04}"/>
              </a:ext>
            </a:extLst>
          </p:cNvPr>
          <p:cNvSpPr/>
          <p:nvPr/>
        </p:nvSpPr>
        <p:spPr>
          <a:xfrm>
            <a:off x="6892426" y="2272721"/>
            <a:ext cx="2697480" cy="21945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00" b="1" dirty="0">
                <a:solidFill>
                  <a:srgbClr val="FFFFFF"/>
                </a:solidFill>
              </a:rPr>
              <a:t>Train 70%</a:t>
            </a:r>
            <a:endParaRPr lang="en-US" sz="800" dirty="0"/>
          </a:p>
        </p:txBody>
      </p:sp>
      <p:sp>
        <p:nvSpPr>
          <p:cNvPr id="140" name="Text 34">
            <a:extLst>
              <a:ext uri="{FF2B5EF4-FFF2-40B4-BE49-F238E27FC236}">
                <a16:creationId xmlns:a16="http://schemas.microsoft.com/office/drawing/2014/main" id="{EDC23CDE-7274-218E-59B8-B2E1A881D187}"/>
              </a:ext>
            </a:extLst>
          </p:cNvPr>
          <p:cNvSpPr/>
          <p:nvPr/>
        </p:nvSpPr>
        <p:spPr>
          <a:xfrm>
            <a:off x="6892426" y="2492177"/>
            <a:ext cx="2697480" cy="1828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00" dirty="0">
                <a:solidFill>
                  <a:srgbClr val="FFFFFF"/>
                </a:solidFill>
              </a:rPr>
              <a:t>Dec 2010 – Aug 2011</a:t>
            </a:r>
            <a:endParaRPr lang="en-US" sz="700" dirty="0"/>
          </a:p>
        </p:txBody>
      </p:sp>
      <p:sp>
        <p:nvSpPr>
          <p:cNvPr id="141" name="Shape 35">
            <a:extLst>
              <a:ext uri="{FF2B5EF4-FFF2-40B4-BE49-F238E27FC236}">
                <a16:creationId xmlns:a16="http://schemas.microsoft.com/office/drawing/2014/main" id="{058B02D8-0BCA-B1CE-F597-7A575F441C78}"/>
              </a:ext>
            </a:extLst>
          </p:cNvPr>
          <p:cNvSpPr/>
          <p:nvPr/>
        </p:nvSpPr>
        <p:spPr>
          <a:xfrm>
            <a:off x="9635626" y="2272721"/>
            <a:ext cx="758952" cy="411480"/>
          </a:xfrm>
          <a:prstGeom prst="rect">
            <a:avLst/>
          </a:prstGeom>
          <a:solidFill>
            <a:srgbClr val="00B4D8"/>
          </a:solidFill>
          <a:ln w="12700">
            <a:solidFill>
              <a:srgbClr val="00B4D8"/>
            </a:solidFill>
            <a:prstDash val="solid"/>
          </a:ln>
        </p:spPr>
        <p:txBody>
          <a:bodyPr/>
          <a:lstStyle/>
          <a:p>
            <a:endParaRPr lang="en-SG"/>
          </a:p>
        </p:txBody>
      </p:sp>
      <p:sp>
        <p:nvSpPr>
          <p:cNvPr id="142" name="Text 36">
            <a:extLst>
              <a:ext uri="{FF2B5EF4-FFF2-40B4-BE49-F238E27FC236}">
                <a16:creationId xmlns:a16="http://schemas.microsoft.com/office/drawing/2014/main" id="{76CCF43B-46C0-C598-7F29-F2F237B59A00}"/>
              </a:ext>
            </a:extLst>
          </p:cNvPr>
          <p:cNvSpPr/>
          <p:nvPr/>
        </p:nvSpPr>
        <p:spPr>
          <a:xfrm>
            <a:off x="9635626" y="2272721"/>
            <a:ext cx="758952" cy="21945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00" b="1" dirty="0">
                <a:solidFill>
                  <a:srgbClr val="FFFFFF"/>
                </a:solidFill>
              </a:rPr>
              <a:t>Val 15%</a:t>
            </a:r>
            <a:endParaRPr lang="en-US" sz="800" dirty="0"/>
          </a:p>
        </p:txBody>
      </p:sp>
      <p:sp>
        <p:nvSpPr>
          <p:cNvPr id="143" name="Text 37">
            <a:extLst>
              <a:ext uri="{FF2B5EF4-FFF2-40B4-BE49-F238E27FC236}">
                <a16:creationId xmlns:a16="http://schemas.microsoft.com/office/drawing/2014/main" id="{A490F50D-AADD-5992-00A7-5B118EFBB134}"/>
              </a:ext>
            </a:extLst>
          </p:cNvPr>
          <p:cNvSpPr/>
          <p:nvPr/>
        </p:nvSpPr>
        <p:spPr>
          <a:xfrm>
            <a:off x="9635626" y="2492177"/>
            <a:ext cx="758952" cy="1828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00" dirty="0">
                <a:solidFill>
                  <a:srgbClr val="FFFFFF"/>
                </a:solidFill>
              </a:rPr>
              <a:t>Aug – Oct 2011</a:t>
            </a:r>
            <a:endParaRPr lang="en-US" sz="700" dirty="0"/>
          </a:p>
        </p:txBody>
      </p:sp>
      <p:sp>
        <p:nvSpPr>
          <p:cNvPr id="144" name="Shape 38">
            <a:extLst>
              <a:ext uri="{FF2B5EF4-FFF2-40B4-BE49-F238E27FC236}">
                <a16:creationId xmlns:a16="http://schemas.microsoft.com/office/drawing/2014/main" id="{A50E9B72-927E-7EA0-3B35-7F6ACBEFD036}"/>
              </a:ext>
            </a:extLst>
          </p:cNvPr>
          <p:cNvSpPr/>
          <p:nvPr/>
        </p:nvSpPr>
        <p:spPr>
          <a:xfrm>
            <a:off x="10440298" y="2272721"/>
            <a:ext cx="594360" cy="411480"/>
          </a:xfrm>
          <a:prstGeom prst="rect">
            <a:avLst/>
          </a:prstGeom>
          <a:solidFill>
            <a:srgbClr val="F59E0B"/>
          </a:solidFill>
          <a:ln w="12700">
            <a:solidFill>
              <a:srgbClr val="F59E0B"/>
            </a:solidFill>
            <a:prstDash val="solid"/>
          </a:ln>
        </p:spPr>
        <p:txBody>
          <a:bodyPr/>
          <a:lstStyle/>
          <a:p>
            <a:endParaRPr lang="en-SG"/>
          </a:p>
        </p:txBody>
      </p:sp>
      <p:sp>
        <p:nvSpPr>
          <p:cNvPr id="145" name="Text 39">
            <a:extLst>
              <a:ext uri="{FF2B5EF4-FFF2-40B4-BE49-F238E27FC236}">
                <a16:creationId xmlns:a16="http://schemas.microsoft.com/office/drawing/2014/main" id="{73B86BB2-9814-7D2E-0764-C9087B5A3C09}"/>
              </a:ext>
            </a:extLst>
          </p:cNvPr>
          <p:cNvSpPr/>
          <p:nvPr/>
        </p:nvSpPr>
        <p:spPr>
          <a:xfrm>
            <a:off x="10440298" y="2272721"/>
            <a:ext cx="594360" cy="21945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00" b="1" dirty="0">
                <a:solidFill>
                  <a:srgbClr val="FFFFFF"/>
                </a:solidFill>
              </a:rPr>
              <a:t>Test 15%</a:t>
            </a:r>
            <a:endParaRPr lang="en-US" sz="800" dirty="0"/>
          </a:p>
        </p:txBody>
      </p:sp>
      <p:sp>
        <p:nvSpPr>
          <p:cNvPr id="146" name="Text 40">
            <a:extLst>
              <a:ext uri="{FF2B5EF4-FFF2-40B4-BE49-F238E27FC236}">
                <a16:creationId xmlns:a16="http://schemas.microsoft.com/office/drawing/2014/main" id="{0DE90849-FFED-77F0-04C0-AF2A1D4FF640}"/>
              </a:ext>
            </a:extLst>
          </p:cNvPr>
          <p:cNvSpPr/>
          <p:nvPr/>
        </p:nvSpPr>
        <p:spPr>
          <a:xfrm>
            <a:off x="10440298" y="2492177"/>
            <a:ext cx="594360" cy="1828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00" dirty="0">
                <a:solidFill>
                  <a:srgbClr val="FFFFFF"/>
                </a:solidFill>
              </a:rPr>
              <a:t>Oct – Dec 2011</a:t>
            </a:r>
            <a:endParaRPr lang="en-US" sz="700" dirty="0"/>
          </a:p>
        </p:txBody>
      </p:sp>
      <p:sp>
        <p:nvSpPr>
          <p:cNvPr id="147" name="Text 41">
            <a:extLst>
              <a:ext uri="{FF2B5EF4-FFF2-40B4-BE49-F238E27FC236}">
                <a16:creationId xmlns:a16="http://schemas.microsoft.com/office/drawing/2014/main" id="{26D23DDB-B98B-74D9-403F-40C25F7E2E11}"/>
              </a:ext>
            </a:extLst>
          </p:cNvPr>
          <p:cNvSpPr/>
          <p:nvPr/>
        </p:nvSpPr>
        <p:spPr>
          <a:xfrm>
            <a:off x="6892426" y="2757353"/>
            <a:ext cx="397764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900" dirty="0">
                <a:solidFill>
                  <a:srgbClr val="64748B"/>
                </a:solidFill>
              </a:rPr>
              <a:t>Features engineered: lag_1, lag_3, lag_7, lag_14, lag_21 · rolling mean/std (7, 14, 30d) · day-of-week · month</a:t>
            </a:r>
            <a:endParaRPr lang="en-US" sz="900" dirty="0"/>
          </a:p>
        </p:txBody>
      </p:sp>
      <p:sp>
        <p:nvSpPr>
          <p:cNvPr id="148" name="Text 42">
            <a:extLst>
              <a:ext uri="{FF2B5EF4-FFF2-40B4-BE49-F238E27FC236}">
                <a16:creationId xmlns:a16="http://schemas.microsoft.com/office/drawing/2014/main" id="{EF532395-E3F9-3D7A-1B29-08748686AB94}"/>
              </a:ext>
            </a:extLst>
          </p:cNvPr>
          <p:cNvSpPr/>
          <p:nvPr/>
        </p:nvSpPr>
        <p:spPr>
          <a:xfrm>
            <a:off x="6892426" y="3232841"/>
            <a:ext cx="397764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dirty="0">
                <a:solidFill>
                  <a:srgbClr val="90E0EF"/>
                </a:solidFill>
              </a:rPr>
              <a:t>Final features per SKU: 13 time-series features</a:t>
            </a:r>
            <a:endParaRPr lang="en-US" sz="1000" dirty="0"/>
          </a:p>
        </p:txBody>
      </p:sp>
      <p:sp>
        <p:nvSpPr>
          <p:cNvPr id="149" name="Text 43">
            <a:extLst>
              <a:ext uri="{FF2B5EF4-FFF2-40B4-BE49-F238E27FC236}">
                <a16:creationId xmlns:a16="http://schemas.microsoft.com/office/drawing/2014/main" id="{3C000A5D-5DCA-BD59-CBB5-EFCB1D985237}"/>
              </a:ext>
            </a:extLst>
          </p:cNvPr>
          <p:cNvSpPr/>
          <p:nvPr/>
        </p:nvSpPr>
        <p:spPr>
          <a:xfrm>
            <a:off x="6892426" y="3552881"/>
            <a:ext cx="397764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900" dirty="0">
                <a:solidFill>
                  <a:srgbClr val="64748B"/>
                </a:solidFill>
              </a:rPr>
              <a:t>8,161 train samples · 1,749 test samples (per SKU)</a:t>
            </a:r>
            <a:endParaRPr lang="en-US" sz="900" dirty="0"/>
          </a:p>
        </p:txBody>
      </p:sp>
      <p:pic>
        <p:nvPicPr>
          <p:cNvPr id="151" name="Picture 150">
            <a:extLst>
              <a:ext uri="{FF2B5EF4-FFF2-40B4-BE49-F238E27FC236}">
                <a16:creationId xmlns:a16="http://schemas.microsoft.com/office/drawing/2014/main" id="{EB372BA7-3E17-3CFC-DCC3-04F14E39F322}"/>
              </a:ext>
            </a:extLst>
          </p:cNvPr>
          <p:cNvPicPr>
            <a:picLocks noChangeAspect="1"/>
          </p:cNvPicPr>
          <p:nvPr/>
        </p:nvPicPr>
        <p:blipFill>
          <a:blip r:embed="rId2"/>
          <a:stretch>
            <a:fillRect/>
          </a:stretch>
        </p:blipFill>
        <p:spPr>
          <a:xfrm>
            <a:off x="3904093" y="4357124"/>
            <a:ext cx="8287907" cy="2524477"/>
          </a:xfrm>
          <a:prstGeom prst="rect">
            <a:avLst/>
          </a:prstGeom>
        </p:spPr>
      </p:pic>
    </p:spTree>
    <p:extLst>
      <p:ext uri="{BB962C8B-B14F-4D97-AF65-F5344CB8AC3E}">
        <p14:creationId xmlns:p14="http://schemas.microsoft.com/office/powerpoint/2010/main" val="402439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53EFE-C9A3-F054-4B85-B4C0F42A417A}"/>
              </a:ext>
            </a:extLst>
          </p:cNvPr>
          <p:cNvSpPr>
            <a:spLocks noGrp="1"/>
          </p:cNvSpPr>
          <p:nvPr>
            <p:ph type="title"/>
          </p:nvPr>
        </p:nvSpPr>
        <p:spPr>
          <a:xfrm>
            <a:off x="2599210" y="445001"/>
            <a:ext cx="9316270" cy="1280890"/>
          </a:xfrm>
        </p:spPr>
        <p:txBody>
          <a:bodyPr>
            <a:normAutofit/>
          </a:bodyPr>
          <a:lstStyle/>
          <a:p>
            <a:r>
              <a:rPr lang="en-SG" sz="3200" dirty="0"/>
              <a:t>Sub 2: Demand Forecasting – Random Forest</a:t>
            </a:r>
          </a:p>
        </p:txBody>
      </p:sp>
      <p:sp>
        <p:nvSpPr>
          <p:cNvPr id="4" name="Slide Number Placeholder 3">
            <a:extLst>
              <a:ext uri="{FF2B5EF4-FFF2-40B4-BE49-F238E27FC236}">
                <a16:creationId xmlns:a16="http://schemas.microsoft.com/office/drawing/2014/main" id="{68F425EB-2230-285A-2EAB-B417646C41CF}"/>
              </a:ext>
            </a:extLst>
          </p:cNvPr>
          <p:cNvSpPr>
            <a:spLocks noGrp="1"/>
          </p:cNvSpPr>
          <p:nvPr>
            <p:ph type="sldNum" sz="quarter" idx="12"/>
          </p:nvPr>
        </p:nvSpPr>
        <p:spPr/>
        <p:txBody>
          <a:bodyPr/>
          <a:lstStyle/>
          <a:p>
            <a:fld id="{5A37AB63-62EB-4EDF-B1C9-C7FAE06A9E45}" type="slidenum">
              <a:rPr lang="en-SG" smtClean="0"/>
              <a:t>9</a:t>
            </a:fld>
            <a:endParaRPr lang="en-SG"/>
          </a:p>
        </p:txBody>
      </p:sp>
      <p:sp>
        <p:nvSpPr>
          <p:cNvPr id="6" name="Rectangle 5">
            <a:extLst>
              <a:ext uri="{FF2B5EF4-FFF2-40B4-BE49-F238E27FC236}">
                <a16:creationId xmlns:a16="http://schemas.microsoft.com/office/drawing/2014/main" id="{F672B9F6-26EC-FFC9-B452-E784767F6369}"/>
              </a:ext>
            </a:extLst>
          </p:cNvPr>
          <p:cNvSpPr/>
          <p:nvPr/>
        </p:nvSpPr>
        <p:spPr>
          <a:xfrm>
            <a:off x="276520" y="1299013"/>
            <a:ext cx="5577840" cy="303580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1B6EAA77-A53E-A464-8D0D-C2FB9B41D783}"/>
              </a:ext>
            </a:extLst>
          </p:cNvPr>
          <p:cNvSpPr txBox="1"/>
          <p:nvPr/>
        </p:nvSpPr>
        <p:spPr>
          <a:xfrm>
            <a:off x="459400" y="1390453"/>
            <a:ext cx="5212080" cy="347472"/>
          </a:xfrm>
          <a:prstGeom prst="rect">
            <a:avLst/>
          </a:prstGeom>
          <a:noFill/>
        </p:spPr>
        <p:txBody>
          <a:bodyPr wrap="square"/>
          <a:lstStyle/>
          <a:p>
            <a:pPr algn="l"/>
            <a:r>
              <a:rPr sz="1500" b="1" i="0">
                <a:solidFill>
                  <a:srgbClr val="1A2E4A"/>
                </a:solidFill>
                <a:latin typeface="Calibri"/>
              </a:rPr>
              <a:t>Random Forest Approach</a:t>
            </a:r>
          </a:p>
        </p:txBody>
      </p:sp>
      <p:sp>
        <p:nvSpPr>
          <p:cNvPr id="8" name="Rectangle 7">
            <a:extLst>
              <a:ext uri="{FF2B5EF4-FFF2-40B4-BE49-F238E27FC236}">
                <a16:creationId xmlns:a16="http://schemas.microsoft.com/office/drawing/2014/main" id="{5C54A41B-050B-244A-EC11-B1180868EAD4}"/>
              </a:ext>
            </a:extLst>
          </p:cNvPr>
          <p:cNvSpPr/>
          <p:nvPr/>
        </p:nvSpPr>
        <p:spPr>
          <a:xfrm>
            <a:off x="276520" y="1299013"/>
            <a:ext cx="54864" cy="34747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4DD8598E-9FDE-5E37-10E9-4A01894B8D62}"/>
              </a:ext>
            </a:extLst>
          </p:cNvPr>
          <p:cNvSpPr txBox="1"/>
          <p:nvPr/>
        </p:nvSpPr>
        <p:spPr>
          <a:xfrm>
            <a:off x="459400" y="1820221"/>
            <a:ext cx="5212080" cy="4572000"/>
          </a:xfrm>
          <a:prstGeom prst="rect">
            <a:avLst/>
          </a:prstGeom>
          <a:noFill/>
        </p:spPr>
        <p:txBody>
          <a:bodyPr wrap="square">
            <a:spAutoFit/>
          </a:bodyPr>
          <a:lstStyle/>
          <a:p>
            <a:pPr>
              <a:spcAft>
                <a:spcPts val="500"/>
              </a:spcAft>
            </a:pPr>
            <a:r>
              <a:rPr sz="1200">
                <a:solidFill>
                  <a:srgbClr val="1E293B"/>
                </a:solidFill>
                <a:latin typeface="Calibri"/>
              </a:rPr>
              <a:t>▸  Algorithm: RandomForestRegressor (n_estimators=200)</a:t>
            </a:r>
          </a:p>
          <a:p>
            <a:pPr>
              <a:spcAft>
                <a:spcPts val="500"/>
              </a:spcAft>
            </a:pPr>
            <a:r>
              <a:rPr sz="1200">
                <a:solidFill>
                  <a:srgbClr val="1E293B"/>
                </a:solidFill>
                <a:latin typeface="Calibri"/>
              </a:rPr>
              <a:t>▸  Feature set: 5 lags + 6 rolling stats + 2 calendar = 13 features</a:t>
            </a:r>
          </a:p>
          <a:p>
            <a:pPr>
              <a:spcAft>
                <a:spcPts val="500"/>
              </a:spcAft>
            </a:pPr>
            <a:r>
              <a:rPr sz="1200">
                <a:solidFill>
                  <a:srgbClr val="1E293B"/>
                </a:solidFill>
                <a:latin typeface="Calibri"/>
              </a:rPr>
              <a:t>▸  Lag features: lag_1, lag_3, lag_7, lag_14, lag_21</a:t>
            </a:r>
          </a:p>
          <a:p>
            <a:pPr>
              <a:spcAft>
                <a:spcPts val="500"/>
              </a:spcAft>
            </a:pPr>
            <a:r>
              <a:rPr sz="1200">
                <a:solidFill>
                  <a:srgbClr val="1E293B"/>
                </a:solidFill>
                <a:latin typeface="Calibri"/>
              </a:rPr>
              <a:t>▸  Rolling windows: mean &amp; std over 7, 14, 30 days</a:t>
            </a:r>
          </a:p>
          <a:p>
            <a:pPr>
              <a:spcAft>
                <a:spcPts val="500"/>
              </a:spcAft>
            </a:pPr>
            <a:r>
              <a:rPr sz="1200">
                <a:solidFill>
                  <a:srgbClr val="1E293B"/>
                </a:solidFill>
                <a:latin typeface="Calibri"/>
              </a:rPr>
              <a:t>▸  Calendar features: day-of-week, month</a:t>
            </a:r>
          </a:p>
          <a:p>
            <a:pPr>
              <a:spcAft>
                <a:spcPts val="500"/>
              </a:spcAft>
            </a:pPr>
            <a:r>
              <a:rPr sz="1200">
                <a:solidFill>
                  <a:srgbClr val="1E293B"/>
                </a:solidFill>
                <a:latin typeface="Calibri"/>
              </a:rPr>
              <a:t>▸  Target variable: DailyQty (next day's demand)</a:t>
            </a:r>
          </a:p>
          <a:p>
            <a:pPr>
              <a:spcAft>
                <a:spcPts val="500"/>
              </a:spcAft>
            </a:pPr>
            <a:r>
              <a:rPr sz="1200">
                <a:solidFill>
                  <a:srgbClr val="1E293B"/>
                </a:solidFill>
                <a:latin typeface="Calibri"/>
              </a:rPr>
              <a:t>▸  Recursive forecast: each step uses previous prediction as lag</a:t>
            </a:r>
          </a:p>
          <a:p>
            <a:pPr>
              <a:spcAft>
                <a:spcPts val="500"/>
              </a:spcAft>
            </a:pPr>
            <a:r>
              <a:rPr sz="1200">
                <a:solidFill>
                  <a:srgbClr val="1E293B"/>
                </a:solidFill>
                <a:latin typeface="Calibri"/>
              </a:rPr>
              <a:t>▸  Forecast horizon: 14 days ahead per SKU</a:t>
            </a:r>
          </a:p>
          <a:p>
            <a:pPr>
              <a:spcAft>
                <a:spcPts val="500"/>
              </a:spcAft>
            </a:pPr>
            <a:r>
              <a:rPr sz="1200">
                <a:solidFill>
                  <a:srgbClr val="1E293B"/>
                </a:solidFill>
                <a:latin typeface="Calibri"/>
              </a:rPr>
              <a:t>▸  SKU filtering: only SKUs with &gt;50 sales days included</a:t>
            </a:r>
          </a:p>
          <a:p>
            <a:pPr>
              <a:spcAft>
                <a:spcPts val="500"/>
              </a:spcAft>
            </a:pPr>
            <a:r>
              <a:rPr sz="1200">
                <a:solidFill>
                  <a:srgbClr val="1E293B"/>
                </a:solidFill>
                <a:latin typeface="Calibri"/>
              </a:rPr>
              <a:t>▸  Evaluation: MAE, RMSE, R² on held-out test set</a:t>
            </a:r>
          </a:p>
        </p:txBody>
      </p:sp>
      <p:sp>
        <p:nvSpPr>
          <p:cNvPr id="11" name="Rectangle 10">
            <a:extLst>
              <a:ext uri="{FF2B5EF4-FFF2-40B4-BE49-F238E27FC236}">
                <a16:creationId xmlns:a16="http://schemas.microsoft.com/office/drawing/2014/main" id="{A521B17E-8EED-BCBD-7463-8EE4DFE92B8D}"/>
              </a:ext>
            </a:extLst>
          </p:cNvPr>
          <p:cNvSpPr/>
          <p:nvPr/>
        </p:nvSpPr>
        <p:spPr>
          <a:xfrm>
            <a:off x="276520" y="4426261"/>
            <a:ext cx="5577840" cy="22860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35DEDEFD-BB52-617D-F6EB-63F03919F1DF}"/>
              </a:ext>
            </a:extLst>
          </p:cNvPr>
          <p:cNvSpPr txBox="1"/>
          <p:nvPr/>
        </p:nvSpPr>
        <p:spPr>
          <a:xfrm>
            <a:off x="459400" y="4517701"/>
            <a:ext cx="5394960" cy="347472"/>
          </a:xfrm>
          <a:prstGeom prst="rect">
            <a:avLst/>
          </a:prstGeom>
          <a:noFill/>
        </p:spPr>
        <p:txBody>
          <a:bodyPr wrap="square"/>
          <a:lstStyle/>
          <a:p>
            <a:pPr algn="l"/>
            <a:r>
              <a:rPr sz="1500" b="1" i="0">
                <a:solidFill>
                  <a:srgbClr val="1A2E4A"/>
                </a:solidFill>
                <a:latin typeface="Calibri"/>
              </a:rPr>
              <a:t>Feature Importance (Top Features)</a:t>
            </a:r>
          </a:p>
        </p:txBody>
      </p:sp>
      <p:sp>
        <p:nvSpPr>
          <p:cNvPr id="13" name="Rectangle 12">
            <a:extLst>
              <a:ext uri="{FF2B5EF4-FFF2-40B4-BE49-F238E27FC236}">
                <a16:creationId xmlns:a16="http://schemas.microsoft.com/office/drawing/2014/main" id="{8349A33C-3A86-2961-86CE-A3C056F2E100}"/>
              </a:ext>
            </a:extLst>
          </p:cNvPr>
          <p:cNvSpPr/>
          <p:nvPr/>
        </p:nvSpPr>
        <p:spPr>
          <a:xfrm>
            <a:off x="276520" y="4426261"/>
            <a:ext cx="54864" cy="34747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716EE17C-91A3-B6FC-C12A-D993B52B00CC}"/>
              </a:ext>
            </a:extLst>
          </p:cNvPr>
          <p:cNvSpPr txBox="1"/>
          <p:nvPr/>
        </p:nvSpPr>
        <p:spPr>
          <a:xfrm>
            <a:off x="459400" y="4947469"/>
            <a:ext cx="2011680" cy="256032"/>
          </a:xfrm>
          <a:prstGeom prst="rect">
            <a:avLst/>
          </a:prstGeom>
          <a:noFill/>
        </p:spPr>
        <p:txBody>
          <a:bodyPr wrap="square"/>
          <a:lstStyle/>
          <a:p>
            <a:pPr algn="l"/>
            <a:r>
              <a:rPr sz="1100" b="0" i="0">
                <a:solidFill>
                  <a:srgbClr val="1E293B"/>
                </a:solidFill>
                <a:latin typeface="Calibri"/>
              </a:rPr>
              <a:t>lag_1 (yesterday)</a:t>
            </a:r>
          </a:p>
        </p:txBody>
      </p:sp>
      <p:sp>
        <p:nvSpPr>
          <p:cNvPr id="15" name="Rectangle 14">
            <a:extLst>
              <a:ext uri="{FF2B5EF4-FFF2-40B4-BE49-F238E27FC236}">
                <a16:creationId xmlns:a16="http://schemas.microsoft.com/office/drawing/2014/main" id="{255B3B31-6B65-358F-8F91-A83AE1A4AB83}"/>
              </a:ext>
            </a:extLst>
          </p:cNvPr>
          <p:cNvSpPr/>
          <p:nvPr/>
        </p:nvSpPr>
        <p:spPr>
          <a:xfrm>
            <a:off x="2516800" y="4984045"/>
            <a:ext cx="1024128" cy="2011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D175A798-A0BA-1251-E65B-F176E476CAE4}"/>
              </a:ext>
            </a:extLst>
          </p:cNvPr>
          <p:cNvSpPr txBox="1"/>
          <p:nvPr/>
        </p:nvSpPr>
        <p:spPr>
          <a:xfrm>
            <a:off x="3586648" y="4947469"/>
            <a:ext cx="457200" cy="256032"/>
          </a:xfrm>
          <a:prstGeom prst="rect">
            <a:avLst/>
          </a:prstGeom>
          <a:noFill/>
        </p:spPr>
        <p:txBody>
          <a:bodyPr wrap="square"/>
          <a:lstStyle/>
          <a:p>
            <a:pPr algn="l"/>
            <a:r>
              <a:rPr sz="1100" b="0" i="0">
                <a:solidFill>
                  <a:srgbClr val="475569"/>
                </a:solidFill>
                <a:latin typeface="Calibri"/>
              </a:rPr>
              <a:t>28%</a:t>
            </a:r>
          </a:p>
        </p:txBody>
      </p:sp>
      <p:sp>
        <p:nvSpPr>
          <p:cNvPr id="17" name="TextBox 16">
            <a:extLst>
              <a:ext uri="{FF2B5EF4-FFF2-40B4-BE49-F238E27FC236}">
                <a16:creationId xmlns:a16="http://schemas.microsoft.com/office/drawing/2014/main" id="{9E7F3C68-AC9C-493D-2AEC-274B07142845}"/>
              </a:ext>
            </a:extLst>
          </p:cNvPr>
          <p:cNvSpPr txBox="1"/>
          <p:nvPr/>
        </p:nvSpPr>
        <p:spPr>
          <a:xfrm>
            <a:off x="459400" y="5276653"/>
            <a:ext cx="2011680" cy="256032"/>
          </a:xfrm>
          <a:prstGeom prst="rect">
            <a:avLst/>
          </a:prstGeom>
          <a:noFill/>
        </p:spPr>
        <p:txBody>
          <a:bodyPr wrap="square"/>
          <a:lstStyle/>
          <a:p>
            <a:pPr algn="l"/>
            <a:r>
              <a:rPr sz="1100" b="0" i="0">
                <a:solidFill>
                  <a:srgbClr val="1E293B"/>
                </a:solidFill>
                <a:latin typeface="Calibri"/>
              </a:rPr>
              <a:t>lag_7 (last week)</a:t>
            </a:r>
          </a:p>
        </p:txBody>
      </p:sp>
      <p:sp>
        <p:nvSpPr>
          <p:cNvPr id="18" name="Rectangle 17">
            <a:extLst>
              <a:ext uri="{FF2B5EF4-FFF2-40B4-BE49-F238E27FC236}">
                <a16:creationId xmlns:a16="http://schemas.microsoft.com/office/drawing/2014/main" id="{D8B944A5-8A67-DB23-BFE0-0725296F269F}"/>
              </a:ext>
            </a:extLst>
          </p:cNvPr>
          <p:cNvSpPr/>
          <p:nvPr/>
        </p:nvSpPr>
        <p:spPr>
          <a:xfrm>
            <a:off x="2516800" y="5313229"/>
            <a:ext cx="804672" cy="2011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BA83F107-790A-0A78-A507-DA8F7FDA1DC2}"/>
              </a:ext>
            </a:extLst>
          </p:cNvPr>
          <p:cNvSpPr txBox="1"/>
          <p:nvPr/>
        </p:nvSpPr>
        <p:spPr>
          <a:xfrm>
            <a:off x="3367192" y="5276653"/>
            <a:ext cx="457200" cy="256032"/>
          </a:xfrm>
          <a:prstGeom prst="rect">
            <a:avLst/>
          </a:prstGeom>
          <a:noFill/>
        </p:spPr>
        <p:txBody>
          <a:bodyPr wrap="square"/>
          <a:lstStyle/>
          <a:p>
            <a:pPr algn="l"/>
            <a:r>
              <a:rPr sz="1100" b="0" i="0">
                <a:solidFill>
                  <a:srgbClr val="475569"/>
                </a:solidFill>
                <a:latin typeface="Calibri"/>
              </a:rPr>
              <a:t>22%</a:t>
            </a:r>
          </a:p>
        </p:txBody>
      </p:sp>
      <p:sp>
        <p:nvSpPr>
          <p:cNvPr id="20" name="TextBox 19">
            <a:extLst>
              <a:ext uri="{FF2B5EF4-FFF2-40B4-BE49-F238E27FC236}">
                <a16:creationId xmlns:a16="http://schemas.microsoft.com/office/drawing/2014/main" id="{3C0A18A9-F42E-1FD0-697B-8E60A5910CF5}"/>
              </a:ext>
            </a:extLst>
          </p:cNvPr>
          <p:cNvSpPr txBox="1"/>
          <p:nvPr/>
        </p:nvSpPr>
        <p:spPr>
          <a:xfrm>
            <a:off x="459400" y="5605837"/>
            <a:ext cx="2011680" cy="256032"/>
          </a:xfrm>
          <a:prstGeom prst="rect">
            <a:avLst/>
          </a:prstGeom>
          <a:noFill/>
        </p:spPr>
        <p:txBody>
          <a:bodyPr wrap="square"/>
          <a:lstStyle/>
          <a:p>
            <a:pPr algn="l"/>
            <a:r>
              <a:rPr sz="1100" b="0" i="0">
                <a:solidFill>
                  <a:srgbClr val="1E293B"/>
                </a:solidFill>
                <a:latin typeface="Calibri"/>
              </a:rPr>
              <a:t>ma_7 (7-day mean)</a:t>
            </a:r>
          </a:p>
        </p:txBody>
      </p:sp>
      <p:sp>
        <p:nvSpPr>
          <p:cNvPr id="21" name="Rectangle 20">
            <a:extLst>
              <a:ext uri="{FF2B5EF4-FFF2-40B4-BE49-F238E27FC236}">
                <a16:creationId xmlns:a16="http://schemas.microsoft.com/office/drawing/2014/main" id="{7D457C68-A516-E90A-587B-0570ABFF88FD}"/>
              </a:ext>
            </a:extLst>
          </p:cNvPr>
          <p:cNvSpPr/>
          <p:nvPr/>
        </p:nvSpPr>
        <p:spPr>
          <a:xfrm>
            <a:off x="2516800" y="5642413"/>
            <a:ext cx="658368" cy="20116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766038BE-5FD6-196E-7647-DD1266817DDC}"/>
              </a:ext>
            </a:extLst>
          </p:cNvPr>
          <p:cNvSpPr txBox="1"/>
          <p:nvPr/>
        </p:nvSpPr>
        <p:spPr>
          <a:xfrm>
            <a:off x="3220888" y="5605837"/>
            <a:ext cx="457200" cy="256032"/>
          </a:xfrm>
          <a:prstGeom prst="rect">
            <a:avLst/>
          </a:prstGeom>
          <a:noFill/>
        </p:spPr>
        <p:txBody>
          <a:bodyPr wrap="square"/>
          <a:lstStyle/>
          <a:p>
            <a:pPr algn="l"/>
            <a:r>
              <a:rPr sz="1100" b="0" i="0">
                <a:solidFill>
                  <a:srgbClr val="475569"/>
                </a:solidFill>
                <a:latin typeface="Calibri"/>
              </a:rPr>
              <a:t>18%</a:t>
            </a:r>
          </a:p>
        </p:txBody>
      </p:sp>
      <p:sp>
        <p:nvSpPr>
          <p:cNvPr id="23" name="TextBox 22">
            <a:extLst>
              <a:ext uri="{FF2B5EF4-FFF2-40B4-BE49-F238E27FC236}">
                <a16:creationId xmlns:a16="http://schemas.microsoft.com/office/drawing/2014/main" id="{232D094D-C7F1-A824-8E17-86F3CB2705E6}"/>
              </a:ext>
            </a:extLst>
          </p:cNvPr>
          <p:cNvSpPr txBox="1"/>
          <p:nvPr/>
        </p:nvSpPr>
        <p:spPr>
          <a:xfrm>
            <a:off x="459400" y="5935020"/>
            <a:ext cx="2011680" cy="256032"/>
          </a:xfrm>
          <a:prstGeom prst="rect">
            <a:avLst/>
          </a:prstGeom>
          <a:noFill/>
        </p:spPr>
        <p:txBody>
          <a:bodyPr wrap="square"/>
          <a:lstStyle/>
          <a:p>
            <a:pPr algn="l"/>
            <a:r>
              <a:rPr sz="1100" b="0" i="0">
                <a:solidFill>
                  <a:srgbClr val="1E293B"/>
                </a:solidFill>
                <a:latin typeface="Calibri"/>
              </a:rPr>
              <a:t>lag_3</a:t>
            </a:r>
          </a:p>
        </p:txBody>
      </p:sp>
      <p:sp>
        <p:nvSpPr>
          <p:cNvPr id="24" name="Rectangle 23">
            <a:extLst>
              <a:ext uri="{FF2B5EF4-FFF2-40B4-BE49-F238E27FC236}">
                <a16:creationId xmlns:a16="http://schemas.microsoft.com/office/drawing/2014/main" id="{428428BB-7180-8235-A6E7-9BDC79197A33}"/>
              </a:ext>
            </a:extLst>
          </p:cNvPr>
          <p:cNvSpPr/>
          <p:nvPr/>
        </p:nvSpPr>
        <p:spPr>
          <a:xfrm>
            <a:off x="2516800" y="5971597"/>
            <a:ext cx="438912" cy="20116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4E74D407-5861-9AFB-452B-D67971A604CC}"/>
              </a:ext>
            </a:extLst>
          </p:cNvPr>
          <p:cNvSpPr txBox="1"/>
          <p:nvPr/>
        </p:nvSpPr>
        <p:spPr>
          <a:xfrm>
            <a:off x="3001432" y="5935020"/>
            <a:ext cx="457200" cy="256032"/>
          </a:xfrm>
          <a:prstGeom prst="rect">
            <a:avLst/>
          </a:prstGeom>
          <a:noFill/>
        </p:spPr>
        <p:txBody>
          <a:bodyPr wrap="square"/>
          <a:lstStyle/>
          <a:p>
            <a:pPr algn="l"/>
            <a:r>
              <a:rPr sz="1100" b="0" i="0">
                <a:solidFill>
                  <a:srgbClr val="475569"/>
                </a:solidFill>
                <a:latin typeface="Calibri"/>
              </a:rPr>
              <a:t>12%</a:t>
            </a:r>
          </a:p>
        </p:txBody>
      </p:sp>
      <p:sp>
        <p:nvSpPr>
          <p:cNvPr id="26" name="TextBox 25">
            <a:extLst>
              <a:ext uri="{FF2B5EF4-FFF2-40B4-BE49-F238E27FC236}">
                <a16:creationId xmlns:a16="http://schemas.microsoft.com/office/drawing/2014/main" id="{2993A41D-2A18-4DCA-5F11-0C4B846D3586}"/>
              </a:ext>
            </a:extLst>
          </p:cNvPr>
          <p:cNvSpPr txBox="1"/>
          <p:nvPr/>
        </p:nvSpPr>
        <p:spPr>
          <a:xfrm>
            <a:off x="459400" y="6264204"/>
            <a:ext cx="2011680" cy="256032"/>
          </a:xfrm>
          <a:prstGeom prst="rect">
            <a:avLst/>
          </a:prstGeom>
          <a:noFill/>
        </p:spPr>
        <p:txBody>
          <a:bodyPr wrap="square"/>
          <a:lstStyle/>
          <a:p>
            <a:pPr algn="l"/>
            <a:r>
              <a:rPr sz="1100" b="0" i="0">
                <a:solidFill>
                  <a:srgbClr val="1E293B"/>
                </a:solidFill>
                <a:latin typeface="Calibri"/>
              </a:rPr>
              <a:t>ma_14</a:t>
            </a:r>
          </a:p>
        </p:txBody>
      </p:sp>
      <p:sp>
        <p:nvSpPr>
          <p:cNvPr id="27" name="Rectangle 26">
            <a:extLst>
              <a:ext uri="{FF2B5EF4-FFF2-40B4-BE49-F238E27FC236}">
                <a16:creationId xmlns:a16="http://schemas.microsoft.com/office/drawing/2014/main" id="{F7DC96A6-D9A2-B145-0003-68198D401C4D}"/>
              </a:ext>
            </a:extLst>
          </p:cNvPr>
          <p:cNvSpPr/>
          <p:nvPr/>
        </p:nvSpPr>
        <p:spPr>
          <a:xfrm>
            <a:off x="2516800" y="6300780"/>
            <a:ext cx="365760" cy="201168"/>
          </a:xfrm>
          <a:prstGeom prst="rect">
            <a:avLst/>
          </a:prstGeom>
          <a:solidFill>
            <a:srgbClr val="B0D8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3A1A09E4-B36C-260F-BF06-DCE117B34D31}"/>
              </a:ext>
            </a:extLst>
          </p:cNvPr>
          <p:cNvSpPr txBox="1"/>
          <p:nvPr/>
        </p:nvSpPr>
        <p:spPr>
          <a:xfrm>
            <a:off x="2928280" y="6264204"/>
            <a:ext cx="457200" cy="256032"/>
          </a:xfrm>
          <a:prstGeom prst="rect">
            <a:avLst/>
          </a:prstGeom>
          <a:noFill/>
        </p:spPr>
        <p:txBody>
          <a:bodyPr wrap="square"/>
          <a:lstStyle/>
          <a:p>
            <a:pPr algn="l"/>
            <a:r>
              <a:rPr sz="1100" b="0" i="0">
                <a:solidFill>
                  <a:srgbClr val="475569"/>
                </a:solidFill>
                <a:latin typeface="Calibri"/>
              </a:rPr>
              <a:t>10%</a:t>
            </a:r>
          </a:p>
        </p:txBody>
      </p:sp>
      <p:sp>
        <p:nvSpPr>
          <p:cNvPr id="60" name="Shape 4">
            <a:extLst>
              <a:ext uri="{FF2B5EF4-FFF2-40B4-BE49-F238E27FC236}">
                <a16:creationId xmlns:a16="http://schemas.microsoft.com/office/drawing/2014/main" id="{960DA1EC-789B-C053-F41B-9DB9D18E17A4}"/>
              </a:ext>
            </a:extLst>
          </p:cNvPr>
          <p:cNvSpPr/>
          <p:nvPr/>
        </p:nvSpPr>
        <p:spPr>
          <a:xfrm>
            <a:off x="6437601" y="1134421"/>
            <a:ext cx="5120640" cy="2880358"/>
          </a:xfrm>
          <a:prstGeom prst="rect">
            <a:avLst/>
          </a:prstGeom>
          <a:solidFill>
            <a:srgbClr val="162032"/>
          </a:solidFill>
          <a:ln w="12700">
            <a:solidFill>
              <a:srgbClr val="1E3A5F"/>
            </a:solidFill>
            <a:prstDash val="solid"/>
          </a:ln>
          <a:effectLst>
            <a:outerShdw blurRad="101600" dist="25400" dir="8100000" algn="bl" rotWithShape="0">
              <a:srgbClr val="000000">
                <a:alpha val="18000"/>
              </a:srgbClr>
            </a:outerShdw>
          </a:effectLst>
        </p:spPr>
      </p:sp>
      <p:sp>
        <p:nvSpPr>
          <p:cNvPr id="61" name="Shape 5">
            <a:extLst>
              <a:ext uri="{FF2B5EF4-FFF2-40B4-BE49-F238E27FC236}">
                <a16:creationId xmlns:a16="http://schemas.microsoft.com/office/drawing/2014/main" id="{81864CB9-B706-906B-7E83-BEDD67411B72}"/>
              </a:ext>
            </a:extLst>
          </p:cNvPr>
          <p:cNvSpPr/>
          <p:nvPr/>
        </p:nvSpPr>
        <p:spPr>
          <a:xfrm>
            <a:off x="6437601" y="1134421"/>
            <a:ext cx="5120640" cy="54864"/>
          </a:xfrm>
          <a:prstGeom prst="rect">
            <a:avLst/>
          </a:prstGeom>
          <a:solidFill>
            <a:srgbClr val="0077B6"/>
          </a:solidFill>
          <a:ln w="12700">
            <a:solidFill>
              <a:srgbClr val="0077B6"/>
            </a:solidFill>
            <a:prstDash val="solid"/>
          </a:ln>
        </p:spPr>
      </p:sp>
      <p:sp>
        <p:nvSpPr>
          <p:cNvPr id="62" name="Text 6">
            <a:extLst>
              <a:ext uri="{FF2B5EF4-FFF2-40B4-BE49-F238E27FC236}">
                <a16:creationId xmlns:a16="http://schemas.microsoft.com/office/drawing/2014/main" id="{E50AB788-4AB3-ED3C-8CAD-ED10B0A09CE7}"/>
              </a:ext>
            </a:extLst>
          </p:cNvPr>
          <p:cNvSpPr/>
          <p:nvPr/>
        </p:nvSpPr>
        <p:spPr>
          <a:xfrm>
            <a:off x="6602193" y="1244149"/>
            <a:ext cx="4754880" cy="320040"/>
          </a:xfrm>
          <a:prstGeom prst="rect">
            <a:avLst/>
          </a:prstGeom>
          <a:noFill/>
          <a:ln/>
        </p:spPr>
        <p:txBody>
          <a:bodyPr wrap="square" lIns="0" tIns="0" rIns="0" bIns="0" rtlCol="0" anchor="ctr"/>
          <a:lstStyle/>
          <a:p>
            <a:pPr marL="0" indent="0">
              <a:buNone/>
            </a:pPr>
            <a:r>
              <a:rPr lang="en-US" sz="1200" b="1" dirty="0">
                <a:solidFill>
                  <a:srgbClr val="00B4D8"/>
                </a:solidFill>
              </a:rPr>
              <a:t>RF vs LSTM - Why Random Forest?</a:t>
            </a:r>
            <a:endParaRPr lang="en-US" sz="1200" dirty="0"/>
          </a:p>
        </p:txBody>
      </p:sp>
      <p:graphicFrame>
        <p:nvGraphicFramePr>
          <p:cNvPr id="63" name="Table 0">
            <a:extLst>
              <a:ext uri="{FF2B5EF4-FFF2-40B4-BE49-F238E27FC236}">
                <a16:creationId xmlns:a16="http://schemas.microsoft.com/office/drawing/2014/main" id="{2F127E2F-5F92-B9BB-64B1-E7EE41D8309D}"/>
              </a:ext>
            </a:extLst>
          </p:cNvPr>
          <p:cNvGraphicFramePr>
            <a:graphicFrameLocks noGrp="1"/>
          </p:cNvGraphicFramePr>
          <p:nvPr>
            <p:extLst>
              <p:ext uri="{D42A27DB-BD31-4B8C-83A1-F6EECF244321}">
                <p14:modId xmlns:p14="http://schemas.microsoft.com/office/powerpoint/2010/main" val="2903308433"/>
              </p:ext>
            </p:extLst>
          </p:nvPr>
        </p:nvGraphicFramePr>
        <p:xfrm>
          <a:off x="6483321" y="1637341"/>
          <a:ext cx="4983480" cy="2304288"/>
        </p:xfrm>
        <a:graphic>
          <a:graphicData uri="http://schemas.openxmlformats.org/drawingml/2006/table">
            <a:tbl>
              <a:tblPr/>
              <a:tblGrid>
                <a:gridCol w="15544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tblGrid>
              <a:tr h="329184">
                <a:tc>
                  <a:txBody>
                    <a:bodyPr/>
                    <a:lstStyle/>
                    <a:p>
                      <a:pPr marL="0" indent="0" algn="l">
                        <a:buNone/>
                      </a:pPr>
                      <a:r>
                        <a:rPr lang="en-US" sz="900" b="1" dirty="0">
                          <a:solidFill>
                            <a:srgbClr val="FFFFFF"/>
                          </a:solidFill>
                        </a:rPr>
                        <a:t>Criterion</a:t>
                      </a:r>
                      <a:endParaRPr lang="en-US" sz="900" dirty="0"/>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077B6"/>
                    </a:solidFill>
                  </a:tcPr>
                </a:tc>
                <a:tc>
                  <a:txBody>
                    <a:bodyPr/>
                    <a:lstStyle/>
                    <a:p>
                      <a:pPr marL="0" indent="0" algn="l">
                        <a:buNone/>
                      </a:pPr>
                      <a:r>
                        <a:rPr lang="en-US" sz="900" b="1" dirty="0">
                          <a:solidFill>
                            <a:srgbClr val="00B4D8"/>
                          </a:solidFill>
                        </a:rPr>
                        <a:t>Random Forest ✓</a:t>
                      </a:r>
                      <a:endParaRPr lang="en-US" sz="900" dirty="0"/>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077B6"/>
                    </a:solidFill>
                  </a:tcPr>
                </a:tc>
                <a:tc>
                  <a:txBody>
                    <a:bodyPr/>
                    <a:lstStyle/>
                    <a:p>
                      <a:pPr marL="0" indent="0" algn="l">
                        <a:buNone/>
                      </a:pPr>
                      <a:r>
                        <a:rPr lang="en-US" sz="900" b="1" dirty="0">
                          <a:solidFill>
                            <a:srgbClr val="64748B"/>
                          </a:solidFill>
                        </a:rPr>
                        <a:t>LSTM</a:t>
                      </a:r>
                      <a:endParaRPr lang="en-US" sz="900" dirty="0"/>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077B6"/>
                    </a:solidFill>
                  </a:tcPr>
                </a:tc>
                <a:extLst>
                  <a:ext uri="{0D108BD9-81ED-4DB2-BD59-A6C34878D82A}">
                    <a16:rowId xmlns:a16="http://schemas.microsoft.com/office/drawing/2014/main" val="10000"/>
                  </a:ext>
                </a:extLst>
              </a:tr>
              <a:tr h="329184">
                <a:tc>
                  <a:txBody>
                    <a:bodyPr/>
                    <a:lstStyle/>
                    <a:p>
                      <a:pPr marL="0" indent="0" algn="l">
                        <a:buNone/>
                      </a:pPr>
                      <a:r>
                        <a:rPr lang="en-US" sz="900" dirty="0">
                          <a:solidFill>
                            <a:srgbClr val="CBD5E1"/>
                          </a:solidFill>
                        </a:rPr>
                        <a:t>Training speed</a:t>
                      </a:r>
                      <a:endParaRPr lang="en-US" sz="900" dirty="0"/>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lgn="l">
                        <a:buNone/>
                      </a:pPr>
                      <a:r>
                        <a:rPr lang="en-US" sz="900" dirty="0">
                          <a:solidFill>
                            <a:srgbClr val="CBD5E1"/>
                          </a:solidFill>
                        </a:rPr>
                        <a:t>Fast (seconds)</a:t>
                      </a:r>
                      <a:endParaRPr lang="en-US" sz="900" dirty="0"/>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lgn="l">
                        <a:buNone/>
                      </a:pPr>
                      <a:r>
                        <a:rPr lang="en-US" sz="900" dirty="0">
                          <a:solidFill>
                            <a:srgbClr val="CBD5E1"/>
                          </a:solidFill>
                        </a:rPr>
                        <a:t>Slow (GPU recommended)</a:t>
                      </a:r>
                      <a:endParaRPr lang="en-US" sz="900" dirty="0"/>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extLst>
                  <a:ext uri="{0D108BD9-81ED-4DB2-BD59-A6C34878D82A}">
                    <a16:rowId xmlns:a16="http://schemas.microsoft.com/office/drawing/2014/main" val="10001"/>
                  </a:ext>
                </a:extLst>
              </a:tr>
              <a:tr h="329184">
                <a:tc>
                  <a:txBody>
                    <a:bodyPr/>
                    <a:lstStyle/>
                    <a:p>
                      <a:pPr marL="0" indent="0" algn="l">
                        <a:buNone/>
                      </a:pPr>
                      <a:r>
                        <a:rPr lang="en-US" sz="900" dirty="0">
                          <a:solidFill>
                            <a:srgbClr val="CBD5E1"/>
                          </a:solidFill>
                        </a:rPr>
                        <a:t>Sparse SKU history</a:t>
                      </a:r>
                      <a:endParaRPr lang="en-US" sz="900" dirty="0"/>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lgn="l">
                        <a:buNone/>
                      </a:pPr>
                      <a:r>
                        <a:rPr lang="en-US" sz="900" dirty="0">
                          <a:solidFill>
                            <a:srgbClr val="CBD5E1"/>
                          </a:solidFill>
                        </a:rPr>
                        <a:t>Handles well</a:t>
                      </a:r>
                      <a:endParaRPr lang="en-US" sz="900" dirty="0"/>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lgn="l">
                        <a:buNone/>
                      </a:pPr>
                      <a:r>
                        <a:rPr lang="en-US" sz="900" dirty="0">
                          <a:solidFill>
                            <a:srgbClr val="CBD5E1"/>
                          </a:solidFill>
                        </a:rPr>
                        <a:t>Struggles &lt; 100 samples</a:t>
                      </a:r>
                      <a:endParaRPr lang="en-US" sz="900" dirty="0"/>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extLst>
                  <a:ext uri="{0D108BD9-81ED-4DB2-BD59-A6C34878D82A}">
                    <a16:rowId xmlns:a16="http://schemas.microsoft.com/office/drawing/2014/main" val="10002"/>
                  </a:ext>
                </a:extLst>
              </a:tr>
              <a:tr h="329184">
                <a:tc>
                  <a:txBody>
                    <a:bodyPr/>
                    <a:lstStyle/>
                    <a:p>
                      <a:pPr marL="0" indent="0" algn="l">
                        <a:buNone/>
                      </a:pPr>
                      <a:r>
                        <a:rPr lang="en-US" sz="900" dirty="0">
                          <a:solidFill>
                            <a:srgbClr val="CBD5E1"/>
                          </a:solidFill>
                        </a:rPr>
                        <a:t>Interpretability</a:t>
                      </a:r>
                      <a:endParaRPr lang="en-US" sz="900" dirty="0"/>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lgn="l">
                        <a:buNone/>
                      </a:pPr>
                      <a:r>
                        <a:rPr lang="en-US" sz="900" dirty="0">
                          <a:solidFill>
                            <a:srgbClr val="CBD5E1"/>
                          </a:solidFill>
                        </a:rPr>
                        <a:t>Feature importance</a:t>
                      </a:r>
                      <a:endParaRPr lang="en-US" sz="900" dirty="0"/>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lgn="l">
                        <a:buNone/>
                      </a:pPr>
                      <a:r>
                        <a:rPr lang="en-US" sz="900" dirty="0">
                          <a:solidFill>
                            <a:srgbClr val="CBD5E1"/>
                          </a:solidFill>
                        </a:rPr>
                        <a:t>Black box</a:t>
                      </a:r>
                      <a:endParaRPr lang="en-US" sz="900" dirty="0"/>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extLst>
                  <a:ext uri="{0D108BD9-81ED-4DB2-BD59-A6C34878D82A}">
                    <a16:rowId xmlns:a16="http://schemas.microsoft.com/office/drawing/2014/main" val="10003"/>
                  </a:ext>
                </a:extLst>
              </a:tr>
              <a:tr h="329184">
                <a:tc>
                  <a:txBody>
                    <a:bodyPr/>
                    <a:lstStyle/>
                    <a:p>
                      <a:pPr marL="0" indent="0" algn="l">
                        <a:buNone/>
                      </a:pPr>
                      <a:r>
                        <a:rPr lang="en-US" sz="900" dirty="0">
                          <a:solidFill>
                            <a:srgbClr val="CBD5E1"/>
                          </a:solidFill>
                        </a:rPr>
                        <a:t>Non-linearity</a:t>
                      </a:r>
                      <a:endParaRPr lang="en-US" sz="900" dirty="0"/>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lgn="l">
                        <a:buNone/>
                      </a:pPr>
                      <a:r>
                        <a:rPr lang="en-US" sz="900" dirty="0">
                          <a:solidFill>
                            <a:srgbClr val="CBD5E1"/>
                          </a:solidFill>
                        </a:rPr>
                        <a:t>Yes (ensembles)</a:t>
                      </a:r>
                      <a:endParaRPr lang="en-US" sz="900" dirty="0"/>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lgn="l">
                        <a:buNone/>
                      </a:pPr>
                      <a:r>
                        <a:rPr lang="en-US" sz="900" dirty="0">
                          <a:solidFill>
                            <a:srgbClr val="CBD5E1"/>
                          </a:solidFill>
                        </a:rPr>
                        <a:t>Yes (deep)</a:t>
                      </a:r>
                      <a:endParaRPr lang="en-US" sz="900" dirty="0"/>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extLst>
                  <a:ext uri="{0D108BD9-81ED-4DB2-BD59-A6C34878D82A}">
                    <a16:rowId xmlns:a16="http://schemas.microsoft.com/office/drawing/2014/main" val="10004"/>
                  </a:ext>
                </a:extLst>
              </a:tr>
              <a:tr h="329184">
                <a:tc>
                  <a:txBody>
                    <a:bodyPr/>
                    <a:lstStyle/>
                    <a:p>
                      <a:pPr marL="0" indent="0" algn="l">
                        <a:buNone/>
                      </a:pPr>
                      <a:r>
                        <a:rPr lang="en-US" sz="900" dirty="0">
                          <a:solidFill>
                            <a:srgbClr val="CBD5E1"/>
                          </a:solidFill>
                        </a:rPr>
                        <a:t>Data size needed</a:t>
                      </a:r>
                      <a:endParaRPr lang="en-US" sz="900" dirty="0"/>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lgn="l">
                        <a:buNone/>
                      </a:pPr>
                      <a:r>
                        <a:rPr lang="en-US" sz="900" dirty="0">
                          <a:solidFill>
                            <a:srgbClr val="CBD5E1"/>
                          </a:solidFill>
                        </a:rPr>
                        <a:t>Small-medium</a:t>
                      </a:r>
                      <a:endParaRPr lang="en-US" sz="900" dirty="0"/>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lgn="l">
                        <a:buNone/>
                      </a:pPr>
                      <a:r>
                        <a:rPr lang="en-US" sz="900" dirty="0">
                          <a:solidFill>
                            <a:srgbClr val="CBD5E1"/>
                          </a:solidFill>
                        </a:rPr>
                        <a:t>Large</a:t>
                      </a:r>
                      <a:endParaRPr lang="en-US" sz="900" dirty="0"/>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extLst>
                  <a:ext uri="{0D108BD9-81ED-4DB2-BD59-A6C34878D82A}">
                    <a16:rowId xmlns:a16="http://schemas.microsoft.com/office/drawing/2014/main" val="10005"/>
                  </a:ext>
                </a:extLst>
              </a:tr>
              <a:tr h="329184">
                <a:tc>
                  <a:txBody>
                    <a:bodyPr/>
                    <a:lstStyle/>
                    <a:p>
                      <a:pPr marL="0" indent="0" algn="l">
                        <a:buNone/>
                      </a:pPr>
                      <a:r>
                        <a:rPr lang="en-US" sz="900" dirty="0">
                          <a:solidFill>
                            <a:srgbClr val="CBD5E1"/>
                          </a:solidFill>
                        </a:rPr>
                        <a:t>Our choice</a:t>
                      </a:r>
                      <a:endParaRPr lang="en-US" sz="900" dirty="0"/>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lgn="l">
                        <a:buNone/>
                      </a:pPr>
                      <a:r>
                        <a:rPr lang="en-US" sz="900" dirty="0">
                          <a:solidFill>
                            <a:srgbClr val="CBD5E1"/>
                          </a:solidFill>
                        </a:rPr>
                        <a:t>✓ Selected</a:t>
                      </a:r>
                      <a:endParaRPr lang="en-US" sz="900" dirty="0"/>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lgn="l">
                        <a:buNone/>
                      </a:pPr>
                      <a:r>
                        <a:rPr lang="en-US" sz="900" dirty="0">
                          <a:solidFill>
                            <a:srgbClr val="CBD5E1"/>
                          </a:solidFill>
                        </a:rPr>
                        <a:t>✗ Not selected</a:t>
                      </a:r>
                      <a:endParaRPr lang="en-US" sz="900" dirty="0"/>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extLst>
                  <a:ext uri="{0D108BD9-81ED-4DB2-BD59-A6C34878D82A}">
                    <a16:rowId xmlns:a16="http://schemas.microsoft.com/office/drawing/2014/main" val="10006"/>
                  </a:ext>
                </a:extLst>
              </a:tr>
            </a:tbl>
          </a:graphicData>
        </a:graphic>
      </p:graphicFrame>
      <p:sp>
        <p:nvSpPr>
          <p:cNvPr id="64" name="Shape 24">
            <a:extLst>
              <a:ext uri="{FF2B5EF4-FFF2-40B4-BE49-F238E27FC236}">
                <a16:creationId xmlns:a16="http://schemas.microsoft.com/office/drawing/2014/main" id="{396F1A60-CA83-8181-8C05-0816F084CD93}"/>
              </a:ext>
            </a:extLst>
          </p:cNvPr>
          <p:cNvSpPr/>
          <p:nvPr/>
        </p:nvSpPr>
        <p:spPr>
          <a:xfrm>
            <a:off x="6437601" y="1134421"/>
            <a:ext cx="5120640" cy="0"/>
          </a:xfrm>
          <a:prstGeom prst="rect">
            <a:avLst/>
          </a:prstGeom>
          <a:solidFill>
            <a:srgbClr val="0D1B2A"/>
          </a:solidFill>
          <a:ln w="12700">
            <a:solidFill>
              <a:srgbClr val="0D1B2A"/>
            </a:solidFill>
            <a:prstDash val="solid"/>
          </a:ln>
        </p:spPr>
      </p:sp>
      <p:pic>
        <p:nvPicPr>
          <p:cNvPr id="82" name="Picture 81">
            <a:extLst>
              <a:ext uri="{FF2B5EF4-FFF2-40B4-BE49-F238E27FC236}">
                <a16:creationId xmlns:a16="http://schemas.microsoft.com/office/drawing/2014/main" id="{57379B56-544D-A91E-9F5C-483269DEF84B}"/>
              </a:ext>
            </a:extLst>
          </p:cNvPr>
          <p:cNvPicPr>
            <a:picLocks noChangeAspect="1"/>
          </p:cNvPicPr>
          <p:nvPr/>
        </p:nvPicPr>
        <p:blipFill>
          <a:blip r:embed="rId2"/>
          <a:stretch>
            <a:fillRect/>
          </a:stretch>
        </p:blipFill>
        <p:spPr>
          <a:xfrm>
            <a:off x="6800098" y="4971787"/>
            <a:ext cx="5391902" cy="1886213"/>
          </a:xfrm>
          <a:prstGeom prst="rect">
            <a:avLst/>
          </a:prstGeom>
        </p:spPr>
      </p:pic>
    </p:spTree>
    <p:extLst>
      <p:ext uri="{BB962C8B-B14F-4D97-AF65-F5344CB8AC3E}">
        <p14:creationId xmlns:p14="http://schemas.microsoft.com/office/powerpoint/2010/main" val="2946545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hape 28">
            <a:extLst>
              <a:ext uri="{FF2B5EF4-FFF2-40B4-BE49-F238E27FC236}">
                <a16:creationId xmlns:a16="http://schemas.microsoft.com/office/drawing/2014/main" id="{1A306C9D-E680-1FB2-4A10-0EF07BE9B457}"/>
              </a:ext>
            </a:extLst>
          </p:cNvPr>
          <p:cNvSpPr/>
          <p:nvPr/>
        </p:nvSpPr>
        <p:spPr>
          <a:xfrm>
            <a:off x="4714875" y="4591810"/>
            <a:ext cx="7239000" cy="1051560"/>
          </a:xfrm>
          <a:prstGeom prst="rect">
            <a:avLst/>
          </a:prstGeom>
          <a:solidFill>
            <a:srgbClr val="162032"/>
          </a:solidFill>
          <a:ln w="12700">
            <a:solidFill>
              <a:srgbClr val="1E3A5F"/>
            </a:solidFill>
            <a:prstDash val="solid"/>
          </a:ln>
          <a:effectLst>
            <a:outerShdw blurRad="101600" dist="25400" dir="8100000" algn="bl" rotWithShape="0">
              <a:srgbClr val="000000">
                <a:alpha val="18000"/>
              </a:srgbClr>
            </a:outerShdw>
          </a:effectLst>
        </p:spPr>
      </p:sp>
      <p:sp>
        <p:nvSpPr>
          <p:cNvPr id="2" name="Title 1">
            <a:extLst>
              <a:ext uri="{FF2B5EF4-FFF2-40B4-BE49-F238E27FC236}">
                <a16:creationId xmlns:a16="http://schemas.microsoft.com/office/drawing/2014/main" id="{A6F9C8BD-74F8-A98D-A2C3-03A5271789CF}"/>
              </a:ext>
            </a:extLst>
          </p:cNvPr>
          <p:cNvSpPr>
            <a:spLocks noGrp="1"/>
          </p:cNvSpPr>
          <p:nvPr>
            <p:ph type="title"/>
          </p:nvPr>
        </p:nvSpPr>
        <p:spPr>
          <a:xfrm>
            <a:off x="2085975" y="624110"/>
            <a:ext cx="9867900" cy="1280890"/>
          </a:xfrm>
        </p:spPr>
        <p:txBody>
          <a:bodyPr>
            <a:normAutofit/>
          </a:bodyPr>
          <a:lstStyle/>
          <a:p>
            <a:r>
              <a:rPr lang="en-US" sz="3200" dirty="0"/>
              <a:t>Sub 3:Anomaly Detection – Isolation Forest vs IQR</a:t>
            </a:r>
          </a:p>
        </p:txBody>
      </p:sp>
      <p:sp>
        <p:nvSpPr>
          <p:cNvPr id="4" name="Slide Number Placeholder 3">
            <a:extLst>
              <a:ext uri="{FF2B5EF4-FFF2-40B4-BE49-F238E27FC236}">
                <a16:creationId xmlns:a16="http://schemas.microsoft.com/office/drawing/2014/main" id="{3C9D7736-130D-ED46-D3E2-44C3BEA50B18}"/>
              </a:ext>
            </a:extLst>
          </p:cNvPr>
          <p:cNvSpPr>
            <a:spLocks noGrp="1"/>
          </p:cNvSpPr>
          <p:nvPr>
            <p:ph type="sldNum" sz="quarter" idx="12"/>
          </p:nvPr>
        </p:nvSpPr>
        <p:spPr/>
        <p:txBody>
          <a:bodyPr/>
          <a:lstStyle/>
          <a:p>
            <a:fld id="{5A37AB63-62EB-4EDF-B1C9-C7FAE06A9E45}" type="slidenum">
              <a:rPr lang="en-SG" smtClean="0"/>
              <a:t>10</a:t>
            </a:fld>
            <a:endParaRPr lang="en-SG"/>
          </a:p>
        </p:txBody>
      </p:sp>
      <p:sp>
        <p:nvSpPr>
          <p:cNvPr id="5" name="Shape 4">
            <a:extLst>
              <a:ext uri="{FF2B5EF4-FFF2-40B4-BE49-F238E27FC236}">
                <a16:creationId xmlns:a16="http://schemas.microsoft.com/office/drawing/2014/main" id="{6787EE3B-1A2F-7DA5-27A2-CE25DC1E4B40}"/>
              </a:ext>
            </a:extLst>
          </p:cNvPr>
          <p:cNvSpPr/>
          <p:nvPr/>
        </p:nvSpPr>
        <p:spPr>
          <a:xfrm>
            <a:off x="2276475" y="1389278"/>
            <a:ext cx="2029968" cy="804672"/>
          </a:xfrm>
          <a:prstGeom prst="rect">
            <a:avLst/>
          </a:prstGeom>
          <a:solidFill>
            <a:srgbClr val="162032"/>
          </a:solidFill>
          <a:ln w="12700">
            <a:solidFill>
              <a:srgbClr val="1E3A5F"/>
            </a:solidFill>
            <a:prstDash val="solid"/>
          </a:ln>
          <a:effectLst>
            <a:outerShdw blurRad="101600" dist="25400" dir="8100000" algn="bl" rotWithShape="0">
              <a:srgbClr val="000000">
                <a:alpha val="18000"/>
              </a:srgbClr>
            </a:outerShdw>
          </a:effectLst>
        </p:spPr>
      </p:sp>
      <p:sp>
        <p:nvSpPr>
          <p:cNvPr id="6" name="Shape 5">
            <a:extLst>
              <a:ext uri="{FF2B5EF4-FFF2-40B4-BE49-F238E27FC236}">
                <a16:creationId xmlns:a16="http://schemas.microsoft.com/office/drawing/2014/main" id="{F125AA89-A859-07E9-EB49-64484AC633A5}"/>
              </a:ext>
            </a:extLst>
          </p:cNvPr>
          <p:cNvSpPr/>
          <p:nvPr/>
        </p:nvSpPr>
        <p:spPr>
          <a:xfrm>
            <a:off x="2276475" y="1389278"/>
            <a:ext cx="64008" cy="804672"/>
          </a:xfrm>
          <a:prstGeom prst="rect">
            <a:avLst/>
          </a:prstGeom>
          <a:solidFill>
            <a:srgbClr val="64748B"/>
          </a:solidFill>
          <a:ln w="12700">
            <a:solidFill>
              <a:srgbClr val="64748B"/>
            </a:solidFill>
            <a:prstDash val="solid"/>
          </a:ln>
        </p:spPr>
      </p:sp>
      <p:sp>
        <p:nvSpPr>
          <p:cNvPr id="7" name="Text 6">
            <a:extLst>
              <a:ext uri="{FF2B5EF4-FFF2-40B4-BE49-F238E27FC236}">
                <a16:creationId xmlns:a16="http://schemas.microsoft.com/office/drawing/2014/main" id="{79F7CB84-CFEA-0A62-0AF1-CBA4286EC8D4}"/>
              </a:ext>
            </a:extLst>
          </p:cNvPr>
          <p:cNvSpPr/>
          <p:nvPr/>
        </p:nvSpPr>
        <p:spPr>
          <a:xfrm>
            <a:off x="2441067" y="1462430"/>
            <a:ext cx="1801368" cy="44257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530,104</a:t>
            </a:r>
            <a:endParaRPr lang="en-US" sz="2200" dirty="0"/>
          </a:p>
        </p:txBody>
      </p:sp>
      <p:sp>
        <p:nvSpPr>
          <p:cNvPr id="8" name="Text 7">
            <a:extLst>
              <a:ext uri="{FF2B5EF4-FFF2-40B4-BE49-F238E27FC236}">
                <a16:creationId xmlns:a16="http://schemas.microsoft.com/office/drawing/2014/main" id="{20117D84-3A22-596E-AED0-2EE3769A5FB3}"/>
              </a:ext>
            </a:extLst>
          </p:cNvPr>
          <p:cNvSpPr/>
          <p:nvPr/>
        </p:nvSpPr>
        <p:spPr>
          <a:xfrm>
            <a:off x="2441067" y="1855988"/>
            <a:ext cx="1801368" cy="305775"/>
          </a:xfrm>
          <a:prstGeom prst="rect">
            <a:avLst/>
          </a:prstGeom>
          <a:noFill/>
          <a:ln/>
        </p:spPr>
        <p:txBody>
          <a:bodyPr wrap="square" lIns="0" tIns="0" rIns="0" bIns="0" rtlCol="0" anchor="ctr"/>
          <a:lstStyle/>
          <a:p>
            <a:pPr marL="0" indent="0" algn="l">
              <a:buNone/>
            </a:pPr>
            <a:r>
              <a:rPr lang="en-US" sz="950" dirty="0">
                <a:solidFill>
                  <a:srgbClr val="CBD5E1"/>
                </a:solidFill>
              </a:rPr>
              <a:t>Transactions</a:t>
            </a:r>
            <a:endParaRPr lang="en-US" sz="950" dirty="0"/>
          </a:p>
        </p:txBody>
      </p:sp>
      <p:sp>
        <p:nvSpPr>
          <p:cNvPr id="9" name="Shape 8">
            <a:extLst>
              <a:ext uri="{FF2B5EF4-FFF2-40B4-BE49-F238E27FC236}">
                <a16:creationId xmlns:a16="http://schemas.microsoft.com/office/drawing/2014/main" id="{FF7B7B64-A7D8-E855-8A74-0942502536CB}"/>
              </a:ext>
            </a:extLst>
          </p:cNvPr>
          <p:cNvSpPr/>
          <p:nvPr/>
        </p:nvSpPr>
        <p:spPr>
          <a:xfrm>
            <a:off x="4443603" y="1389278"/>
            <a:ext cx="2029968" cy="804672"/>
          </a:xfrm>
          <a:prstGeom prst="rect">
            <a:avLst/>
          </a:prstGeom>
          <a:solidFill>
            <a:srgbClr val="162032"/>
          </a:solidFill>
          <a:ln w="12700">
            <a:solidFill>
              <a:srgbClr val="1E3A5F"/>
            </a:solidFill>
            <a:prstDash val="solid"/>
          </a:ln>
          <a:effectLst>
            <a:outerShdw blurRad="101600" dist="25400" dir="8100000" algn="bl" rotWithShape="0">
              <a:srgbClr val="000000">
                <a:alpha val="18000"/>
              </a:srgbClr>
            </a:outerShdw>
          </a:effectLst>
        </p:spPr>
      </p:sp>
      <p:sp>
        <p:nvSpPr>
          <p:cNvPr id="10" name="Shape 9">
            <a:extLst>
              <a:ext uri="{FF2B5EF4-FFF2-40B4-BE49-F238E27FC236}">
                <a16:creationId xmlns:a16="http://schemas.microsoft.com/office/drawing/2014/main" id="{7C628B55-6FB3-1E3D-1C26-716918C0C074}"/>
              </a:ext>
            </a:extLst>
          </p:cNvPr>
          <p:cNvSpPr/>
          <p:nvPr/>
        </p:nvSpPr>
        <p:spPr>
          <a:xfrm>
            <a:off x="4443603" y="1389278"/>
            <a:ext cx="64008" cy="804672"/>
          </a:xfrm>
          <a:prstGeom prst="rect">
            <a:avLst/>
          </a:prstGeom>
          <a:solidFill>
            <a:srgbClr val="EF4444"/>
          </a:solidFill>
          <a:ln w="12700">
            <a:solidFill>
              <a:srgbClr val="EF4444"/>
            </a:solidFill>
            <a:prstDash val="solid"/>
          </a:ln>
        </p:spPr>
      </p:sp>
      <p:sp>
        <p:nvSpPr>
          <p:cNvPr id="11" name="Text 10">
            <a:extLst>
              <a:ext uri="{FF2B5EF4-FFF2-40B4-BE49-F238E27FC236}">
                <a16:creationId xmlns:a16="http://schemas.microsoft.com/office/drawing/2014/main" id="{3943416E-C261-4D4D-C116-82C1B26265C1}"/>
              </a:ext>
            </a:extLst>
          </p:cNvPr>
          <p:cNvSpPr/>
          <p:nvPr/>
        </p:nvSpPr>
        <p:spPr>
          <a:xfrm>
            <a:off x="4608195" y="1462430"/>
            <a:ext cx="1801368" cy="44257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10,573</a:t>
            </a:r>
            <a:endParaRPr lang="en-US" sz="2200" dirty="0"/>
          </a:p>
        </p:txBody>
      </p:sp>
      <p:sp>
        <p:nvSpPr>
          <p:cNvPr id="12" name="Text 11">
            <a:extLst>
              <a:ext uri="{FF2B5EF4-FFF2-40B4-BE49-F238E27FC236}">
                <a16:creationId xmlns:a16="http://schemas.microsoft.com/office/drawing/2014/main" id="{8BA9E4EB-1698-188A-6C7A-29FEE403DBDE}"/>
              </a:ext>
            </a:extLst>
          </p:cNvPr>
          <p:cNvSpPr/>
          <p:nvPr/>
        </p:nvSpPr>
        <p:spPr>
          <a:xfrm>
            <a:off x="4608195" y="1855988"/>
            <a:ext cx="1801368" cy="305775"/>
          </a:xfrm>
          <a:prstGeom prst="rect">
            <a:avLst/>
          </a:prstGeom>
          <a:noFill/>
          <a:ln/>
        </p:spPr>
        <p:txBody>
          <a:bodyPr wrap="square" lIns="0" tIns="0" rIns="0" bIns="0" rtlCol="0" anchor="ctr"/>
          <a:lstStyle/>
          <a:p>
            <a:pPr marL="0" indent="0" algn="l">
              <a:buNone/>
            </a:pPr>
            <a:r>
              <a:rPr lang="en-US" sz="950" dirty="0">
                <a:solidFill>
                  <a:srgbClr val="CBD5E1"/>
                </a:solidFill>
              </a:rPr>
              <a:t>IF Flagged (2%)</a:t>
            </a:r>
            <a:endParaRPr lang="en-US" sz="950" dirty="0"/>
          </a:p>
        </p:txBody>
      </p:sp>
      <p:sp>
        <p:nvSpPr>
          <p:cNvPr id="13" name="Shape 12">
            <a:extLst>
              <a:ext uri="{FF2B5EF4-FFF2-40B4-BE49-F238E27FC236}">
                <a16:creationId xmlns:a16="http://schemas.microsoft.com/office/drawing/2014/main" id="{7A764BE0-E86F-21BC-738A-838725A75CD0}"/>
              </a:ext>
            </a:extLst>
          </p:cNvPr>
          <p:cNvSpPr/>
          <p:nvPr/>
        </p:nvSpPr>
        <p:spPr>
          <a:xfrm>
            <a:off x="6610731" y="1389278"/>
            <a:ext cx="2029968" cy="804672"/>
          </a:xfrm>
          <a:prstGeom prst="rect">
            <a:avLst/>
          </a:prstGeom>
          <a:solidFill>
            <a:srgbClr val="162032"/>
          </a:solidFill>
          <a:ln w="12700">
            <a:solidFill>
              <a:srgbClr val="1E3A5F"/>
            </a:solidFill>
            <a:prstDash val="solid"/>
          </a:ln>
          <a:effectLst>
            <a:outerShdw blurRad="101600" dist="25400" dir="8100000" algn="bl" rotWithShape="0">
              <a:srgbClr val="000000">
                <a:alpha val="18000"/>
              </a:srgbClr>
            </a:outerShdw>
          </a:effectLst>
        </p:spPr>
      </p:sp>
      <p:sp>
        <p:nvSpPr>
          <p:cNvPr id="14" name="Shape 13">
            <a:extLst>
              <a:ext uri="{FF2B5EF4-FFF2-40B4-BE49-F238E27FC236}">
                <a16:creationId xmlns:a16="http://schemas.microsoft.com/office/drawing/2014/main" id="{A014B409-2A88-C15A-811B-E540647CD2AF}"/>
              </a:ext>
            </a:extLst>
          </p:cNvPr>
          <p:cNvSpPr/>
          <p:nvPr/>
        </p:nvSpPr>
        <p:spPr>
          <a:xfrm>
            <a:off x="6610731" y="1389278"/>
            <a:ext cx="64008" cy="804672"/>
          </a:xfrm>
          <a:prstGeom prst="rect">
            <a:avLst/>
          </a:prstGeom>
          <a:solidFill>
            <a:srgbClr val="F59E0B"/>
          </a:solidFill>
          <a:ln w="12700">
            <a:solidFill>
              <a:srgbClr val="F59E0B"/>
            </a:solidFill>
            <a:prstDash val="solid"/>
          </a:ln>
        </p:spPr>
      </p:sp>
      <p:sp>
        <p:nvSpPr>
          <p:cNvPr id="15" name="Text 14">
            <a:extLst>
              <a:ext uri="{FF2B5EF4-FFF2-40B4-BE49-F238E27FC236}">
                <a16:creationId xmlns:a16="http://schemas.microsoft.com/office/drawing/2014/main" id="{2EDFFE38-EFDB-4A04-597F-2CB561E2DD48}"/>
              </a:ext>
            </a:extLst>
          </p:cNvPr>
          <p:cNvSpPr/>
          <p:nvPr/>
        </p:nvSpPr>
        <p:spPr>
          <a:xfrm>
            <a:off x="6775323" y="1462430"/>
            <a:ext cx="1801368" cy="44257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105,738</a:t>
            </a:r>
            <a:endParaRPr lang="en-US" sz="2200" dirty="0"/>
          </a:p>
        </p:txBody>
      </p:sp>
      <p:sp>
        <p:nvSpPr>
          <p:cNvPr id="16" name="Text 15">
            <a:extLst>
              <a:ext uri="{FF2B5EF4-FFF2-40B4-BE49-F238E27FC236}">
                <a16:creationId xmlns:a16="http://schemas.microsoft.com/office/drawing/2014/main" id="{AE1CEEFF-186B-8E74-6F6B-D65A0208D854}"/>
              </a:ext>
            </a:extLst>
          </p:cNvPr>
          <p:cNvSpPr/>
          <p:nvPr/>
        </p:nvSpPr>
        <p:spPr>
          <a:xfrm>
            <a:off x="6775323" y="1855988"/>
            <a:ext cx="1801368" cy="305775"/>
          </a:xfrm>
          <a:prstGeom prst="rect">
            <a:avLst/>
          </a:prstGeom>
          <a:noFill/>
          <a:ln/>
        </p:spPr>
        <p:txBody>
          <a:bodyPr wrap="square" lIns="0" tIns="0" rIns="0" bIns="0" rtlCol="0" anchor="ctr"/>
          <a:lstStyle/>
          <a:p>
            <a:pPr marL="0" indent="0" algn="l">
              <a:buNone/>
            </a:pPr>
            <a:r>
              <a:rPr lang="en-US" sz="950" dirty="0">
                <a:solidFill>
                  <a:srgbClr val="CBD5E1"/>
                </a:solidFill>
              </a:rPr>
              <a:t>IQR Flagged (20%)</a:t>
            </a:r>
            <a:endParaRPr lang="en-US" sz="950" dirty="0"/>
          </a:p>
        </p:txBody>
      </p:sp>
      <p:sp>
        <p:nvSpPr>
          <p:cNvPr id="17" name="Shape 16">
            <a:extLst>
              <a:ext uri="{FF2B5EF4-FFF2-40B4-BE49-F238E27FC236}">
                <a16:creationId xmlns:a16="http://schemas.microsoft.com/office/drawing/2014/main" id="{7CCFD7BA-AC25-8CBC-BBB3-E7A6207DC9DE}"/>
              </a:ext>
            </a:extLst>
          </p:cNvPr>
          <p:cNvSpPr/>
          <p:nvPr/>
        </p:nvSpPr>
        <p:spPr>
          <a:xfrm>
            <a:off x="8777859" y="1389278"/>
            <a:ext cx="2029968" cy="804672"/>
          </a:xfrm>
          <a:prstGeom prst="rect">
            <a:avLst/>
          </a:prstGeom>
          <a:solidFill>
            <a:srgbClr val="162032"/>
          </a:solidFill>
          <a:ln w="12700">
            <a:solidFill>
              <a:srgbClr val="1E3A5F"/>
            </a:solidFill>
            <a:prstDash val="solid"/>
          </a:ln>
          <a:effectLst>
            <a:outerShdw blurRad="101600" dist="25400" dir="8100000" algn="bl" rotWithShape="0">
              <a:srgbClr val="000000">
                <a:alpha val="18000"/>
              </a:srgbClr>
            </a:outerShdw>
          </a:effectLst>
        </p:spPr>
      </p:sp>
      <p:sp>
        <p:nvSpPr>
          <p:cNvPr id="18" name="Shape 17">
            <a:extLst>
              <a:ext uri="{FF2B5EF4-FFF2-40B4-BE49-F238E27FC236}">
                <a16:creationId xmlns:a16="http://schemas.microsoft.com/office/drawing/2014/main" id="{5E957CEA-3C60-217B-0FEE-219B84B05FC2}"/>
              </a:ext>
            </a:extLst>
          </p:cNvPr>
          <p:cNvSpPr/>
          <p:nvPr/>
        </p:nvSpPr>
        <p:spPr>
          <a:xfrm>
            <a:off x="8777859" y="1389278"/>
            <a:ext cx="64008" cy="804672"/>
          </a:xfrm>
          <a:prstGeom prst="rect">
            <a:avLst/>
          </a:prstGeom>
          <a:solidFill>
            <a:srgbClr val="10B981"/>
          </a:solidFill>
          <a:ln w="12700">
            <a:solidFill>
              <a:srgbClr val="10B981"/>
            </a:solidFill>
            <a:prstDash val="solid"/>
          </a:ln>
        </p:spPr>
      </p:sp>
      <p:sp>
        <p:nvSpPr>
          <p:cNvPr id="19" name="Text 18">
            <a:extLst>
              <a:ext uri="{FF2B5EF4-FFF2-40B4-BE49-F238E27FC236}">
                <a16:creationId xmlns:a16="http://schemas.microsoft.com/office/drawing/2014/main" id="{885CA37D-30F9-1BB7-1D14-C8F54B0222AC}"/>
              </a:ext>
            </a:extLst>
          </p:cNvPr>
          <p:cNvSpPr/>
          <p:nvPr/>
        </p:nvSpPr>
        <p:spPr>
          <a:xfrm>
            <a:off x="8942451" y="1462430"/>
            <a:ext cx="1801368" cy="44257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10,568</a:t>
            </a:r>
            <a:endParaRPr lang="en-US" sz="2200" dirty="0"/>
          </a:p>
        </p:txBody>
      </p:sp>
      <p:sp>
        <p:nvSpPr>
          <p:cNvPr id="20" name="Text 19">
            <a:extLst>
              <a:ext uri="{FF2B5EF4-FFF2-40B4-BE49-F238E27FC236}">
                <a16:creationId xmlns:a16="http://schemas.microsoft.com/office/drawing/2014/main" id="{67EA669B-4463-8C1A-CE98-4DB2F05D71FE}"/>
              </a:ext>
            </a:extLst>
          </p:cNvPr>
          <p:cNvSpPr/>
          <p:nvPr/>
        </p:nvSpPr>
        <p:spPr>
          <a:xfrm>
            <a:off x="8942451" y="1855988"/>
            <a:ext cx="1801368" cy="305775"/>
          </a:xfrm>
          <a:prstGeom prst="rect">
            <a:avLst/>
          </a:prstGeom>
          <a:noFill/>
          <a:ln/>
        </p:spPr>
        <p:txBody>
          <a:bodyPr wrap="square" lIns="0" tIns="0" rIns="0" bIns="0" rtlCol="0" anchor="ctr"/>
          <a:lstStyle/>
          <a:p>
            <a:pPr marL="0" indent="0" algn="l">
              <a:buNone/>
            </a:pPr>
            <a:r>
              <a:rPr lang="en-US" sz="950" dirty="0">
                <a:solidFill>
                  <a:srgbClr val="CBD5E1"/>
                </a:solidFill>
              </a:rPr>
              <a:t>Both Agree</a:t>
            </a:r>
            <a:endParaRPr lang="en-US" sz="950" dirty="0"/>
          </a:p>
        </p:txBody>
      </p:sp>
      <p:pic>
        <p:nvPicPr>
          <p:cNvPr id="22" name="Picture 21">
            <a:extLst>
              <a:ext uri="{FF2B5EF4-FFF2-40B4-BE49-F238E27FC236}">
                <a16:creationId xmlns:a16="http://schemas.microsoft.com/office/drawing/2014/main" id="{22067D62-AC31-AC86-685E-BBD2840D5589}"/>
              </a:ext>
            </a:extLst>
          </p:cNvPr>
          <p:cNvPicPr>
            <a:picLocks noChangeAspect="1"/>
          </p:cNvPicPr>
          <p:nvPr/>
        </p:nvPicPr>
        <p:blipFill>
          <a:blip r:embed="rId2"/>
          <a:stretch>
            <a:fillRect/>
          </a:stretch>
        </p:blipFill>
        <p:spPr>
          <a:xfrm>
            <a:off x="8841867" y="5829156"/>
            <a:ext cx="3391373" cy="1028844"/>
          </a:xfrm>
          <a:prstGeom prst="rect">
            <a:avLst/>
          </a:prstGeom>
        </p:spPr>
      </p:pic>
      <p:sp>
        <p:nvSpPr>
          <p:cNvPr id="27" name="Rectangle 26">
            <a:extLst>
              <a:ext uri="{FF2B5EF4-FFF2-40B4-BE49-F238E27FC236}">
                <a16:creationId xmlns:a16="http://schemas.microsoft.com/office/drawing/2014/main" id="{DB851AA1-FB60-3113-BF15-81C8A2B656A1}"/>
              </a:ext>
            </a:extLst>
          </p:cNvPr>
          <p:cNvSpPr/>
          <p:nvPr/>
        </p:nvSpPr>
        <p:spPr>
          <a:xfrm>
            <a:off x="326453" y="2611646"/>
            <a:ext cx="4117150" cy="3031724"/>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C286B8FD-F045-B3A1-11E7-DD1DEF9C6F7E}"/>
              </a:ext>
            </a:extLst>
          </p:cNvPr>
          <p:cNvSpPr txBox="1"/>
          <p:nvPr/>
        </p:nvSpPr>
        <p:spPr>
          <a:xfrm>
            <a:off x="417892" y="2611646"/>
            <a:ext cx="3925127" cy="347472"/>
          </a:xfrm>
          <a:prstGeom prst="rect">
            <a:avLst/>
          </a:prstGeom>
          <a:noFill/>
        </p:spPr>
        <p:txBody>
          <a:bodyPr wrap="square"/>
          <a:lstStyle/>
          <a:p>
            <a:pPr algn="l"/>
            <a:r>
              <a:rPr sz="1500" b="1" i="0">
                <a:solidFill>
                  <a:srgbClr val="1A2E4A"/>
                </a:solidFill>
                <a:latin typeface="Calibri"/>
              </a:rPr>
              <a:t>Isolation Forest Algorithm</a:t>
            </a:r>
          </a:p>
        </p:txBody>
      </p:sp>
      <p:sp>
        <p:nvSpPr>
          <p:cNvPr id="29" name="Rectangle 28">
            <a:extLst>
              <a:ext uri="{FF2B5EF4-FFF2-40B4-BE49-F238E27FC236}">
                <a16:creationId xmlns:a16="http://schemas.microsoft.com/office/drawing/2014/main" id="{BA54283E-5D26-B089-E952-8432A8215D63}"/>
              </a:ext>
            </a:extLst>
          </p:cNvPr>
          <p:cNvSpPr/>
          <p:nvPr/>
        </p:nvSpPr>
        <p:spPr>
          <a:xfrm>
            <a:off x="326453" y="2611646"/>
            <a:ext cx="54864" cy="34747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a:extLst>
              <a:ext uri="{FF2B5EF4-FFF2-40B4-BE49-F238E27FC236}">
                <a16:creationId xmlns:a16="http://schemas.microsoft.com/office/drawing/2014/main" id="{A55F3A7A-1356-34CA-A9AE-716F87A90CEC}"/>
              </a:ext>
            </a:extLst>
          </p:cNvPr>
          <p:cNvSpPr txBox="1"/>
          <p:nvPr/>
        </p:nvSpPr>
        <p:spPr>
          <a:xfrm>
            <a:off x="417892" y="3041414"/>
            <a:ext cx="3989136" cy="2516073"/>
          </a:xfrm>
          <a:prstGeom prst="rect">
            <a:avLst/>
          </a:prstGeom>
          <a:noFill/>
        </p:spPr>
        <p:txBody>
          <a:bodyPr wrap="square">
            <a:spAutoFit/>
          </a:bodyPr>
          <a:lstStyle/>
          <a:p>
            <a:pPr>
              <a:spcAft>
                <a:spcPts val="500"/>
              </a:spcAft>
            </a:pPr>
            <a:r>
              <a:rPr sz="1200" dirty="0">
                <a:solidFill>
                  <a:srgbClr val="1E293B"/>
                </a:solidFill>
                <a:latin typeface="Calibri"/>
              </a:rPr>
              <a:t>▸  Algorithm: </a:t>
            </a:r>
            <a:r>
              <a:rPr sz="1200" dirty="0" err="1">
                <a:solidFill>
                  <a:srgbClr val="1E293B"/>
                </a:solidFill>
                <a:latin typeface="Calibri"/>
              </a:rPr>
              <a:t>IsolationForest</a:t>
            </a:r>
            <a:r>
              <a:rPr sz="1200" dirty="0">
                <a:solidFill>
                  <a:srgbClr val="1E293B"/>
                </a:solidFill>
                <a:latin typeface="Calibri"/>
              </a:rPr>
              <a:t> (scikit-learn)</a:t>
            </a:r>
          </a:p>
          <a:p>
            <a:pPr>
              <a:spcAft>
                <a:spcPts val="500"/>
              </a:spcAft>
            </a:pPr>
            <a:r>
              <a:rPr sz="1200" dirty="0">
                <a:solidFill>
                  <a:srgbClr val="1E293B"/>
                </a:solidFill>
                <a:latin typeface="Calibri"/>
              </a:rPr>
              <a:t>▸  Contamination rate: 2% (0.02) </a:t>
            </a:r>
            <a:r>
              <a:rPr lang="en-SG" sz="1200" dirty="0">
                <a:solidFill>
                  <a:srgbClr val="1E293B"/>
                </a:solidFill>
                <a:latin typeface="Calibri"/>
              </a:rPr>
              <a:t>-</a:t>
            </a:r>
            <a:r>
              <a:rPr sz="1200" dirty="0">
                <a:solidFill>
                  <a:srgbClr val="1E293B"/>
                </a:solidFill>
                <a:latin typeface="Calibri"/>
              </a:rPr>
              <a:t> industry standard</a:t>
            </a:r>
          </a:p>
          <a:p>
            <a:pPr>
              <a:spcAft>
                <a:spcPts val="500"/>
              </a:spcAft>
            </a:pPr>
            <a:r>
              <a:rPr sz="1200" dirty="0">
                <a:solidFill>
                  <a:srgbClr val="1E293B"/>
                </a:solidFill>
                <a:latin typeface="Calibri"/>
              </a:rPr>
              <a:t>▸  Features used: Quantity, </a:t>
            </a:r>
            <a:r>
              <a:rPr sz="1200" dirty="0" err="1">
                <a:solidFill>
                  <a:srgbClr val="1E293B"/>
                </a:solidFill>
                <a:latin typeface="Calibri"/>
              </a:rPr>
              <a:t>UnitPrice</a:t>
            </a:r>
            <a:r>
              <a:rPr sz="1200" dirty="0">
                <a:solidFill>
                  <a:srgbClr val="1E293B"/>
                </a:solidFill>
                <a:latin typeface="Calibri"/>
              </a:rPr>
              <a:t>, Revenue</a:t>
            </a:r>
          </a:p>
          <a:p>
            <a:pPr>
              <a:spcAft>
                <a:spcPts val="500"/>
              </a:spcAft>
            </a:pPr>
            <a:r>
              <a:rPr sz="1200" dirty="0">
                <a:solidFill>
                  <a:srgbClr val="1E293B"/>
                </a:solidFill>
                <a:latin typeface="Calibri"/>
              </a:rPr>
              <a:t>▸  Principle: anomalies require fewer splits to isolate</a:t>
            </a:r>
          </a:p>
          <a:p>
            <a:pPr>
              <a:spcAft>
                <a:spcPts val="500"/>
              </a:spcAft>
            </a:pPr>
            <a:r>
              <a:rPr sz="1200" dirty="0">
                <a:solidFill>
                  <a:srgbClr val="1E293B"/>
                </a:solidFill>
                <a:latin typeface="Calibri"/>
              </a:rPr>
              <a:t>▸  Unsupervised </a:t>
            </a:r>
            <a:r>
              <a:rPr lang="en-SG" sz="1200" dirty="0">
                <a:solidFill>
                  <a:srgbClr val="1E293B"/>
                </a:solidFill>
                <a:latin typeface="Calibri"/>
              </a:rPr>
              <a:t>-</a:t>
            </a:r>
            <a:r>
              <a:rPr sz="1200" dirty="0">
                <a:solidFill>
                  <a:srgbClr val="1E293B"/>
                </a:solidFill>
                <a:latin typeface="Calibri"/>
              </a:rPr>
              <a:t> no labelled fraud data required</a:t>
            </a:r>
          </a:p>
          <a:p>
            <a:pPr>
              <a:spcAft>
                <a:spcPts val="500"/>
              </a:spcAft>
            </a:pPr>
            <a:r>
              <a:rPr sz="1200" dirty="0">
                <a:solidFill>
                  <a:srgbClr val="1E293B"/>
                </a:solidFill>
                <a:latin typeface="Calibri"/>
              </a:rPr>
              <a:t>▸  Baseline comparison: IQR (Q1 − 1.5×IQR, Q3 + 1.5×IQR)</a:t>
            </a:r>
          </a:p>
          <a:p>
            <a:pPr>
              <a:spcAft>
                <a:spcPts val="500"/>
              </a:spcAft>
            </a:pPr>
            <a:r>
              <a:rPr sz="1200" dirty="0">
                <a:solidFill>
                  <a:srgbClr val="1E293B"/>
                </a:solidFill>
                <a:latin typeface="Calibri"/>
              </a:rPr>
              <a:t>▸  Scores </a:t>
            </a:r>
            <a:r>
              <a:rPr sz="1200" dirty="0" err="1">
                <a:solidFill>
                  <a:srgbClr val="1E293B"/>
                </a:solidFill>
                <a:latin typeface="Calibri"/>
              </a:rPr>
              <a:t>anomaly_score</a:t>
            </a:r>
            <a:r>
              <a:rPr sz="1200" dirty="0">
                <a:solidFill>
                  <a:srgbClr val="1E293B"/>
                </a:solidFill>
                <a:latin typeface="Calibri"/>
              </a:rPr>
              <a:t> per transaction (−1 = anomaly)</a:t>
            </a:r>
          </a:p>
          <a:p>
            <a:pPr>
              <a:spcAft>
                <a:spcPts val="500"/>
              </a:spcAft>
            </a:pPr>
            <a:r>
              <a:rPr sz="1200" dirty="0">
                <a:solidFill>
                  <a:srgbClr val="1E293B"/>
                </a:solidFill>
                <a:latin typeface="Calibri"/>
              </a:rPr>
              <a:t>▸  Output: smartWH_anomalies.csv with flagged records</a:t>
            </a:r>
          </a:p>
          <a:p>
            <a:pPr>
              <a:spcAft>
                <a:spcPts val="500"/>
              </a:spcAft>
            </a:pPr>
            <a:r>
              <a:rPr sz="1200" dirty="0">
                <a:solidFill>
                  <a:srgbClr val="1E293B"/>
                </a:solidFill>
                <a:latin typeface="Calibri"/>
              </a:rPr>
              <a:t>▸  </a:t>
            </a:r>
            <a:r>
              <a:rPr sz="1200" dirty="0" err="1">
                <a:solidFill>
                  <a:srgbClr val="1E293B"/>
                </a:solidFill>
                <a:latin typeface="Calibri"/>
              </a:rPr>
              <a:t>Visualisation</a:t>
            </a:r>
            <a:r>
              <a:rPr sz="1200" dirty="0">
                <a:solidFill>
                  <a:srgbClr val="1E293B"/>
                </a:solidFill>
                <a:latin typeface="Calibri"/>
              </a:rPr>
              <a:t>: scatter plot Revenue vs Quantity</a:t>
            </a:r>
          </a:p>
          <a:p>
            <a:pPr>
              <a:spcAft>
                <a:spcPts val="500"/>
              </a:spcAft>
            </a:pPr>
            <a:r>
              <a:rPr sz="1200" dirty="0">
                <a:solidFill>
                  <a:srgbClr val="1E293B"/>
                </a:solidFill>
                <a:latin typeface="Calibri"/>
              </a:rPr>
              <a:t>▸  IQR flags bulk orders; IF captures multivariate outliers</a:t>
            </a:r>
          </a:p>
        </p:txBody>
      </p:sp>
      <p:sp>
        <p:nvSpPr>
          <p:cNvPr id="31" name="Shape 24">
            <a:extLst>
              <a:ext uri="{FF2B5EF4-FFF2-40B4-BE49-F238E27FC236}">
                <a16:creationId xmlns:a16="http://schemas.microsoft.com/office/drawing/2014/main" id="{8F0ADB98-88D1-E59C-C151-28589A2238AE}"/>
              </a:ext>
            </a:extLst>
          </p:cNvPr>
          <p:cNvSpPr/>
          <p:nvPr/>
        </p:nvSpPr>
        <p:spPr>
          <a:xfrm>
            <a:off x="4714875" y="2611646"/>
            <a:ext cx="4343400" cy="1828800"/>
          </a:xfrm>
          <a:prstGeom prst="rect">
            <a:avLst/>
          </a:prstGeom>
          <a:solidFill>
            <a:srgbClr val="162032"/>
          </a:solidFill>
          <a:ln w="12700">
            <a:solidFill>
              <a:srgbClr val="1E3A5F"/>
            </a:solidFill>
            <a:prstDash val="solid"/>
          </a:ln>
          <a:effectLst>
            <a:outerShdw blurRad="101600" dist="25400" dir="8100000" algn="bl" rotWithShape="0">
              <a:srgbClr val="000000">
                <a:alpha val="18000"/>
              </a:srgbClr>
            </a:outerShdw>
          </a:effectLst>
        </p:spPr>
      </p:sp>
      <p:sp>
        <p:nvSpPr>
          <p:cNvPr id="32" name="Shape 25">
            <a:extLst>
              <a:ext uri="{FF2B5EF4-FFF2-40B4-BE49-F238E27FC236}">
                <a16:creationId xmlns:a16="http://schemas.microsoft.com/office/drawing/2014/main" id="{FEEEC5FA-3E9B-4F6A-F5D9-0078083A7541}"/>
              </a:ext>
            </a:extLst>
          </p:cNvPr>
          <p:cNvSpPr/>
          <p:nvPr/>
        </p:nvSpPr>
        <p:spPr>
          <a:xfrm>
            <a:off x="4714875" y="2611646"/>
            <a:ext cx="4343400" cy="54864"/>
          </a:xfrm>
          <a:prstGeom prst="rect">
            <a:avLst/>
          </a:prstGeom>
          <a:solidFill>
            <a:srgbClr val="F59E0B"/>
          </a:solidFill>
          <a:ln w="12700">
            <a:solidFill>
              <a:srgbClr val="F59E0B"/>
            </a:solidFill>
            <a:prstDash val="solid"/>
          </a:ln>
        </p:spPr>
      </p:sp>
      <p:sp>
        <p:nvSpPr>
          <p:cNvPr id="33" name="Text 26">
            <a:extLst>
              <a:ext uri="{FF2B5EF4-FFF2-40B4-BE49-F238E27FC236}">
                <a16:creationId xmlns:a16="http://schemas.microsoft.com/office/drawing/2014/main" id="{994BB6E4-F384-FD7D-8005-BA59CF979868}"/>
              </a:ext>
            </a:extLst>
          </p:cNvPr>
          <p:cNvSpPr/>
          <p:nvPr/>
        </p:nvSpPr>
        <p:spPr>
          <a:xfrm>
            <a:off x="4879467" y="2721374"/>
            <a:ext cx="3977640" cy="292608"/>
          </a:xfrm>
          <a:prstGeom prst="rect">
            <a:avLst/>
          </a:prstGeom>
          <a:noFill/>
          <a:ln/>
        </p:spPr>
        <p:txBody>
          <a:bodyPr wrap="square" lIns="0" tIns="0" rIns="0" bIns="0" rtlCol="0" anchor="ctr"/>
          <a:lstStyle/>
          <a:p>
            <a:pPr marL="0" indent="0">
              <a:buNone/>
            </a:pPr>
            <a:r>
              <a:rPr lang="en-US" sz="1400" b="1" dirty="0">
                <a:solidFill>
                  <a:srgbClr val="F59E0B"/>
                </a:solidFill>
              </a:rPr>
              <a:t>IF vs IQR - Why Isolation Forest?</a:t>
            </a:r>
            <a:endParaRPr lang="en-US" sz="1400" dirty="0"/>
          </a:p>
        </p:txBody>
      </p:sp>
      <p:sp>
        <p:nvSpPr>
          <p:cNvPr id="34" name="Text 27">
            <a:extLst>
              <a:ext uri="{FF2B5EF4-FFF2-40B4-BE49-F238E27FC236}">
                <a16:creationId xmlns:a16="http://schemas.microsoft.com/office/drawing/2014/main" id="{FDF9F746-7143-E4CF-56CC-85222D4C6D53}"/>
              </a:ext>
            </a:extLst>
          </p:cNvPr>
          <p:cNvSpPr/>
          <p:nvPr/>
        </p:nvSpPr>
        <p:spPr>
          <a:xfrm>
            <a:off x="4879467" y="3068846"/>
            <a:ext cx="3977640" cy="1261872"/>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CBD5E1"/>
                </a:solidFill>
              </a:rPr>
              <a:t>IQR flags univariate outliers (high quantity only)</a:t>
            </a:r>
            <a:endParaRPr lang="en-US" sz="1100" dirty="0"/>
          </a:p>
          <a:p>
            <a:pPr marL="342900" indent="-342900">
              <a:spcAft>
                <a:spcPts val="400"/>
              </a:spcAft>
              <a:buSzPct val="100000"/>
              <a:buChar char="•"/>
            </a:pPr>
            <a:r>
              <a:rPr lang="en-US" sz="1100" dirty="0">
                <a:solidFill>
                  <a:srgbClr val="CBD5E1"/>
                </a:solidFill>
              </a:rPr>
              <a:t>IF captures multivariate outliers (combined features)</a:t>
            </a:r>
            <a:endParaRPr lang="en-US" sz="1100" dirty="0"/>
          </a:p>
          <a:p>
            <a:pPr marL="342900" indent="-342900">
              <a:spcAft>
                <a:spcPts val="400"/>
              </a:spcAft>
              <a:buSzPct val="100000"/>
              <a:buChar char="•"/>
            </a:pPr>
            <a:r>
              <a:rPr lang="en-US" sz="1100" dirty="0">
                <a:solidFill>
                  <a:srgbClr val="CBD5E1"/>
                </a:solidFill>
              </a:rPr>
              <a:t>IQR flagged 20% - too many false positives</a:t>
            </a:r>
            <a:endParaRPr lang="en-US" sz="1100" dirty="0"/>
          </a:p>
          <a:p>
            <a:pPr marL="342900" indent="-342900">
              <a:spcAft>
                <a:spcPts val="400"/>
              </a:spcAft>
              <a:buSzPct val="100000"/>
              <a:buChar char="•"/>
            </a:pPr>
            <a:r>
              <a:rPr lang="en-US" sz="1100" dirty="0">
                <a:solidFill>
                  <a:srgbClr val="CBD5E1"/>
                </a:solidFill>
              </a:rPr>
              <a:t>IF flagged 2% - precise, actionable alerts</a:t>
            </a:r>
            <a:endParaRPr lang="en-US" sz="1100" dirty="0"/>
          </a:p>
          <a:p>
            <a:pPr marL="342900" indent="-342900">
              <a:spcAft>
                <a:spcPts val="400"/>
              </a:spcAft>
              <a:buSzPct val="100000"/>
              <a:buChar char="•"/>
            </a:pPr>
            <a:r>
              <a:rPr lang="en-US" sz="1100" dirty="0">
                <a:solidFill>
                  <a:srgbClr val="CBD5E1"/>
                </a:solidFill>
              </a:rPr>
              <a:t>Both agree on 10,568 cases - high confidence set</a:t>
            </a:r>
            <a:endParaRPr lang="en-US" sz="1100" dirty="0"/>
          </a:p>
        </p:txBody>
      </p:sp>
      <p:sp>
        <p:nvSpPr>
          <p:cNvPr id="36" name="Shape 29">
            <a:extLst>
              <a:ext uri="{FF2B5EF4-FFF2-40B4-BE49-F238E27FC236}">
                <a16:creationId xmlns:a16="http://schemas.microsoft.com/office/drawing/2014/main" id="{6D0F929B-D444-718F-E92C-108CFB861FA4}"/>
              </a:ext>
            </a:extLst>
          </p:cNvPr>
          <p:cNvSpPr/>
          <p:nvPr/>
        </p:nvSpPr>
        <p:spPr>
          <a:xfrm>
            <a:off x="4714875" y="4591810"/>
            <a:ext cx="7239000" cy="54864"/>
          </a:xfrm>
          <a:prstGeom prst="rect">
            <a:avLst/>
          </a:prstGeom>
          <a:solidFill>
            <a:srgbClr val="EF4444"/>
          </a:solidFill>
          <a:ln w="12700">
            <a:solidFill>
              <a:srgbClr val="EF4444"/>
            </a:solidFill>
            <a:prstDash val="solid"/>
          </a:ln>
        </p:spPr>
      </p:sp>
      <p:sp>
        <p:nvSpPr>
          <p:cNvPr id="37" name="Text 30">
            <a:extLst>
              <a:ext uri="{FF2B5EF4-FFF2-40B4-BE49-F238E27FC236}">
                <a16:creationId xmlns:a16="http://schemas.microsoft.com/office/drawing/2014/main" id="{5F03F66D-B3B6-4E4E-2C6B-C8713524D651}"/>
              </a:ext>
            </a:extLst>
          </p:cNvPr>
          <p:cNvSpPr/>
          <p:nvPr/>
        </p:nvSpPr>
        <p:spPr>
          <a:xfrm>
            <a:off x="4879467" y="4655818"/>
            <a:ext cx="2438400" cy="256032"/>
          </a:xfrm>
          <a:prstGeom prst="rect">
            <a:avLst/>
          </a:prstGeom>
          <a:noFill/>
          <a:ln/>
        </p:spPr>
        <p:txBody>
          <a:bodyPr wrap="square" lIns="0" tIns="0" rIns="0" bIns="0" rtlCol="0" anchor="ctr"/>
          <a:lstStyle/>
          <a:p>
            <a:pPr marL="0" indent="0">
              <a:buNone/>
            </a:pPr>
            <a:r>
              <a:rPr lang="en-US" sz="1100" b="1" dirty="0">
                <a:solidFill>
                  <a:srgbClr val="EF4444"/>
                </a:solidFill>
              </a:rPr>
              <a:t>Common Anomaly Patterns Found</a:t>
            </a:r>
            <a:endParaRPr lang="en-US" sz="1100" dirty="0"/>
          </a:p>
        </p:txBody>
      </p:sp>
      <p:sp>
        <p:nvSpPr>
          <p:cNvPr id="38" name="Text 31">
            <a:extLst>
              <a:ext uri="{FF2B5EF4-FFF2-40B4-BE49-F238E27FC236}">
                <a16:creationId xmlns:a16="http://schemas.microsoft.com/office/drawing/2014/main" id="{8AB93D65-4A11-DA88-03A2-F28785896A34}"/>
              </a:ext>
            </a:extLst>
          </p:cNvPr>
          <p:cNvSpPr/>
          <p:nvPr/>
        </p:nvSpPr>
        <p:spPr>
          <a:xfrm>
            <a:off x="4879467" y="4948426"/>
            <a:ext cx="2247900" cy="237744"/>
          </a:xfrm>
          <a:prstGeom prst="rect">
            <a:avLst/>
          </a:prstGeom>
          <a:noFill/>
          <a:ln/>
        </p:spPr>
        <p:txBody>
          <a:bodyPr wrap="square" lIns="0" tIns="0" rIns="0" bIns="0" rtlCol="0" anchor="ctr"/>
          <a:lstStyle/>
          <a:p>
            <a:pPr marL="0" indent="0">
              <a:buNone/>
            </a:pPr>
            <a:r>
              <a:rPr lang="en-US" sz="1100" dirty="0">
                <a:solidFill>
                  <a:srgbClr val="CBD5E1"/>
                </a:solidFill>
              </a:rPr>
              <a:t>▸  Bulk orders &gt; 3×IQR</a:t>
            </a:r>
            <a:endParaRPr lang="en-US" sz="1100" dirty="0"/>
          </a:p>
        </p:txBody>
      </p:sp>
      <p:sp>
        <p:nvSpPr>
          <p:cNvPr id="39" name="Text 32">
            <a:extLst>
              <a:ext uri="{FF2B5EF4-FFF2-40B4-BE49-F238E27FC236}">
                <a16:creationId xmlns:a16="http://schemas.microsoft.com/office/drawing/2014/main" id="{BB2FBD00-862C-EB26-76D2-59C5C073FFC1}"/>
              </a:ext>
            </a:extLst>
          </p:cNvPr>
          <p:cNvSpPr/>
          <p:nvPr/>
        </p:nvSpPr>
        <p:spPr>
          <a:xfrm>
            <a:off x="7317867" y="4948426"/>
            <a:ext cx="2247900" cy="237744"/>
          </a:xfrm>
          <a:prstGeom prst="rect">
            <a:avLst/>
          </a:prstGeom>
          <a:noFill/>
          <a:ln/>
        </p:spPr>
        <p:txBody>
          <a:bodyPr wrap="square" lIns="0" tIns="0" rIns="0" bIns="0" rtlCol="0" anchor="ctr"/>
          <a:lstStyle/>
          <a:p>
            <a:pPr marL="0" indent="0">
              <a:buNone/>
            </a:pPr>
            <a:r>
              <a:rPr lang="en-US" sz="1100" dirty="0">
                <a:solidFill>
                  <a:srgbClr val="CBD5E1"/>
                </a:solidFill>
              </a:rPr>
              <a:t>▸  Zero / negative unit prices</a:t>
            </a:r>
            <a:endParaRPr lang="en-US" sz="1100" dirty="0"/>
          </a:p>
        </p:txBody>
      </p:sp>
      <p:sp>
        <p:nvSpPr>
          <p:cNvPr id="40" name="Text 33">
            <a:extLst>
              <a:ext uri="{FF2B5EF4-FFF2-40B4-BE49-F238E27FC236}">
                <a16:creationId xmlns:a16="http://schemas.microsoft.com/office/drawing/2014/main" id="{57DA4410-FCE0-0346-2FF7-AFD0EA37AE31}"/>
              </a:ext>
            </a:extLst>
          </p:cNvPr>
          <p:cNvSpPr/>
          <p:nvPr/>
        </p:nvSpPr>
        <p:spPr>
          <a:xfrm>
            <a:off x="9683877" y="4948426"/>
            <a:ext cx="2247900" cy="237744"/>
          </a:xfrm>
          <a:prstGeom prst="rect">
            <a:avLst/>
          </a:prstGeom>
          <a:noFill/>
          <a:ln/>
        </p:spPr>
        <p:txBody>
          <a:bodyPr wrap="square" lIns="0" tIns="0" rIns="0" bIns="0" rtlCol="0" anchor="ctr"/>
          <a:lstStyle/>
          <a:p>
            <a:pPr marL="0" indent="0">
              <a:buNone/>
            </a:pPr>
            <a:r>
              <a:rPr lang="en-US" sz="1100" dirty="0">
                <a:solidFill>
                  <a:srgbClr val="CBD5E1"/>
                </a:solidFill>
              </a:rPr>
              <a:t>▸  Revenue spikes &gt; £1,000/line</a:t>
            </a:r>
            <a:endParaRPr lang="en-US" sz="1100" dirty="0"/>
          </a:p>
        </p:txBody>
      </p:sp>
      <p:sp>
        <p:nvSpPr>
          <p:cNvPr id="41" name="Text 34">
            <a:extLst>
              <a:ext uri="{FF2B5EF4-FFF2-40B4-BE49-F238E27FC236}">
                <a16:creationId xmlns:a16="http://schemas.microsoft.com/office/drawing/2014/main" id="{018F795C-8011-8059-9FD1-39E30193F051}"/>
              </a:ext>
            </a:extLst>
          </p:cNvPr>
          <p:cNvSpPr/>
          <p:nvPr/>
        </p:nvSpPr>
        <p:spPr>
          <a:xfrm>
            <a:off x="4879467" y="5231890"/>
            <a:ext cx="2247900" cy="237744"/>
          </a:xfrm>
          <a:prstGeom prst="rect">
            <a:avLst/>
          </a:prstGeom>
          <a:noFill/>
          <a:ln/>
        </p:spPr>
        <p:txBody>
          <a:bodyPr wrap="square" lIns="0" tIns="0" rIns="0" bIns="0" rtlCol="0" anchor="ctr"/>
          <a:lstStyle/>
          <a:p>
            <a:pPr marL="0" indent="0">
              <a:buNone/>
            </a:pPr>
            <a:r>
              <a:rPr lang="en-US" sz="1100" dirty="0">
                <a:solidFill>
                  <a:srgbClr val="CBD5E1"/>
                </a:solidFill>
              </a:rPr>
              <a:t>▸  Service codes (POST, DOT, M)</a:t>
            </a:r>
            <a:endParaRPr lang="en-US" sz="1100" dirty="0"/>
          </a:p>
        </p:txBody>
      </p:sp>
      <p:sp>
        <p:nvSpPr>
          <p:cNvPr id="42" name="Text 35">
            <a:extLst>
              <a:ext uri="{FF2B5EF4-FFF2-40B4-BE49-F238E27FC236}">
                <a16:creationId xmlns:a16="http://schemas.microsoft.com/office/drawing/2014/main" id="{1C6217E9-912C-C572-8A07-45F77E46144A}"/>
              </a:ext>
            </a:extLst>
          </p:cNvPr>
          <p:cNvSpPr/>
          <p:nvPr/>
        </p:nvSpPr>
        <p:spPr>
          <a:xfrm>
            <a:off x="7317867" y="5231890"/>
            <a:ext cx="2247900" cy="237744"/>
          </a:xfrm>
          <a:prstGeom prst="rect">
            <a:avLst/>
          </a:prstGeom>
          <a:noFill/>
          <a:ln/>
        </p:spPr>
        <p:txBody>
          <a:bodyPr wrap="square" lIns="0" tIns="0" rIns="0" bIns="0" rtlCol="0" anchor="ctr"/>
          <a:lstStyle/>
          <a:p>
            <a:pPr marL="0" indent="0">
              <a:buNone/>
            </a:pPr>
            <a:r>
              <a:rPr lang="en-US" sz="1100" dirty="0">
                <a:solidFill>
                  <a:srgbClr val="CBD5E1"/>
                </a:solidFill>
              </a:rPr>
              <a:t>▸  High-frequency single-customer</a:t>
            </a:r>
            <a:endParaRPr lang="en-US" sz="1100" dirty="0"/>
          </a:p>
        </p:txBody>
      </p:sp>
    </p:spTree>
    <p:extLst>
      <p:ext uri="{BB962C8B-B14F-4D97-AF65-F5344CB8AC3E}">
        <p14:creationId xmlns:p14="http://schemas.microsoft.com/office/powerpoint/2010/main" val="2925127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BD69F-2DD9-2F2B-7E36-0C3BAF65EFBE}"/>
              </a:ext>
            </a:extLst>
          </p:cNvPr>
          <p:cNvSpPr>
            <a:spLocks noGrp="1"/>
          </p:cNvSpPr>
          <p:nvPr>
            <p:ph type="title"/>
          </p:nvPr>
        </p:nvSpPr>
        <p:spPr>
          <a:xfrm>
            <a:off x="2093215" y="624110"/>
            <a:ext cx="9749853" cy="1280890"/>
          </a:xfrm>
        </p:spPr>
        <p:txBody>
          <a:bodyPr>
            <a:normAutofit/>
          </a:bodyPr>
          <a:lstStyle/>
          <a:p>
            <a:r>
              <a:rPr lang="en-SG" sz="3200" dirty="0"/>
              <a:t>Sub 4: Customer Segmentation – RFM + K-Means</a:t>
            </a:r>
          </a:p>
        </p:txBody>
      </p:sp>
      <p:sp>
        <p:nvSpPr>
          <p:cNvPr id="3" name="Content Placeholder 2">
            <a:extLst>
              <a:ext uri="{FF2B5EF4-FFF2-40B4-BE49-F238E27FC236}">
                <a16:creationId xmlns:a16="http://schemas.microsoft.com/office/drawing/2014/main" id="{2DF6027F-2301-5005-1523-C1BB0DAE3F25}"/>
              </a:ext>
            </a:extLst>
          </p:cNvPr>
          <p:cNvSpPr>
            <a:spLocks noGrp="1"/>
          </p:cNvSpPr>
          <p:nvPr>
            <p:ph idx="1"/>
          </p:nvPr>
        </p:nvSpPr>
        <p:spPr/>
        <p:txBody>
          <a:bodyPr/>
          <a:lstStyle/>
          <a:p>
            <a:endParaRPr lang="en-SG"/>
          </a:p>
        </p:txBody>
      </p:sp>
      <p:sp>
        <p:nvSpPr>
          <p:cNvPr id="4" name="Slide Number Placeholder 3">
            <a:extLst>
              <a:ext uri="{FF2B5EF4-FFF2-40B4-BE49-F238E27FC236}">
                <a16:creationId xmlns:a16="http://schemas.microsoft.com/office/drawing/2014/main" id="{551E99A4-DF3E-F113-31E3-C4B737010C62}"/>
              </a:ext>
            </a:extLst>
          </p:cNvPr>
          <p:cNvSpPr>
            <a:spLocks noGrp="1"/>
          </p:cNvSpPr>
          <p:nvPr>
            <p:ph type="sldNum" sz="quarter" idx="12"/>
          </p:nvPr>
        </p:nvSpPr>
        <p:spPr/>
        <p:txBody>
          <a:bodyPr/>
          <a:lstStyle/>
          <a:p>
            <a:fld id="{5A37AB63-62EB-4EDF-B1C9-C7FAE06A9E45}" type="slidenum">
              <a:rPr lang="en-SG" smtClean="0"/>
              <a:t>11</a:t>
            </a:fld>
            <a:endParaRPr lang="en-SG"/>
          </a:p>
        </p:txBody>
      </p:sp>
      <p:sp>
        <p:nvSpPr>
          <p:cNvPr id="7" name="Rectangle 6"/>
          <p:cNvSpPr/>
          <p:nvPr/>
        </p:nvSpPr>
        <p:spPr>
          <a:xfrm>
            <a:off x="385507" y="1502664"/>
            <a:ext cx="5577840" cy="2377440"/>
          </a:xfrm>
          <a:prstGeom prst="rect">
            <a:avLst/>
          </a:prstGeom>
          <a:solidFill>
            <a:srgbClr val="D0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48932" y="1466088"/>
            <a:ext cx="5577840" cy="23774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0371" y="1500379"/>
            <a:ext cx="5212080" cy="347472"/>
          </a:xfrm>
          <a:prstGeom prst="rect">
            <a:avLst/>
          </a:prstGeom>
          <a:noFill/>
        </p:spPr>
        <p:txBody>
          <a:bodyPr wrap="square"/>
          <a:lstStyle/>
          <a:p>
            <a:pPr algn="l"/>
            <a:r>
              <a:rPr sz="1500" b="1" i="0" dirty="0">
                <a:solidFill>
                  <a:srgbClr val="1A2E4A"/>
                </a:solidFill>
                <a:latin typeface="Calibri"/>
              </a:rPr>
              <a:t>RFM Framework</a:t>
            </a:r>
          </a:p>
        </p:txBody>
      </p:sp>
      <p:sp>
        <p:nvSpPr>
          <p:cNvPr id="10" name="Rectangle 9"/>
          <p:cNvSpPr/>
          <p:nvPr/>
        </p:nvSpPr>
        <p:spPr>
          <a:xfrm>
            <a:off x="348932" y="1466088"/>
            <a:ext cx="54864" cy="34747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31812" y="2014728"/>
            <a:ext cx="41148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1812" y="2051304"/>
            <a:ext cx="411480" cy="338328"/>
          </a:xfrm>
          <a:prstGeom prst="rect">
            <a:avLst/>
          </a:prstGeom>
          <a:noFill/>
        </p:spPr>
        <p:txBody>
          <a:bodyPr wrap="square"/>
          <a:lstStyle/>
          <a:p>
            <a:pPr algn="ctr"/>
            <a:r>
              <a:rPr sz="2000" b="1" i="0">
                <a:solidFill>
                  <a:srgbClr val="FFFFFF"/>
                </a:solidFill>
                <a:latin typeface="Calibri"/>
              </a:rPr>
              <a:t>R</a:t>
            </a:r>
          </a:p>
        </p:txBody>
      </p:sp>
      <p:sp>
        <p:nvSpPr>
          <p:cNvPr id="13" name="TextBox 12"/>
          <p:cNvSpPr txBox="1"/>
          <p:nvPr/>
        </p:nvSpPr>
        <p:spPr>
          <a:xfrm>
            <a:off x="1034732" y="2033016"/>
            <a:ext cx="1371600" cy="201168"/>
          </a:xfrm>
          <a:prstGeom prst="rect">
            <a:avLst/>
          </a:prstGeom>
          <a:noFill/>
        </p:spPr>
        <p:txBody>
          <a:bodyPr wrap="square"/>
          <a:lstStyle/>
          <a:p>
            <a:pPr algn="l"/>
            <a:r>
              <a:rPr sz="1300" b="1" i="0">
                <a:solidFill>
                  <a:srgbClr val="1E293B"/>
                </a:solidFill>
                <a:latin typeface="Calibri"/>
              </a:rPr>
              <a:t>Recency</a:t>
            </a:r>
          </a:p>
        </p:txBody>
      </p:sp>
      <p:sp>
        <p:nvSpPr>
          <p:cNvPr id="14" name="TextBox 13"/>
          <p:cNvSpPr txBox="1"/>
          <p:nvPr/>
        </p:nvSpPr>
        <p:spPr>
          <a:xfrm>
            <a:off x="1034732" y="2234184"/>
            <a:ext cx="4480560" cy="201168"/>
          </a:xfrm>
          <a:prstGeom prst="rect">
            <a:avLst/>
          </a:prstGeom>
          <a:noFill/>
        </p:spPr>
        <p:txBody>
          <a:bodyPr wrap="square"/>
          <a:lstStyle/>
          <a:p>
            <a:pPr algn="l"/>
            <a:r>
              <a:rPr sz="1100" b="0" i="0">
                <a:solidFill>
                  <a:srgbClr val="64748B"/>
                </a:solidFill>
                <a:latin typeface="Calibri"/>
              </a:rPr>
              <a:t>Days since last purchase (lower = better)</a:t>
            </a:r>
          </a:p>
        </p:txBody>
      </p:sp>
      <p:sp>
        <p:nvSpPr>
          <p:cNvPr id="15" name="Rectangle 14"/>
          <p:cNvSpPr/>
          <p:nvPr/>
        </p:nvSpPr>
        <p:spPr>
          <a:xfrm>
            <a:off x="531812" y="2563368"/>
            <a:ext cx="411480" cy="4114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1812" y="2599944"/>
            <a:ext cx="411480" cy="338328"/>
          </a:xfrm>
          <a:prstGeom prst="rect">
            <a:avLst/>
          </a:prstGeom>
          <a:noFill/>
        </p:spPr>
        <p:txBody>
          <a:bodyPr wrap="square"/>
          <a:lstStyle/>
          <a:p>
            <a:pPr algn="ctr"/>
            <a:r>
              <a:rPr sz="2000" b="1" i="0">
                <a:solidFill>
                  <a:srgbClr val="FFFFFF"/>
                </a:solidFill>
                <a:latin typeface="Calibri"/>
              </a:rPr>
              <a:t>F</a:t>
            </a:r>
          </a:p>
        </p:txBody>
      </p:sp>
      <p:sp>
        <p:nvSpPr>
          <p:cNvPr id="17" name="TextBox 16"/>
          <p:cNvSpPr txBox="1"/>
          <p:nvPr/>
        </p:nvSpPr>
        <p:spPr>
          <a:xfrm>
            <a:off x="1034732" y="2581656"/>
            <a:ext cx="1371600" cy="201168"/>
          </a:xfrm>
          <a:prstGeom prst="rect">
            <a:avLst/>
          </a:prstGeom>
          <a:noFill/>
        </p:spPr>
        <p:txBody>
          <a:bodyPr wrap="square"/>
          <a:lstStyle/>
          <a:p>
            <a:pPr algn="l"/>
            <a:r>
              <a:rPr sz="1300" b="1" i="0">
                <a:solidFill>
                  <a:srgbClr val="1E293B"/>
                </a:solidFill>
                <a:latin typeface="Calibri"/>
              </a:rPr>
              <a:t>Frequency</a:t>
            </a:r>
          </a:p>
        </p:txBody>
      </p:sp>
      <p:sp>
        <p:nvSpPr>
          <p:cNvPr id="18" name="TextBox 17"/>
          <p:cNvSpPr txBox="1"/>
          <p:nvPr/>
        </p:nvSpPr>
        <p:spPr>
          <a:xfrm>
            <a:off x="1034732" y="2782824"/>
            <a:ext cx="4480560" cy="201168"/>
          </a:xfrm>
          <a:prstGeom prst="rect">
            <a:avLst/>
          </a:prstGeom>
          <a:noFill/>
        </p:spPr>
        <p:txBody>
          <a:bodyPr wrap="square"/>
          <a:lstStyle/>
          <a:p>
            <a:pPr algn="l"/>
            <a:r>
              <a:rPr sz="1100" b="0" i="0">
                <a:solidFill>
                  <a:srgbClr val="64748B"/>
                </a:solidFill>
                <a:latin typeface="Calibri"/>
              </a:rPr>
              <a:t>Total number of unique invoices</a:t>
            </a:r>
          </a:p>
        </p:txBody>
      </p:sp>
      <p:sp>
        <p:nvSpPr>
          <p:cNvPr id="19" name="Rectangle 18"/>
          <p:cNvSpPr/>
          <p:nvPr/>
        </p:nvSpPr>
        <p:spPr>
          <a:xfrm>
            <a:off x="531812" y="3112008"/>
            <a:ext cx="411480" cy="4114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31812" y="3148584"/>
            <a:ext cx="411480" cy="338328"/>
          </a:xfrm>
          <a:prstGeom prst="rect">
            <a:avLst/>
          </a:prstGeom>
          <a:noFill/>
        </p:spPr>
        <p:txBody>
          <a:bodyPr wrap="square"/>
          <a:lstStyle/>
          <a:p>
            <a:pPr algn="ctr"/>
            <a:r>
              <a:rPr sz="2000" b="1" i="0">
                <a:solidFill>
                  <a:srgbClr val="FFFFFF"/>
                </a:solidFill>
                <a:latin typeface="Calibri"/>
              </a:rPr>
              <a:t>M</a:t>
            </a:r>
          </a:p>
        </p:txBody>
      </p:sp>
      <p:sp>
        <p:nvSpPr>
          <p:cNvPr id="21" name="TextBox 20"/>
          <p:cNvSpPr txBox="1"/>
          <p:nvPr/>
        </p:nvSpPr>
        <p:spPr>
          <a:xfrm>
            <a:off x="1034732" y="3130296"/>
            <a:ext cx="1371600" cy="201168"/>
          </a:xfrm>
          <a:prstGeom prst="rect">
            <a:avLst/>
          </a:prstGeom>
          <a:noFill/>
        </p:spPr>
        <p:txBody>
          <a:bodyPr wrap="square"/>
          <a:lstStyle/>
          <a:p>
            <a:pPr algn="l"/>
            <a:r>
              <a:rPr sz="1300" b="1" i="0">
                <a:solidFill>
                  <a:srgbClr val="1E293B"/>
                </a:solidFill>
                <a:latin typeface="Calibri"/>
              </a:rPr>
              <a:t>Monetary</a:t>
            </a:r>
          </a:p>
        </p:txBody>
      </p:sp>
      <p:sp>
        <p:nvSpPr>
          <p:cNvPr id="22" name="TextBox 21"/>
          <p:cNvSpPr txBox="1"/>
          <p:nvPr/>
        </p:nvSpPr>
        <p:spPr>
          <a:xfrm>
            <a:off x="1034732" y="3331464"/>
            <a:ext cx="4480560" cy="201168"/>
          </a:xfrm>
          <a:prstGeom prst="rect">
            <a:avLst/>
          </a:prstGeom>
          <a:noFill/>
        </p:spPr>
        <p:txBody>
          <a:bodyPr wrap="square"/>
          <a:lstStyle/>
          <a:p>
            <a:pPr algn="l"/>
            <a:r>
              <a:rPr sz="1100" b="0" i="0">
                <a:solidFill>
                  <a:srgbClr val="64748B"/>
                </a:solidFill>
                <a:latin typeface="Calibri"/>
              </a:rPr>
              <a:t>Total revenue generated (log-transformed)</a:t>
            </a:r>
          </a:p>
        </p:txBody>
      </p:sp>
      <p:sp>
        <p:nvSpPr>
          <p:cNvPr id="23" name="Rectangle 22"/>
          <p:cNvSpPr/>
          <p:nvPr/>
        </p:nvSpPr>
        <p:spPr>
          <a:xfrm>
            <a:off x="385507" y="3989832"/>
            <a:ext cx="5577840" cy="2724912"/>
          </a:xfrm>
          <a:prstGeom prst="rect">
            <a:avLst/>
          </a:prstGeom>
          <a:solidFill>
            <a:srgbClr val="D0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48932" y="3953256"/>
            <a:ext cx="5577840" cy="272491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17512" y="4007545"/>
            <a:ext cx="5212080" cy="347472"/>
          </a:xfrm>
          <a:prstGeom prst="rect">
            <a:avLst/>
          </a:prstGeom>
          <a:noFill/>
        </p:spPr>
        <p:txBody>
          <a:bodyPr wrap="square"/>
          <a:lstStyle/>
          <a:p>
            <a:pPr algn="l"/>
            <a:r>
              <a:rPr sz="1500" b="1" i="0" dirty="0">
                <a:solidFill>
                  <a:srgbClr val="1A2E4A"/>
                </a:solidFill>
                <a:latin typeface="Calibri"/>
              </a:rPr>
              <a:t>K-Means Clustering Configuration</a:t>
            </a:r>
          </a:p>
        </p:txBody>
      </p:sp>
      <p:sp>
        <p:nvSpPr>
          <p:cNvPr id="26" name="Rectangle 25"/>
          <p:cNvSpPr/>
          <p:nvPr/>
        </p:nvSpPr>
        <p:spPr>
          <a:xfrm>
            <a:off x="348932" y="3953256"/>
            <a:ext cx="54864" cy="34747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31812" y="4501896"/>
            <a:ext cx="5212080" cy="2011680"/>
          </a:xfrm>
          <a:prstGeom prst="rect">
            <a:avLst/>
          </a:prstGeom>
          <a:noFill/>
        </p:spPr>
        <p:txBody>
          <a:bodyPr wrap="square">
            <a:spAutoFit/>
          </a:bodyPr>
          <a:lstStyle/>
          <a:p>
            <a:pPr>
              <a:spcAft>
                <a:spcPts val="400"/>
              </a:spcAft>
            </a:pPr>
            <a:r>
              <a:rPr sz="1200">
                <a:solidFill>
                  <a:srgbClr val="1E293B"/>
                </a:solidFill>
                <a:latin typeface="Calibri"/>
              </a:rPr>
              <a:t>▸  Silhouette analysis: optimal k=2 (bimodal UCI distribution)</a:t>
            </a:r>
          </a:p>
          <a:p>
            <a:pPr>
              <a:spcAft>
                <a:spcPts val="400"/>
              </a:spcAft>
            </a:pPr>
            <a:r>
              <a:rPr sz="1200">
                <a:solidFill>
                  <a:srgbClr val="1E293B"/>
                </a:solidFill>
                <a:latin typeface="Calibri"/>
              </a:rPr>
              <a:t>▸  Business decision: k=4 (richer segmentation override)</a:t>
            </a:r>
          </a:p>
          <a:p>
            <a:pPr>
              <a:spcAft>
                <a:spcPts val="400"/>
              </a:spcAft>
            </a:pPr>
            <a:r>
              <a:rPr sz="1200">
                <a:solidFill>
                  <a:srgbClr val="1E293B"/>
                </a:solidFill>
                <a:latin typeface="Calibri"/>
              </a:rPr>
              <a:t>▸  Preprocessing: RobustScaler + log₁₀(Frequency) + log₁₀(Monetary)</a:t>
            </a:r>
          </a:p>
          <a:p>
            <a:pPr>
              <a:spcAft>
                <a:spcPts val="400"/>
              </a:spcAft>
            </a:pPr>
            <a:r>
              <a:rPr sz="1200">
                <a:solidFill>
                  <a:srgbClr val="1E293B"/>
                </a:solidFill>
                <a:latin typeface="Calibri"/>
              </a:rPr>
              <a:t>▸  RobustScaler handles extreme value outlier (£280K customer)</a:t>
            </a:r>
          </a:p>
          <a:p>
            <a:pPr>
              <a:spcAft>
                <a:spcPts val="400"/>
              </a:spcAft>
            </a:pPr>
            <a:r>
              <a:rPr sz="1200">
                <a:solidFill>
                  <a:srgbClr val="1E293B"/>
                </a:solidFill>
                <a:latin typeface="Calibri"/>
              </a:rPr>
              <a:t>▸  Percentile-based thresholds for segment labelling</a:t>
            </a:r>
          </a:p>
          <a:p>
            <a:pPr>
              <a:spcAft>
                <a:spcPts val="400"/>
              </a:spcAft>
            </a:pPr>
            <a:r>
              <a:rPr sz="1200">
                <a:solidFill>
                  <a:srgbClr val="1E293B"/>
                </a:solidFill>
                <a:latin typeface="Calibri"/>
              </a:rPr>
              <a:t>▸  n_init=20, max_iter=300, random_state=42</a:t>
            </a:r>
          </a:p>
        </p:txBody>
      </p:sp>
      <p:sp>
        <p:nvSpPr>
          <p:cNvPr id="28" name="Rectangle 27"/>
          <p:cNvSpPr/>
          <p:nvPr/>
        </p:nvSpPr>
        <p:spPr>
          <a:xfrm>
            <a:off x="6237668" y="1502664"/>
            <a:ext cx="5696712" cy="5212080"/>
          </a:xfrm>
          <a:prstGeom prst="rect">
            <a:avLst/>
          </a:prstGeom>
          <a:solidFill>
            <a:srgbClr val="D0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01092" y="1466088"/>
            <a:ext cx="5696712" cy="52120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47397" y="1481329"/>
            <a:ext cx="5394960" cy="347472"/>
          </a:xfrm>
          <a:prstGeom prst="rect">
            <a:avLst/>
          </a:prstGeom>
          <a:noFill/>
        </p:spPr>
        <p:txBody>
          <a:bodyPr wrap="square"/>
          <a:lstStyle/>
          <a:p>
            <a:pPr algn="l"/>
            <a:r>
              <a:rPr sz="1500" b="1" i="0" dirty="0">
                <a:solidFill>
                  <a:srgbClr val="1A2E4A"/>
                </a:solidFill>
                <a:latin typeface="Calibri"/>
              </a:rPr>
              <a:t>Customer Segments (k=4)</a:t>
            </a:r>
          </a:p>
        </p:txBody>
      </p:sp>
      <p:sp>
        <p:nvSpPr>
          <p:cNvPr id="31" name="Rectangle 30"/>
          <p:cNvSpPr/>
          <p:nvPr/>
        </p:nvSpPr>
        <p:spPr>
          <a:xfrm>
            <a:off x="6201092" y="1466088"/>
            <a:ext cx="54864" cy="34747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383972" y="2014728"/>
            <a:ext cx="502920" cy="8686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383972" y="2215896"/>
            <a:ext cx="502920" cy="411480"/>
          </a:xfrm>
          <a:prstGeom prst="rect">
            <a:avLst/>
          </a:prstGeom>
          <a:noFill/>
        </p:spPr>
        <p:txBody>
          <a:bodyPr wrap="square"/>
          <a:lstStyle/>
          <a:p>
            <a:pPr algn="ctr"/>
            <a:r>
              <a:rPr sz="1200" b="1" i="0">
                <a:solidFill>
                  <a:srgbClr val="FFFFFF"/>
                </a:solidFill>
                <a:latin typeface="Calibri"/>
              </a:rPr>
              <a:t>~5%</a:t>
            </a:r>
          </a:p>
        </p:txBody>
      </p:sp>
      <p:sp>
        <p:nvSpPr>
          <p:cNvPr id="34" name="TextBox 33"/>
          <p:cNvSpPr txBox="1"/>
          <p:nvPr/>
        </p:nvSpPr>
        <p:spPr>
          <a:xfrm>
            <a:off x="6996620" y="2060448"/>
            <a:ext cx="4754880" cy="274320"/>
          </a:xfrm>
          <a:prstGeom prst="rect">
            <a:avLst/>
          </a:prstGeom>
          <a:noFill/>
        </p:spPr>
        <p:txBody>
          <a:bodyPr wrap="square"/>
          <a:lstStyle/>
          <a:p>
            <a:pPr algn="l"/>
            <a:r>
              <a:rPr sz="1300" b="1" i="0">
                <a:solidFill>
                  <a:srgbClr val="1E293B"/>
                </a:solidFill>
                <a:latin typeface="Calibri"/>
              </a:rPr>
              <a:t>VIP Customers</a:t>
            </a:r>
          </a:p>
        </p:txBody>
      </p:sp>
      <p:sp>
        <p:nvSpPr>
          <p:cNvPr id="35" name="TextBox 34"/>
          <p:cNvSpPr txBox="1"/>
          <p:nvPr/>
        </p:nvSpPr>
        <p:spPr>
          <a:xfrm>
            <a:off x="6996620" y="2362199"/>
            <a:ext cx="4754880" cy="475488"/>
          </a:xfrm>
          <a:prstGeom prst="rect">
            <a:avLst/>
          </a:prstGeom>
          <a:noFill/>
        </p:spPr>
        <p:txBody>
          <a:bodyPr wrap="square"/>
          <a:lstStyle/>
          <a:p>
            <a:pPr algn="l"/>
            <a:r>
              <a:rPr sz="1100" b="0" i="0" dirty="0">
                <a:solidFill>
                  <a:srgbClr val="64748B"/>
                </a:solidFill>
                <a:latin typeface="Calibri"/>
              </a:rPr>
              <a:t>Recent, very frequent, very high spend
</a:t>
            </a:r>
            <a:r>
              <a:rPr sz="1100" b="0" i="0" dirty="0" err="1">
                <a:solidFill>
                  <a:srgbClr val="64748B"/>
                </a:solidFill>
                <a:latin typeface="Calibri"/>
              </a:rPr>
              <a:t>Prioritise</a:t>
            </a:r>
            <a:r>
              <a:rPr sz="1100" b="0" i="0" dirty="0">
                <a:solidFill>
                  <a:srgbClr val="64748B"/>
                </a:solidFill>
                <a:latin typeface="Calibri"/>
              </a:rPr>
              <a:t> stock </a:t>
            </a:r>
            <a:r>
              <a:rPr lang="en-SG" sz="1100" b="0" i="0" dirty="0">
                <a:solidFill>
                  <a:srgbClr val="64748B"/>
                </a:solidFill>
                <a:latin typeface="Calibri"/>
              </a:rPr>
              <a:t>-</a:t>
            </a:r>
            <a:r>
              <a:rPr sz="1100" b="0" i="0" dirty="0">
                <a:solidFill>
                  <a:srgbClr val="64748B"/>
                </a:solidFill>
                <a:latin typeface="Calibri"/>
              </a:rPr>
              <a:t> highest value retention</a:t>
            </a:r>
          </a:p>
        </p:txBody>
      </p:sp>
      <p:sp>
        <p:nvSpPr>
          <p:cNvPr id="36" name="Rectangle 35"/>
          <p:cNvSpPr/>
          <p:nvPr/>
        </p:nvSpPr>
        <p:spPr>
          <a:xfrm>
            <a:off x="6383972" y="3038856"/>
            <a:ext cx="502920" cy="8686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83972" y="3240024"/>
            <a:ext cx="502920" cy="411480"/>
          </a:xfrm>
          <a:prstGeom prst="rect">
            <a:avLst/>
          </a:prstGeom>
          <a:noFill/>
        </p:spPr>
        <p:txBody>
          <a:bodyPr wrap="square"/>
          <a:lstStyle/>
          <a:p>
            <a:pPr algn="ctr"/>
            <a:r>
              <a:rPr sz="1200" b="1" i="0">
                <a:solidFill>
                  <a:srgbClr val="FFFFFF"/>
                </a:solidFill>
                <a:latin typeface="Calibri"/>
              </a:rPr>
              <a:t>~18%</a:t>
            </a:r>
          </a:p>
        </p:txBody>
      </p:sp>
      <p:sp>
        <p:nvSpPr>
          <p:cNvPr id="38" name="TextBox 37"/>
          <p:cNvSpPr txBox="1"/>
          <p:nvPr/>
        </p:nvSpPr>
        <p:spPr>
          <a:xfrm>
            <a:off x="6996620" y="3084576"/>
            <a:ext cx="4754880" cy="274320"/>
          </a:xfrm>
          <a:prstGeom prst="rect">
            <a:avLst/>
          </a:prstGeom>
          <a:noFill/>
        </p:spPr>
        <p:txBody>
          <a:bodyPr wrap="square"/>
          <a:lstStyle/>
          <a:p>
            <a:pPr algn="l"/>
            <a:r>
              <a:rPr sz="1300" b="1" i="0">
                <a:solidFill>
                  <a:srgbClr val="1E293B"/>
                </a:solidFill>
                <a:latin typeface="Calibri"/>
              </a:rPr>
              <a:t>Loyal Customers</a:t>
            </a:r>
          </a:p>
        </p:txBody>
      </p:sp>
      <p:sp>
        <p:nvSpPr>
          <p:cNvPr id="39" name="TextBox 38"/>
          <p:cNvSpPr txBox="1"/>
          <p:nvPr/>
        </p:nvSpPr>
        <p:spPr>
          <a:xfrm>
            <a:off x="6996620" y="3386328"/>
            <a:ext cx="4754880" cy="475488"/>
          </a:xfrm>
          <a:prstGeom prst="rect">
            <a:avLst/>
          </a:prstGeom>
          <a:noFill/>
        </p:spPr>
        <p:txBody>
          <a:bodyPr wrap="square"/>
          <a:lstStyle/>
          <a:p>
            <a:pPr algn="l"/>
            <a:r>
              <a:rPr sz="1100" b="0" i="0">
                <a:solidFill>
                  <a:srgbClr val="64748B"/>
                </a:solidFill>
                <a:latin typeface="Calibri"/>
              </a:rPr>
              <a:t>Regular buyers with moderate-to-high spend
Maintain reliable stock availability</a:t>
            </a:r>
          </a:p>
        </p:txBody>
      </p:sp>
      <p:sp>
        <p:nvSpPr>
          <p:cNvPr id="40" name="Rectangle 39"/>
          <p:cNvSpPr/>
          <p:nvPr/>
        </p:nvSpPr>
        <p:spPr>
          <a:xfrm>
            <a:off x="6383972" y="4062984"/>
            <a:ext cx="502920" cy="8686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383972" y="4264152"/>
            <a:ext cx="502920" cy="411480"/>
          </a:xfrm>
          <a:prstGeom prst="rect">
            <a:avLst/>
          </a:prstGeom>
          <a:noFill/>
        </p:spPr>
        <p:txBody>
          <a:bodyPr wrap="square"/>
          <a:lstStyle/>
          <a:p>
            <a:pPr algn="ctr"/>
            <a:r>
              <a:rPr sz="1200" b="1" i="0">
                <a:solidFill>
                  <a:srgbClr val="FFFFFF"/>
                </a:solidFill>
                <a:latin typeface="Calibri"/>
              </a:rPr>
              <a:t>~27%</a:t>
            </a:r>
          </a:p>
        </p:txBody>
      </p:sp>
      <p:sp>
        <p:nvSpPr>
          <p:cNvPr id="42" name="TextBox 41"/>
          <p:cNvSpPr txBox="1"/>
          <p:nvPr/>
        </p:nvSpPr>
        <p:spPr>
          <a:xfrm>
            <a:off x="6996620" y="4108704"/>
            <a:ext cx="4754880" cy="274320"/>
          </a:xfrm>
          <a:prstGeom prst="rect">
            <a:avLst/>
          </a:prstGeom>
          <a:noFill/>
        </p:spPr>
        <p:txBody>
          <a:bodyPr wrap="square"/>
          <a:lstStyle/>
          <a:p>
            <a:pPr algn="l"/>
            <a:r>
              <a:rPr sz="1300" b="1" i="0">
                <a:solidFill>
                  <a:srgbClr val="1E293B"/>
                </a:solidFill>
                <a:latin typeface="Calibri"/>
              </a:rPr>
              <a:t>At-Risk Customers</a:t>
            </a:r>
          </a:p>
        </p:txBody>
      </p:sp>
      <p:sp>
        <p:nvSpPr>
          <p:cNvPr id="43" name="TextBox 42"/>
          <p:cNvSpPr txBox="1"/>
          <p:nvPr/>
        </p:nvSpPr>
        <p:spPr>
          <a:xfrm>
            <a:off x="6996620" y="4410456"/>
            <a:ext cx="4754880" cy="475488"/>
          </a:xfrm>
          <a:prstGeom prst="rect">
            <a:avLst/>
          </a:prstGeom>
          <a:noFill/>
        </p:spPr>
        <p:txBody>
          <a:bodyPr wrap="square"/>
          <a:lstStyle/>
          <a:p>
            <a:pPr algn="l"/>
            <a:r>
              <a:rPr sz="1100" b="0" i="0">
                <a:solidFill>
                  <a:srgbClr val="64748B"/>
                </a:solidFill>
                <a:latin typeface="Calibri"/>
              </a:rPr>
              <a:t>Previously active, now purchasing less often
Re-engagement offers &amp; targeted promotions</a:t>
            </a:r>
          </a:p>
        </p:txBody>
      </p:sp>
      <p:sp>
        <p:nvSpPr>
          <p:cNvPr id="44" name="Rectangle 43"/>
          <p:cNvSpPr/>
          <p:nvPr/>
        </p:nvSpPr>
        <p:spPr>
          <a:xfrm>
            <a:off x="6383972" y="5087112"/>
            <a:ext cx="502920" cy="86868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383972" y="5288280"/>
            <a:ext cx="502920" cy="411480"/>
          </a:xfrm>
          <a:prstGeom prst="rect">
            <a:avLst/>
          </a:prstGeom>
          <a:noFill/>
        </p:spPr>
        <p:txBody>
          <a:bodyPr wrap="square"/>
          <a:lstStyle/>
          <a:p>
            <a:pPr algn="ctr"/>
            <a:r>
              <a:rPr sz="1200" b="1" i="0">
                <a:solidFill>
                  <a:srgbClr val="FFFFFF"/>
                </a:solidFill>
                <a:latin typeface="Calibri"/>
              </a:rPr>
              <a:t>~50%</a:t>
            </a:r>
          </a:p>
        </p:txBody>
      </p:sp>
      <p:sp>
        <p:nvSpPr>
          <p:cNvPr id="46" name="TextBox 45"/>
          <p:cNvSpPr txBox="1"/>
          <p:nvPr/>
        </p:nvSpPr>
        <p:spPr>
          <a:xfrm>
            <a:off x="6996620" y="5132832"/>
            <a:ext cx="4754880" cy="274320"/>
          </a:xfrm>
          <a:prstGeom prst="rect">
            <a:avLst/>
          </a:prstGeom>
          <a:noFill/>
        </p:spPr>
        <p:txBody>
          <a:bodyPr wrap="square"/>
          <a:lstStyle/>
          <a:p>
            <a:pPr algn="l"/>
            <a:r>
              <a:rPr sz="1300" b="1" i="0">
                <a:solidFill>
                  <a:srgbClr val="1E293B"/>
                </a:solidFill>
                <a:latin typeface="Calibri"/>
              </a:rPr>
              <a:t>Churn Risk</a:t>
            </a:r>
          </a:p>
        </p:txBody>
      </p:sp>
      <p:sp>
        <p:nvSpPr>
          <p:cNvPr id="47" name="TextBox 46"/>
          <p:cNvSpPr txBox="1"/>
          <p:nvPr/>
        </p:nvSpPr>
        <p:spPr>
          <a:xfrm>
            <a:off x="6996620" y="5434584"/>
            <a:ext cx="4754880" cy="475488"/>
          </a:xfrm>
          <a:prstGeom prst="rect">
            <a:avLst/>
          </a:prstGeom>
          <a:noFill/>
        </p:spPr>
        <p:txBody>
          <a:bodyPr wrap="square"/>
          <a:lstStyle/>
          <a:p>
            <a:pPr algn="l"/>
            <a:r>
              <a:rPr sz="1100" b="0" i="0">
                <a:solidFill>
                  <a:srgbClr val="64748B"/>
                </a:solidFill>
                <a:latin typeface="Calibri"/>
              </a:rPr>
              <a:t>Infrequent, low spend, haven't purchased recently
Reduced inventory allocation</a:t>
            </a:r>
          </a:p>
        </p:txBody>
      </p:sp>
    </p:spTree>
    <p:extLst>
      <p:ext uri="{BB962C8B-B14F-4D97-AF65-F5344CB8AC3E}">
        <p14:creationId xmlns:p14="http://schemas.microsoft.com/office/powerpoint/2010/main" val="33142110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281E4-61E2-CE55-43DC-ED345F8DF34E}"/>
              </a:ext>
            </a:extLst>
          </p:cNvPr>
          <p:cNvSpPr>
            <a:spLocks noGrp="1"/>
          </p:cNvSpPr>
          <p:nvPr>
            <p:ph type="title"/>
          </p:nvPr>
        </p:nvSpPr>
        <p:spPr>
          <a:xfrm>
            <a:off x="2154061" y="246778"/>
            <a:ext cx="8911687" cy="1280890"/>
          </a:xfrm>
        </p:spPr>
        <p:txBody>
          <a:bodyPr/>
          <a:lstStyle/>
          <a:p>
            <a:r>
              <a:rPr lang="en-SG" dirty="0"/>
              <a:t>Sub5: Fuzzy Logic Reorder System</a:t>
            </a:r>
          </a:p>
        </p:txBody>
      </p:sp>
      <p:sp>
        <p:nvSpPr>
          <p:cNvPr id="4" name="Slide Number Placeholder 3">
            <a:extLst>
              <a:ext uri="{FF2B5EF4-FFF2-40B4-BE49-F238E27FC236}">
                <a16:creationId xmlns:a16="http://schemas.microsoft.com/office/drawing/2014/main" id="{4DD393E2-CFED-0B48-2137-B253C4978132}"/>
              </a:ext>
            </a:extLst>
          </p:cNvPr>
          <p:cNvSpPr>
            <a:spLocks noGrp="1"/>
          </p:cNvSpPr>
          <p:nvPr>
            <p:ph type="sldNum" sz="quarter" idx="12"/>
          </p:nvPr>
        </p:nvSpPr>
        <p:spPr/>
        <p:txBody>
          <a:bodyPr/>
          <a:lstStyle/>
          <a:p>
            <a:fld id="{5A37AB63-62EB-4EDF-B1C9-C7FAE06A9E45}" type="slidenum">
              <a:rPr lang="en-SG" smtClean="0"/>
              <a:t>12</a:t>
            </a:fld>
            <a:endParaRPr lang="en-SG"/>
          </a:p>
        </p:txBody>
      </p:sp>
      <p:sp>
        <p:nvSpPr>
          <p:cNvPr id="141" name="Shape 4">
            <a:extLst>
              <a:ext uri="{FF2B5EF4-FFF2-40B4-BE49-F238E27FC236}">
                <a16:creationId xmlns:a16="http://schemas.microsoft.com/office/drawing/2014/main" id="{8A5914EB-D81C-F94F-4D35-0FC281EB74C3}"/>
              </a:ext>
            </a:extLst>
          </p:cNvPr>
          <p:cNvSpPr/>
          <p:nvPr/>
        </p:nvSpPr>
        <p:spPr>
          <a:xfrm>
            <a:off x="312356" y="1323595"/>
            <a:ext cx="4267200" cy="5486400"/>
          </a:xfrm>
          <a:prstGeom prst="rect">
            <a:avLst/>
          </a:prstGeom>
          <a:solidFill>
            <a:srgbClr val="162032"/>
          </a:solidFill>
          <a:ln w="12700">
            <a:solidFill>
              <a:srgbClr val="1E3A5F"/>
            </a:solidFill>
            <a:prstDash val="solid"/>
          </a:ln>
          <a:effectLst>
            <a:outerShdw blurRad="101600" dist="25400" dir="8100000" algn="bl" rotWithShape="0">
              <a:srgbClr val="000000">
                <a:alpha val="18000"/>
              </a:srgbClr>
            </a:outerShdw>
          </a:effectLst>
        </p:spPr>
      </p:sp>
      <p:sp>
        <p:nvSpPr>
          <p:cNvPr id="142" name="Shape 5">
            <a:extLst>
              <a:ext uri="{FF2B5EF4-FFF2-40B4-BE49-F238E27FC236}">
                <a16:creationId xmlns:a16="http://schemas.microsoft.com/office/drawing/2014/main" id="{45D38D5C-F1CD-2F7B-579B-49CF26C4E526}"/>
              </a:ext>
            </a:extLst>
          </p:cNvPr>
          <p:cNvSpPr/>
          <p:nvPr/>
        </p:nvSpPr>
        <p:spPr>
          <a:xfrm>
            <a:off x="312356" y="1323595"/>
            <a:ext cx="4267200" cy="73152"/>
          </a:xfrm>
          <a:prstGeom prst="rect">
            <a:avLst/>
          </a:prstGeom>
          <a:solidFill>
            <a:srgbClr val="00B4D8"/>
          </a:solidFill>
          <a:ln w="12700">
            <a:solidFill>
              <a:srgbClr val="00B4D8"/>
            </a:solidFill>
            <a:prstDash val="solid"/>
          </a:ln>
        </p:spPr>
      </p:sp>
      <p:sp>
        <p:nvSpPr>
          <p:cNvPr id="143" name="Text 6">
            <a:extLst>
              <a:ext uri="{FF2B5EF4-FFF2-40B4-BE49-F238E27FC236}">
                <a16:creationId xmlns:a16="http://schemas.microsoft.com/office/drawing/2014/main" id="{BB3A1949-1CDA-3FF0-09B1-09E33D86F578}"/>
              </a:ext>
            </a:extLst>
          </p:cNvPr>
          <p:cNvSpPr/>
          <p:nvPr/>
        </p:nvSpPr>
        <p:spPr>
          <a:xfrm>
            <a:off x="531812" y="1445515"/>
            <a:ext cx="3901440" cy="341376"/>
          </a:xfrm>
          <a:prstGeom prst="rect">
            <a:avLst/>
          </a:prstGeom>
          <a:noFill/>
          <a:ln/>
        </p:spPr>
        <p:txBody>
          <a:bodyPr wrap="square" lIns="0" tIns="0" rIns="0" bIns="0" rtlCol="0" anchor="ctr"/>
          <a:lstStyle/>
          <a:p>
            <a:r>
              <a:rPr lang="en-US" sz="1400" b="1" dirty="0">
                <a:solidFill>
                  <a:srgbClr val="00B4D8"/>
                </a:solidFill>
              </a:rPr>
              <a:t>Fuzzy Inputs &amp; Output</a:t>
            </a:r>
            <a:endParaRPr lang="en-US" sz="1400" dirty="0"/>
          </a:p>
        </p:txBody>
      </p:sp>
      <p:sp>
        <p:nvSpPr>
          <p:cNvPr id="144" name="Shape 7">
            <a:extLst>
              <a:ext uri="{FF2B5EF4-FFF2-40B4-BE49-F238E27FC236}">
                <a16:creationId xmlns:a16="http://schemas.microsoft.com/office/drawing/2014/main" id="{068278CC-59DC-042A-5150-38BDE4ED7C01}"/>
              </a:ext>
            </a:extLst>
          </p:cNvPr>
          <p:cNvSpPr/>
          <p:nvPr/>
        </p:nvSpPr>
        <p:spPr>
          <a:xfrm>
            <a:off x="373316" y="1908811"/>
            <a:ext cx="85344" cy="560832"/>
          </a:xfrm>
          <a:prstGeom prst="rect">
            <a:avLst/>
          </a:prstGeom>
          <a:solidFill>
            <a:srgbClr val="90E0EF"/>
          </a:solidFill>
          <a:ln w="12700">
            <a:solidFill>
              <a:srgbClr val="90E0EF"/>
            </a:solidFill>
            <a:prstDash val="solid"/>
          </a:ln>
        </p:spPr>
      </p:sp>
      <p:sp>
        <p:nvSpPr>
          <p:cNvPr id="145" name="Text 8">
            <a:extLst>
              <a:ext uri="{FF2B5EF4-FFF2-40B4-BE49-F238E27FC236}">
                <a16:creationId xmlns:a16="http://schemas.microsoft.com/office/drawing/2014/main" id="{CAB8656D-B6CE-27C7-0C26-BBA9F860DF08}"/>
              </a:ext>
            </a:extLst>
          </p:cNvPr>
          <p:cNvSpPr/>
          <p:nvPr/>
        </p:nvSpPr>
        <p:spPr>
          <a:xfrm>
            <a:off x="617156" y="1933195"/>
            <a:ext cx="3779520" cy="280416"/>
          </a:xfrm>
          <a:prstGeom prst="rect">
            <a:avLst/>
          </a:prstGeom>
          <a:noFill/>
          <a:ln/>
        </p:spPr>
        <p:txBody>
          <a:bodyPr wrap="square" lIns="0" tIns="0" rIns="0" bIns="0" rtlCol="0" anchor="ctr"/>
          <a:lstStyle/>
          <a:p>
            <a:r>
              <a:rPr lang="en-US" sz="1267" b="1" dirty="0">
                <a:solidFill>
                  <a:srgbClr val="FFFFFF"/>
                </a:solidFill>
              </a:rPr>
              <a:t>Coverage   0 – 5 (ratio)</a:t>
            </a:r>
            <a:endParaRPr lang="en-US" sz="1267" dirty="0"/>
          </a:p>
        </p:txBody>
      </p:sp>
      <p:sp>
        <p:nvSpPr>
          <p:cNvPr id="146" name="Text 9">
            <a:extLst>
              <a:ext uri="{FF2B5EF4-FFF2-40B4-BE49-F238E27FC236}">
                <a16:creationId xmlns:a16="http://schemas.microsoft.com/office/drawing/2014/main" id="{8BD03738-C861-DBBC-DE18-135D38BBA9EC}"/>
              </a:ext>
            </a:extLst>
          </p:cNvPr>
          <p:cNvSpPr/>
          <p:nvPr/>
        </p:nvSpPr>
        <p:spPr>
          <a:xfrm>
            <a:off x="617156" y="2225803"/>
            <a:ext cx="3779520" cy="219456"/>
          </a:xfrm>
          <a:prstGeom prst="rect">
            <a:avLst/>
          </a:prstGeom>
          <a:noFill/>
          <a:ln/>
        </p:spPr>
        <p:txBody>
          <a:bodyPr wrap="square" lIns="0" tIns="0" rIns="0" bIns="0" rtlCol="0" anchor="ctr"/>
          <a:lstStyle/>
          <a:p>
            <a:r>
              <a:rPr lang="en-US" sz="1067" dirty="0">
                <a:solidFill>
                  <a:srgbClr val="CBD5E1"/>
                </a:solidFill>
              </a:rPr>
              <a:t>critical / low / adequate / high</a:t>
            </a:r>
            <a:endParaRPr lang="en-US" sz="1067" dirty="0"/>
          </a:p>
        </p:txBody>
      </p:sp>
      <p:sp>
        <p:nvSpPr>
          <p:cNvPr id="147" name="Shape 10">
            <a:extLst>
              <a:ext uri="{FF2B5EF4-FFF2-40B4-BE49-F238E27FC236}">
                <a16:creationId xmlns:a16="http://schemas.microsoft.com/office/drawing/2014/main" id="{6F13DB25-7EB6-FFD9-45B2-912BB6CBF0AF}"/>
              </a:ext>
            </a:extLst>
          </p:cNvPr>
          <p:cNvSpPr/>
          <p:nvPr/>
        </p:nvSpPr>
        <p:spPr>
          <a:xfrm>
            <a:off x="373316" y="2615947"/>
            <a:ext cx="85344" cy="560832"/>
          </a:xfrm>
          <a:prstGeom prst="rect">
            <a:avLst/>
          </a:prstGeom>
          <a:solidFill>
            <a:srgbClr val="F59E0B"/>
          </a:solidFill>
          <a:ln w="12700">
            <a:solidFill>
              <a:srgbClr val="F59E0B"/>
            </a:solidFill>
            <a:prstDash val="solid"/>
          </a:ln>
        </p:spPr>
      </p:sp>
      <p:sp>
        <p:nvSpPr>
          <p:cNvPr id="148" name="Text 11">
            <a:extLst>
              <a:ext uri="{FF2B5EF4-FFF2-40B4-BE49-F238E27FC236}">
                <a16:creationId xmlns:a16="http://schemas.microsoft.com/office/drawing/2014/main" id="{EBD09500-ED91-7605-70E3-6C9F9FD39D69}"/>
              </a:ext>
            </a:extLst>
          </p:cNvPr>
          <p:cNvSpPr/>
          <p:nvPr/>
        </p:nvSpPr>
        <p:spPr>
          <a:xfrm>
            <a:off x="617156" y="2640331"/>
            <a:ext cx="3779520" cy="280416"/>
          </a:xfrm>
          <a:prstGeom prst="rect">
            <a:avLst/>
          </a:prstGeom>
          <a:noFill/>
          <a:ln/>
        </p:spPr>
        <p:txBody>
          <a:bodyPr wrap="square" lIns="0" tIns="0" rIns="0" bIns="0" rtlCol="0" anchor="ctr"/>
          <a:lstStyle/>
          <a:p>
            <a:r>
              <a:rPr lang="en-US" sz="1267" b="1" dirty="0">
                <a:solidFill>
                  <a:srgbClr val="FFFFFF"/>
                </a:solidFill>
              </a:rPr>
              <a:t>Volatility   0 – 3  (CV)</a:t>
            </a:r>
            <a:endParaRPr lang="en-US" sz="1267" dirty="0"/>
          </a:p>
        </p:txBody>
      </p:sp>
      <p:sp>
        <p:nvSpPr>
          <p:cNvPr id="149" name="Text 12">
            <a:extLst>
              <a:ext uri="{FF2B5EF4-FFF2-40B4-BE49-F238E27FC236}">
                <a16:creationId xmlns:a16="http://schemas.microsoft.com/office/drawing/2014/main" id="{87A6BE65-3907-05A6-0A6E-ADD7F1705D60}"/>
              </a:ext>
            </a:extLst>
          </p:cNvPr>
          <p:cNvSpPr/>
          <p:nvPr/>
        </p:nvSpPr>
        <p:spPr>
          <a:xfrm>
            <a:off x="617156" y="2932939"/>
            <a:ext cx="3779520" cy="219456"/>
          </a:xfrm>
          <a:prstGeom prst="rect">
            <a:avLst/>
          </a:prstGeom>
          <a:noFill/>
          <a:ln/>
        </p:spPr>
        <p:txBody>
          <a:bodyPr wrap="square" lIns="0" tIns="0" rIns="0" bIns="0" rtlCol="0" anchor="ctr"/>
          <a:lstStyle/>
          <a:p>
            <a:r>
              <a:rPr lang="en-US" sz="1067" dirty="0">
                <a:solidFill>
                  <a:srgbClr val="CBD5E1"/>
                </a:solidFill>
              </a:rPr>
              <a:t>stable / variable / volatile</a:t>
            </a:r>
            <a:endParaRPr lang="en-US" sz="1067" dirty="0"/>
          </a:p>
        </p:txBody>
      </p:sp>
      <p:sp>
        <p:nvSpPr>
          <p:cNvPr id="150" name="Shape 13">
            <a:extLst>
              <a:ext uri="{FF2B5EF4-FFF2-40B4-BE49-F238E27FC236}">
                <a16:creationId xmlns:a16="http://schemas.microsoft.com/office/drawing/2014/main" id="{8CD21057-FCB1-83C6-7045-C8E6C7603A0E}"/>
              </a:ext>
            </a:extLst>
          </p:cNvPr>
          <p:cNvSpPr/>
          <p:nvPr/>
        </p:nvSpPr>
        <p:spPr>
          <a:xfrm>
            <a:off x="373316" y="3323083"/>
            <a:ext cx="85344" cy="560832"/>
          </a:xfrm>
          <a:prstGeom prst="rect">
            <a:avLst/>
          </a:prstGeom>
          <a:solidFill>
            <a:srgbClr val="10B981"/>
          </a:solidFill>
          <a:ln w="12700">
            <a:solidFill>
              <a:srgbClr val="10B981"/>
            </a:solidFill>
            <a:prstDash val="solid"/>
          </a:ln>
        </p:spPr>
      </p:sp>
      <p:sp>
        <p:nvSpPr>
          <p:cNvPr id="151" name="Text 14">
            <a:extLst>
              <a:ext uri="{FF2B5EF4-FFF2-40B4-BE49-F238E27FC236}">
                <a16:creationId xmlns:a16="http://schemas.microsoft.com/office/drawing/2014/main" id="{E6953C3B-53E4-63BD-E9A0-EF7BECD464B3}"/>
              </a:ext>
            </a:extLst>
          </p:cNvPr>
          <p:cNvSpPr/>
          <p:nvPr/>
        </p:nvSpPr>
        <p:spPr>
          <a:xfrm>
            <a:off x="617156" y="3347467"/>
            <a:ext cx="3779520" cy="280416"/>
          </a:xfrm>
          <a:prstGeom prst="rect">
            <a:avLst/>
          </a:prstGeom>
          <a:noFill/>
          <a:ln/>
        </p:spPr>
        <p:txBody>
          <a:bodyPr wrap="square" lIns="0" tIns="0" rIns="0" bIns="0" rtlCol="0" anchor="ctr"/>
          <a:lstStyle/>
          <a:p>
            <a:r>
              <a:rPr lang="en-US" sz="1267" b="1" dirty="0">
                <a:solidFill>
                  <a:srgbClr val="FFFFFF"/>
                </a:solidFill>
              </a:rPr>
              <a:t>Priority   0 – 100</a:t>
            </a:r>
            <a:endParaRPr lang="en-US" sz="1267" dirty="0"/>
          </a:p>
        </p:txBody>
      </p:sp>
      <p:sp>
        <p:nvSpPr>
          <p:cNvPr id="152" name="Text 15">
            <a:extLst>
              <a:ext uri="{FF2B5EF4-FFF2-40B4-BE49-F238E27FC236}">
                <a16:creationId xmlns:a16="http://schemas.microsoft.com/office/drawing/2014/main" id="{38C30C6D-AE94-2C2C-2EF9-6664FF2F0F40}"/>
              </a:ext>
            </a:extLst>
          </p:cNvPr>
          <p:cNvSpPr/>
          <p:nvPr/>
        </p:nvSpPr>
        <p:spPr>
          <a:xfrm>
            <a:off x="617156" y="3640075"/>
            <a:ext cx="3779520" cy="219456"/>
          </a:xfrm>
          <a:prstGeom prst="rect">
            <a:avLst/>
          </a:prstGeom>
          <a:noFill/>
          <a:ln/>
        </p:spPr>
        <p:txBody>
          <a:bodyPr wrap="square" lIns="0" tIns="0" rIns="0" bIns="0" rtlCol="0" anchor="ctr"/>
          <a:lstStyle/>
          <a:p>
            <a:r>
              <a:rPr lang="en-US" sz="1067" dirty="0">
                <a:solidFill>
                  <a:srgbClr val="CBD5E1"/>
                </a:solidFill>
              </a:rPr>
              <a:t>none / low / medium / high / critical</a:t>
            </a:r>
            <a:endParaRPr lang="en-US" sz="1067" dirty="0"/>
          </a:p>
        </p:txBody>
      </p:sp>
      <p:sp>
        <p:nvSpPr>
          <p:cNvPr id="153" name="Shape 16">
            <a:extLst>
              <a:ext uri="{FF2B5EF4-FFF2-40B4-BE49-F238E27FC236}">
                <a16:creationId xmlns:a16="http://schemas.microsoft.com/office/drawing/2014/main" id="{CF58765B-D6E8-5FC6-D5B9-F29584F6746D}"/>
              </a:ext>
            </a:extLst>
          </p:cNvPr>
          <p:cNvSpPr/>
          <p:nvPr/>
        </p:nvSpPr>
        <p:spPr>
          <a:xfrm>
            <a:off x="373316" y="4078987"/>
            <a:ext cx="4084320" cy="30480"/>
          </a:xfrm>
          <a:prstGeom prst="rect">
            <a:avLst/>
          </a:prstGeom>
          <a:solidFill>
            <a:srgbClr val="1E3A5F"/>
          </a:solidFill>
          <a:ln w="12700">
            <a:solidFill>
              <a:srgbClr val="1E3A5F"/>
            </a:solidFill>
            <a:prstDash val="solid"/>
          </a:ln>
        </p:spPr>
      </p:sp>
      <p:sp>
        <p:nvSpPr>
          <p:cNvPr id="154" name="Text 17">
            <a:extLst>
              <a:ext uri="{FF2B5EF4-FFF2-40B4-BE49-F238E27FC236}">
                <a16:creationId xmlns:a16="http://schemas.microsoft.com/office/drawing/2014/main" id="{D72F1764-13F3-E431-60EE-0E3BA9E7D8F5}"/>
              </a:ext>
            </a:extLst>
          </p:cNvPr>
          <p:cNvSpPr/>
          <p:nvPr/>
        </p:nvSpPr>
        <p:spPr>
          <a:xfrm>
            <a:off x="531812" y="4164331"/>
            <a:ext cx="3901440" cy="316992"/>
          </a:xfrm>
          <a:prstGeom prst="rect">
            <a:avLst/>
          </a:prstGeom>
          <a:noFill/>
          <a:ln/>
        </p:spPr>
        <p:txBody>
          <a:bodyPr wrap="square" lIns="0" tIns="0" rIns="0" bIns="0" rtlCol="0" anchor="ctr"/>
          <a:lstStyle/>
          <a:p>
            <a:r>
              <a:rPr lang="en-US" sz="1333" b="1" dirty="0">
                <a:solidFill>
                  <a:srgbClr val="00B4D8"/>
                </a:solidFill>
              </a:rPr>
              <a:t>10 IF-THEN Rules  (key examples)</a:t>
            </a:r>
            <a:endParaRPr lang="en-US" sz="1333" dirty="0"/>
          </a:p>
        </p:txBody>
      </p:sp>
      <p:sp>
        <p:nvSpPr>
          <p:cNvPr id="155" name="Text 18">
            <a:extLst>
              <a:ext uri="{FF2B5EF4-FFF2-40B4-BE49-F238E27FC236}">
                <a16:creationId xmlns:a16="http://schemas.microsoft.com/office/drawing/2014/main" id="{E7AAEB4F-1E64-2937-439F-C166B03FD51F}"/>
              </a:ext>
            </a:extLst>
          </p:cNvPr>
          <p:cNvSpPr/>
          <p:nvPr/>
        </p:nvSpPr>
        <p:spPr>
          <a:xfrm>
            <a:off x="470852" y="4566667"/>
            <a:ext cx="219456" cy="292608"/>
          </a:xfrm>
          <a:prstGeom prst="rect">
            <a:avLst/>
          </a:prstGeom>
          <a:noFill/>
          <a:ln/>
        </p:spPr>
        <p:txBody>
          <a:bodyPr wrap="square" lIns="0" tIns="0" rIns="0" bIns="0" rtlCol="0" anchor="ctr"/>
          <a:lstStyle/>
          <a:p>
            <a:r>
              <a:rPr lang="en-US" sz="933" dirty="0">
                <a:solidFill>
                  <a:srgbClr val="00B4D8"/>
                </a:solidFill>
              </a:rPr>
              <a:t>▸</a:t>
            </a:r>
            <a:endParaRPr lang="en-US" sz="933" dirty="0"/>
          </a:p>
        </p:txBody>
      </p:sp>
      <p:sp>
        <p:nvSpPr>
          <p:cNvPr id="156" name="Text 19">
            <a:extLst>
              <a:ext uri="{FF2B5EF4-FFF2-40B4-BE49-F238E27FC236}">
                <a16:creationId xmlns:a16="http://schemas.microsoft.com/office/drawing/2014/main" id="{2CB3C329-270B-6727-4586-5826A240B8D0}"/>
              </a:ext>
            </a:extLst>
          </p:cNvPr>
          <p:cNvSpPr/>
          <p:nvPr/>
        </p:nvSpPr>
        <p:spPr>
          <a:xfrm>
            <a:off x="678116" y="4566667"/>
            <a:ext cx="2682240" cy="292608"/>
          </a:xfrm>
          <a:prstGeom prst="rect">
            <a:avLst/>
          </a:prstGeom>
          <a:noFill/>
          <a:ln/>
        </p:spPr>
        <p:txBody>
          <a:bodyPr wrap="square" lIns="0" tIns="0" rIns="0" bIns="0" rtlCol="0" anchor="ctr"/>
          <a:lstStyle/>
          <a:p>
            <a:r>
              <a:rPr lang="en-US" sz="1000" dirty="0">
                <a:solidFill>
                  <a:srgbClr val="CBD5E1"/>
                </a:solidFill>
                <a:latin typeface="Consolas" pitchFamily="34" charset="0"/>
                <a:ea typeface="Consolas" pitchFamily="34" charset="-122"/>
                <a:cs typeface="Consolas" pitchFamily="34" charset="-120"/>
              </a:rPr>
              <a:t>coverage=critical</a:t>
            </a:r>
            <a:endParaRPr lang="en-US" sz="1000" dirty="0"/>
          </a:p>
        </p:txBody>
      </p:sp>
      <p:sp>
        <p:nvSpPr>
          <p:cNvPr id="157" name="Text 20">
            <a:extLst>
              <a:ext uri="{FF2B5EF4-FFF2-40B4-BE49-F238E27FC236}">
                <a16:creationId xmlns:a16="http://schemas.microsoft.com/office/drawing/2014/main" id="{5DE103BB-6FE1-A2A7-A955-6EA860AA3525}"/>
              </a:ext>
            </a:extLst>
          </p:cNvPr>
          <p:cNvSpPr/>
          <p:nvPr/>
        </p:nvSpPr>
        <p:spPr>
          <a:xfrm>
            <a:off x="3396932" y="4566667"/>
            <a:ext cx="1097280" cy="292608"/>
          </a:xfrm>
          <a:prstGeom prst="rect">
            <a:avLst/>
          </a:prstGeom>
          <a:noFill/>
          <a:ln/>
        </p:spPr>
        <p:txBody>
          <a:bodyPr wrap="square" lIns="0" tIns="0" rIns="0" bIns="0" rtlCol="0" anchor="ctr"/>
          <a:lstStyle/>
          <a:p>
            <a:r>
              <a:rPr lang="en-US" sz="1000" b="1" dirty="0">
                <a:solidFill>
                  <a:srgbClr val="EF4444"/>
                </a:solidFill>
                <a:latin typeface="Consolas" pitchFamily="34" charset="0"/>
                <a:ea typeface="Consolas" pitchFamily="34" charset="-122"/>
                <a:cs typeface="Consolas" pitchFamily="34" charset="-120"/>
              </a:rPr>
              <a:t>→ CRITICAL</a:t>
            </a:r>
            <a:endParaRPr lang="en-US" sz="1000" dirty="0"/>
          </a:p>
        </p:txBody>
      </p:sp>
      <p:sp>
        <p:nvSpPr>
          <p:cNvPr id="158" name="Text 21">
            <a:extLst>
              <a:ext uri="{FF2B5EF4-FFF2-40B4-BE49-F238E27FC236}">
                <a16:creationId xmlns:a16="http://schemas.microsoft.com/office/drawing/2014/main" id="{52D5C537-173D-FCE2-19CC-9FF782B40FF0}"/>
              </a:ext>
            </a:extLst>
          </p:cNvPr>
          <p:cNvSpPr/>
          <p:nvPr/>
        </p:nvSpPr>
        <p:spPr>
          <a:xfrm>
            <a:off x="470852" y="4932427"/>
            <a:ext cx="219456" cy="292608"/>
          </a:xfrm>
          <a:prstGeom prst="rect">
            <a:avLst/>
          </a:prstGeom>
          <a:noFill/>
          <a:ln/>
        </p:spPr>
        <p:txBody>
          <a:bodyPr wrap="square" lIns="0" tIns="0" rIns="0" bIns="0" rtlCol="0" anchor="ctr"/>
          <a:lstStyle/>
          <a:p>
            <a:r>
              <a:rPr lang="en-US" sz="933" dirty="0">
                <a:solidFill>
                  <a:srgbClr val="00B4D8"/>
                </a:solidFill>
              </a:rPr>
              <a:t>▸</a:t>
            </a:r>
            <a:endParaRPr lang="en-US" sz="933" dirty="0"/>
          </a:p>
        </p:txBody>
      </p:sp>
      <p:sp>
        <p:nvSpPr>
          <p:cNvPr id="159" name="Text 22">
            <a:extLst>
              <a:ext uri="{FF2B5EF4-FFF2-40B4-BE49-F238E27FC236}">
                <a16:creationId xmlns:a16="http://schemas.microsoft.com/office/drawing/2014/main" id="{CC8B4B50-D46C-1A53-369E-192D2EEF9570}"/>
              </a:ext>
            </a:extLst>
          </p:cNvPr>
          <p:cNvSpPr/>
          <p:nvPr/>
        </p:nvSpPr>
        <p:spPr>
          <a:xfrm>
            <a:off x="678116" y="4932427"/>
            <a:ext cx="2682240" cy="292608"/>
          </a:xfrm>
          <a:prstGeom prst="rect">
            <a:avLst/>
          </a:prstGeom>
          <a:noFill/>
          <a:ln/>
        </p:spPr>
        <p:txBody>
          <a:bodyPr wrap="square" lIns="0" tIns="0" rIns="0" bIns="0" rtlCol="0" anchor="ctr"/>
          <a:lstStyle/>
          <a:p>
            <a:r>
              <a:rPr lang="en-US" sz="1000" dirty="0">
                <a:solidFill>
                  <a:srgbClr val="CBD5E1"/>
                </a:solidFill>
                <a:latin typeface="Consolas" pitchFamily="34" charset="0"/>
                <a:ea typeface="Consolas" pitchFamily="34" charset="-122"/>
                <a:cs typeface="Consolas" pitchFamily="34" charset="-120"/>
              </a:rPr>
              <a:t>coverage=low    &amp; volatility=volatile</a:t>
            </a:r>
            <a:endParaRPr lang="en-US" sz="1000" dirty="0"/>
          </a:p>
        </p:txBody>
      </p:sp>
      <p:sp>
        <p:nvSpPr>
          <p:cNvPr id="160" name="Text 23">
            <a:extLst>
              <a:ext uri="{FF2B5EF4-FFF2-40B4-BE49-F238E27FC236}">
                <a16:creationId xmlns:a16="http://schemas.microsoft.com/office/drawing/2014/main" id="{85AB8AB2-28CB-3224-2A61-CACDD3D5432D}"/>
              </a:ext>
            </a:extLst>
          </p:cNvPr>
          <p:cNvSpPr/>
          <p:nvPr/>
        </p:nvSpPr>
        <p:spPr>
          <a:xfrm>
            <a:off x="3396932" y="4932427"/>
            <a:ext cx="1097280" cy="292608"/>
          </a:xfrm>
          <a:prstGeom prst="rect">
            <a:avLst/>
          </a:prstGeom>
          <a:noFill/>
          <a:ln/>
        </p:spPr>
        <p:txBody>
          <a:bodyPr wrap="square" lIns="0" tIns="0" rIns="0" bIns="0" rtlCol="0" anchor="ctr"/>
          <a:lstStyle/>
          <a:p>
            <a:r>
              <a:rPr lang="en-US" sz="1000" b="1" dirty="0">
                <a:solidFill>
                  <a:srgbClr val="EF4444"/>
                </a:solidFill>
                <a:latin typeface="Consolas" pitchFamily="34" charset="0"/>
                <a:ea typeface="Consolas" pitchFamily="34" charset="-122"/>
                <a:cs typeface="Consolas" pitchFamily="34" charset="-120"/>
              </a:rPr>
              <a:t>→ CRITICAL</a:t>
            </a:r>
            <a:endParaRPr lang="en-US" sz="1000" dirty="0"/>
          </a:p>
        </p:txBody>
      </p:sp>
      <p:sp>
        <p:nvSpPr>
          <p:cNvPr id="161" name="Text 24">
            <a:extLst>
              <a:ext uri="{FF2B5EF4-FFF2-40B4-BE49-F238E27FC236}">
                <a16:creationId xmlns:a16="http://schemas.microsoft.com/office/drawing/2014/main" id="{55A7E3D7-E82D-A6B2-C722-93C2F720D814}"/>
              </a:ext>
            </a:extLst>
          </p:cNvPr>
          <p:cNvSpPr/>
          <p:nvPr/>
        </p:nvSpPr>
        <p:spPr>
          <a:xfrm>
            <a:off x="470852" y="5298187"/>
            <a:ext cx="219456" cy="292608"/>
          </a:xfrm>
          <a:prstGeom prst="rect">
            <a:avLst/>
          </a:prstGeom>
          <a:noFill/>
          <a:ln/>
        </p:spPr>
        <p:txBody>
          <a:bodyPr wrap="square" lIns="0" tIns="0" rIns="0" bIns="0" rtlCol="0" anchor="ctr"/>
          <a:lstStyle/>
          <a:p>
            <a:r>
              <a:rPr lang="en-US" sz="933" dirty="0">
                <a:solidFill>
                  <a:srgbClr val="00B4D8"/>
                </a:solidFill>
              </a:rPr>
              <a:t>▸</a:t>
            </a:r>
            <a:endParaRPr lang="en-US" sz="933" dirty="0"/>
          </a:p>
        </p:txBody>
      </p:sp>
      <p:sp>
        <p:nvSpPr>
          <p:cNvPr id="162" name="Text 25">
            <a:extLst>
              <a:ext uri="{FF2B5EF4-FFF2-40B4-BE49-F238E27FC236}">
                <a16:creationId xmlns:a16="http://schemas.microsoft.com/office/drawing/2014/main" id="{4F6B73A7-FB57-D4CB-6CD7-F83D44227E0A}"/>
              </a:ext>
            </a:extLst>
          </p:cNvPr>
          <p:cNvSpPr/>
          <p:nvPr/>
        </p:nvSpPr>
        <p:spPr>
          <a:xfrm>
            <a:off x="678116" y="5298187"/>
            <a:ext cx="2682240" cy="292608"/>
          </a:xfrm>
          <a:prstGeom prst="rect">
            <a:avLst/>
          </a:prstGeom>
          <a:noFill/>
          <a:ln/>
        </p:spPr>
        <p:txBody>
          <a:bodyPr wrap="square" lIns="0" tIns="0" rIns="0" bIns="0" rtlCol="0" anchor="ctr"/>
          <a:lstStyle/>
          <a:p>
            <a:r>
              <a:rPr lang="en-US" sz="1000" dirty="0">
                <a:solidFill>
                  <a:srgbClr val="CBD5E1"/>
                </a:solidFill>
                <a:latin typeface="Consolas" pitchFamily="34" charset="0"/>
                <a:ea typeface="Consolas" pitchFamily="34" charset="-122"/>
                <a:cs typeface="Consolas" pitchFamily="34" charset="-120"/>
              </a:rPr>
              <a:t>coverage=low    &amp; volatility=variable</a:t>
            </a:r>
            <a:endParaRPr lang="en-US" sz="1000" dirty="0"/>
          </a:p>
        </p:txBody>
      </p:sp>
      <p:sp>
        <p:nvSpPr>
          <p:cNvPr id="163" name="Text 26">
            <a:extLst>
              <a:ext uri="{FF2B5EF4-FFF2-40B4-BE49-F238E27FC236}">
                <a16:creationId xmlns:a16="http://schemas.microsoft.com/office/drawing/2014/main" id="{0A5BEB4E-DBBD-E56D-A830-89F55E5697E2}"/>
              </a:ext>
            </a:extLst>
          </p:cNvPr>
          <p:cNvSpPr/>
          <p:nvPr/>
        </p:nvSpPr>
        <p:spPr>
          <a:xfrm>
            <a:off x="3396932" y="5298187"/>
            <a:ext cx="1097280" cy="292608"/>
          </a:xfrm>
          <a:prstGeom prst="rect">
            <a:avLst/>
          </a:prstGeom>
          <a:noFill/>
          <a:ln/>
        </p:spPr>
        <p:txBody>
          <a:bodyPr wrap="square" lIns="0" tIns="0" rIns="0" bIns="0" rtlCol="0" anchor="ctr"/>
          <a:lstStyle/>
          <a:p>
            <a:r>
              <a:rPr lang="en-US" sz="1000" b="1" dirty="0">
                <a:solidFill>
                  <a:srgbClr val="F59E0B"/>
                </a:solidFill>
                <a:latin typeface="Consolas" pitchFamily="34" charset="0"/>
                <a:ea typeface="Consolas" pitchFamily="34" charset="-122"/>
                <a:cs typeface="Consolas" pitchFamily="34" charset="-120"/>
              </a:rPr>
              <a:t>→ HIGH</a:t>
            </a:r>
            <a:endParaRPr lang="en-US" sz="1000" dirty="0"/>
          </a:p>
        </p:txBody>
      </p:sp>
      <p:sp>
        <p:nvSpPr>
          <p:cNvPr id="164" name="Text 27">
            <a:extLst>
              <a:ext uri="{FF2B5EF4-FFF2-40B4-BE49-F238E27FC236}">
                <a16:creationId xmlns:a16="http://schemas.microsoft.com/office/drawing/2014/main" id="{D7313E39-C5B1-5850-4C42-00564583AC6F}"/>
              </a:ext>
            </a:extLst>
          </p:cNvPr>
          <p:cNvSpPr/>
          <p:nvPr/>
        </p:nvSpPr>
        <p:spPr>
          <a:xfrm>
            <a:off x="470852" y="5663947"/>
            <a:ext cx="219456" cy="292608"/>
          </a:xfrm>
          <a:prstGeom prst="rect">
            <a:avLst/>
          </a:prstGeom>
          <a:noFill/>
          <a:ln/>
        </p:spPr>
        <p:txBody>
          <a:bodyPr wrap="square" lIns="0" tIns="0" rIns="0" bIns="0" rtlCol="0" anchor="ctr"/>
          <a:lstStyle/>
          <a:p>
            <a:r>
              <a:rPr lang="en-US" sz="933" dirty="0">
                <a:solidFill>
                  <a:srgbClr val="00B4D8"/>
                </a:solidFill>
              </a:rPr>
              <a:t>▸</a:t>
            </a:r>
            <a:endParaRPr lang="en-US" sz="933" dirty="0"/>
          </a:p>
        </p:txBody>
      </p:sp>
      <p:sp>
        <p:nvSpPr>
          <p:cNvPr id="165" name="Text 28">
            <a:extLst>
              <a:ext uri="{FF2B5EF4-FFF2-40B4-BE49-F238E27FC236}">
                <a16:creationId xmlns:a16="http://schemas.microsoft.com/office/drawing/2014/main" id="{784078F2-5CCF-01D4-3C9E-CD2A6A0E2139}"/>
              </a:ext>
            </a:extLst>
          </p:cNvPr>
          <p:cNvSpPr/>
          <p:nvPr/>
        </p:nvSpPr>
        <p:spPr>
          <a:xfrm>
            <a:off x="678116" y="5663947"/>
            <a:ext cx="2682240" cy="292608"/>
          </a:xfrm>
          <a:prstGeom prst="rect">
            <a:avLst/>
          </a:prstGeom>
          <a:noFill/>
          <a:ln/>
        </p:spPr>
        <p:txBody>
          <a:bodyPr wrap="square" lIns="0" tIns="0" rIns="0" bIns="0" rtlCol="0" anchor="ctr"/>
          <a:lstStyle/>
          <a:p>
            <a:r>
              <a:rPr lang="en-US" sz="1000" dirty="0">
                <a:solidFill>
                  <a:srgbClr val="CBD5E1"/>
                </a:solidFill>
                <a:latin typeface="Consolas" pitchFamily="34" charset="0"/>
                <a:ea typeface="Consolas" pitchFamily="34" charset="-122"/>
                <a:cs typeface="Consolas" pitchFamily="34" charset="-120"/>
              </a:rPr>
              <a:t>coverage=adequate &amp; volatility=volatile</a:t>
            </a:r>
            <a:endParaRPr lang="en-US" sz="1000" dirty="0"/>
          </a:p>
        </p:txBody>
      </p:sp>
      <p:sp>
        <p:nvSpPr>
          <p:cNvPr id="166" name="Text 29">
            <a:extLst>
              <a:ext uri="{FF2B5EF4-FFF2-40B4-BE49-F238E27FC236}">
                <a16:creationId xmlns:a16="http://schemas.microsoft.com/office/drawing/2014/main" id="{B707C37E-7381-6920-0520-D3B64BCC4BDE}"/>
              </a:ext>
            </a:extLst>
          </p:cNvPr>
          <p:cNvSpPr/>
          <p:nvPr/>
        </p:nvSpPr>
        <p:spPr>
          <a:xfrm>
            <a:off x="3396932" y="5663947"/>
            <a:ext cx="1097280" cy="292608"/>
          </a:xfrm>
          <a:prstGeom prst="rect">
            <a:avLst/>
          </a:prstGeom>
          <a:noFill/>
          <a:ln/>
        </p:spPr>
        <p:txBody>
          <a:bodyPr wrap="square" lIns="0" tIns="0" rIns="0" bIns="0" rtlCol="0" anchor="ctr"/>
          <a:lstStyle/>
          <a:p>
            <a:r>
              <a:rPr lang="en-US" sz="1000" b="1" dirty="0">
                <a:solidFill>
                  <a:srgbClr val="F59E0B"/>
                </a:solidFill>
                <a:latin typeface="Consolas" pitchFamily="34" charset="0"/>
                <a:ea typeface="Consolas" pitchFamily="34" charset="-122"/>
                <a:cs typeface="Consolas" pitchFamily="34" charset="-120"/>
              </a:rPr>
              <a:t>→ HIGH</a:t>
            </a:r>
            <a:endParaRPr lang="en-US" sz="1000" dirty="0"/>
          </a:p>
        </p:txBody>
      </p:sp>
      <p:sp>
        <p:nvSpPr>
          <p:cNvPr id="167" name="Text 30">
            <a:extLst>
              <a:ext uri="{FF2B5EF4-FFF2-40B4-BE49-F238E27FC236}">
                <a16:creationId xmlns:a16="http://schemas.microsoft.com/office/drawing/2014/main" id="{225BDF18-3F3D-7C3F-525B-DB1F558D86C0}"/>
              </a:ext>
            </a:extLst>
          </p:cNvPr>
          <p:cNvSpPr/>
          <p:nvPr/>
        </p:nvSpPr>
        <p:spPr>
          <a:xfrm>
            <a:off x="470852" y="6029707"/>
            <a:ext cx="219456" cy="292608"/>
          </a:xfrm>
          <a:prstGeom prst="rect">
            <a:avLst/>
          </a:prstGeom>
          <a:noFill/>
          <a:ln/>
        </p:spPr>
        <p:txBody>
          <a:bodyPr wrap="square" lIns="0" tIns="0" rIns="0" bIns="0" rtlCol="0" anchor="ctr"/>
          <a:lstStyle/>
          <a:p>
            <a:r>
              <a:rPr lang="en-US" sz="933" dirty="0">
                <a:solidFill>
                  <a:srgbClr val="00B4D8"/>
                </a:solidFill>
              </a:rPr>
              <a:t>▸</a:t>
            </a:r>
            <a:endParaRPr lang="en-US" sz="933" dirty="0"/>
          </a:p>
        </p:txBody>
      </p:sp>
      <p:sp>
        <p:nvSpPr>
          <p:cNvPr id="168" name="Text 31">
            <a:extLst>
              <a:ext uri="{FF2B5EF4-FFF2-40B4-BE49-F238E27FC236}">
                <a16:creationId xmlns:a16="http://schemas.microsoft.com/office/drawing/2014/main" id="{292B2CB3-C902-3ACE-B0BC-5A5A6151306E}"/>
              </a:ext>
            </a:extLst>
          </p:cNvPr>
          <p:cNvSpPr/>
          <p:nvPr/>
        </p:nvSpPr>
        <p:spPr>
          <a:xfrm>
            <a:off x="678116" y="6029707"/>
            <a:ext cx="2682240" cy="292608"/>
          </a:xfrm>
          <a:prstGeom prst="rect">
            <a:avLst/>
          </a:prstGeom>
          <a:noFill/>
          <a:ln/>
        </p:spPr>
        <p:txBody>
          <a:bodyPr wrap="square" lIns="0" tIns="0" rIns="0" bIns="0" rtlCol="0" anchor="ctr"/>
          <a:lstStyle/>
          <a:p>
            <a:r>
              <a:rPr lang="en-US" sz="1000" dirty="0">
                <a:solidFill>
                  <a:srgbClr val="CBD5E1"/>
                </a:solidFill>
                <a:latin typeface="Consolas" pitchFamily="34" charset="0"/>
                <a:ea typeface="Consolas" pitchFamily="34" charset="-122"/>
                <a:cs typeface="Consolas" pitchFamily="34" charset="-120"/>
              </a:rPr>
              <a:t>coverage=high   &amp; volatility=stable</a:t>
            </a:r>
            <a:endParaRPr lang="en-US" sz="1000" dirty="0"/>
          </a:p>
        </p:txBody>
      </p:sp>
      <p:sp>
        <p:nvSpPr>
          <p:cNvPr id="169" name="Text 32">
            <a:extLst>
              <a:ext uri="{FF2B5EF4-FFF2-40B4-BE49-F238E27FC236}">
                <a16:creationId xmlns:a16="http://schemas.microsoft.com/office/drawing/2014/main" id="{52D55183-EC11-9478-F9F5-FC9A6AEC160F}"/>
              </a:ext>
            </a:extLst>
          </p:cNvPr>
          <p:cNvSpPr/>
          <p:nvPr/>
        </p:nvSpPr>
        <p:spPr>
          <a:xfrm>
            <a:off x="3396932" y="6029707"/>
            <a:ext cx="1097280" cy="292608"/>
          </a:xfrm>
          <a:prstGeom prst="rect">
            <a:avLst/>
          </a:prstGeom>
          <a:noFill/>
          <a:ln/>
        </p:spPr>
        <p:txBody>
          <a:bodyPr wrap="square" lIns="0" tIns="0" rIns="0" bIns="0" rtlCol="0" anchor="ctr"/>
          <a:lstStyle/>
          <a:p>
            <a:r>
              <a:rPr lang="en-US" sz="1000" b="1" dirty="0">
                <a:solidFill>
                  <a:srgbClr val="10B981"/>
                </a:solidFill>
                <a:latin typeface="Consolas" pitchFamily="34" charset="0"/>
                <a:ea typeface="Consolas" pitchFamily="34" charset="-122"/>
                <a:cs typeface="Consolas" pitchFamily="34" charset="-120"/>
              </a:rPr>
              <a:t>→ NONE</a:t>
            </a:r>
            <a:endParaRPr lang="en-US" sz="1000" dirty="0"/>
          </a:p>
        </p:txBody>
      </p:sp>
      <p:sp>
        <p:nvSpPr>
          <p:cNvPr id="171" name="Shape 34">
            <a:extLst>
              <a:ext uri="{FF2B5EF4-FFF2-40B4-BE49-F238E27FC236}">
                <a16:creationId xmlns:a16="http://schemas.microsoft.com/office/drawing/2014/main" id="{519BF5F3-D9BF-8FD4-BBA2-CE5C7F0688E8}"/>
              </a:ext>
            </a:extLst>
          </p:cNvPr>
          <p:cNvSpPr/>
          <p:nvPr/>
        </p:nvSpPr>
        <p:spPr>
          <a:xfrm>
            <a:off x="4823396" y="1323595"/>
            <a:ext cx="3048000" cy="5486400"/>
          </a:xfrm>
          <a:prstGeom prst="rect">
            <a:avLst/>
          </a:prstGeom>
          <a:solidFill>
            <a:srgbClr val="162032"/>
          </a:solidFill>
          <a:ln w="12700">
            <a:solidFill>
              <a:srgbClr val="1E3A5F"/>
            </a:solidFill>
            <a:prstDash val="solid"/>
          </a:ln>
          <a:effectLst>
            <a:outerShdw blurRad="101600" dist="25400" dir="8100000" algn="bl" rotWithShape="0">
              <a:srgbClr val="000000">
                <a:alpha val="18000"/>
              </a:srgbClr>
            </a:outerShdw>
          </a:effectLst>
        </p:spPr>
      </p:sp>
      <p:sp>
        <p:nvSpPr>
          <p:cNvPr id="172" name="Shape 35">
            <a:extLst>
              <a:ext uri="{FF2B5EF4-FFF2-40B4-BE49-F238E27FC236}">
                <a16:creationId xmlns:a16="http://schemas.microsoft.com/office/drawing/2014/main" id="{E7A2AD47-218E-81C0-D2C8-46D1EF4BDB8A}"/>
              </a:ext>
            </a:extLst>
          </p:cNvPr>
          <p:cNvSpPr/>
          <p:nvPr/>
        </p:nvSpPr>
        <p:spPr>
          <a:xfrm>
            <a:off x="4823396" y="1323595"/>
            <a:ext cx="3048000" cy="73152"/>
          </a:xfrm>
          <a:prstGeom prst="rect">
            <a:avLst/>
          </a:prstGeom>
          <a:solidFill>
            <a:srgbClr val="F59E0B"/>
          </a:solidFill>
          <a:ln w="12700">
            <a:solidFill>
              <a:srgbClr val="F59E0B"/>
            </a:solidFill>
            <a:prstDash val="solid"/>
          </a:ln>
        </p:spPr>
      </p:sp>
      <p:sp>
        <p:nvSpPr>
          <p:cNvPr id="173" name="Text 36">
            <a:extLst>
              <a:ext uri="{FF2B5EF4-FFF2-40B4-BE49-F238E27FC236}">
                <a16:creationId xmlns:a16="http://schemas.microsoft.com/office/drawing/2014/main" id="{8E61FC1D-F606-0BDE-C5EE-B8AAD089C7BA}"/>
              </a:ext>
            </a:extLst>
          </p:cNvPr>
          <p:cNvSpPr/>
          <p:nvPr/>
        </p:nvSpPr>
        <p:spPr>
          <a:xfrm>
            <a:off x="5006276" y="1445515"/>
            <a:ext cx="2682240" cy="341376"/>
          </a:xfrm>
          <a:prstGeom prst="rect">
            <a:avLst/>
          </a:prstGeom>
          <a:noFill/>
          <a:ln/>
        </p:spPr>
        <p:txBody>
          <a:bodyPr wrap="square" lIns="0" tIns="0" rIns="0" bIns="0" rtlCol="0" anchor="ctr"/>
          <a:lstStyle/>
          <a:p>
            <a:r>
              <a:rPr lang="en-US" sz="1400" b="1" dirty="0">
                <a:solidFill>
                  <a:srgbClr val="F59E0B"/>
                </a:solidFill>
              </a:rPr>
              <a:t>Alert Thresholds</a:t>
            </a:r>
            <a:endParaRPr lang="en-US" sz="1400" dirty="0"/>
          </a:p>
        </p:txBody>
      </p:sp>
      <p:sp>
        <p:nvSpPr>
          <p:cNvPr id="174" name="Shape 37">
            <a:extLst>
              <a:ext uri="{FF2B5EF4-FFF2-40B4-BE49-F238E27FC236}">
                <a16:creationId xmlns:a16="http://schemas.microsoft.com/office/drawing/2014/main" id="{74976E7F-D678-936B-AD7B-0B27A4E9D555}"/>
              </a:ext>
            </a:extLst>
          </p:cNvPr>
          <p:cNvSpPr/>
          <p:nvPr/>
        </p:nvSpPr>
        <p:spPr>
          <a:xfrm>
            <a:off x="4945316" y="1933195"/>
            <a:ext cx="1341120" cy="365760"/>
          </a:xfrm>
          <a:prstGeom prst="rect">
            <a:avLst/>
          </a:prstGeom>
          <a:solidFill>
            <a:srgbClr val="EF4444"/>
          </a:solidFill>
          <a:ln w="12700">
            <a:solidFill>
              <a:srgbClr val="EF4444"/>
            </a:solidFill>
            <a:prstDash val="solid"/>
          </a:ln>
        </p:spPr>
      </p:sp>
      <p:sp>
        <p:nvSpPr>
          <p:cNvPr id="175" name="Text 38">
            <a:extLst>
              <a:ext uri="{FF2B5EF4-FFF2-40B4-BE49-F238E27FC236}">
                <a16:creationId xmlns:a16="http://schemas.microsoft.com/office/drawing/2014/main" id="{06A75384-3218-9873-1337-1699CF0D9413}"/>
              </a:ext>
            </a:extLst>
          </p:cNvPr>
          <p:cNvSpPr/>
          <p:nvPr/>
        </p:nvSpPr>
        <p:spPr>
          <a:xfrm>
            <a:off x="4945316" y="1933195"/>
            <a:ext cx="1341120" cy="365760"/>
          </a:xfrm>
          <a:prstGeom prst="rect">
            <a:avLst/>
          </a:prstGeom>
          <a:noFill/>
          <a:ln/>
        </p:spPr>
        <p:txBody>
          <a:bodyPr wrap="square" lIns="0" tIns="0" rIns="0" bIns="0" rtlCol="0" anchor="ctr"/>
          <a:lstStyle/>
          <a:p>
            <a:pPr algn="ctr"/>
            <a:r>
              <a:rPr lang="en-US" sz="1067" b="1" dirty="0">
                <a:solidFill>
                  <a:srgbClr val="FFFFFF"/>
                </a:solidFill>
              </a:rPr>
              <a:t>CRITICAL</a:t>
            </a:r>
            <a:endParaRPr lang="en-US" sz="1067" dirty="0"/>
          </a:p>
        </p:txBody>
      </p:sp>
      <p:sp>
        <p:nvSpPr>
          <p:cNvPr id="176" name="Text 39">
            <a:extLst>
              <a:ext uri="{FF2B5EF4-FFF2-40B4-BE49-F238E27FC236}">
                <a16:creationId xmlns:a16="http://schemas.microsoft.com/office/drawing/2014/main" id="{EF0A1E34-7CA9-962D-6AB8-E1AE55FB4132}"/>
              </a:ext>
            </a:extLst>
          </p:cNvPr>
          <p:cNvSpPr/>
          <p:nvPr/>
        </p:nvSpPr>
        <p:spPr>
          <a:xfrm>
            <a:off x="6371780" y="1981963"/>
            <a:ext cx="1341120" cy="292608"/>
          </a:xfrm>
          <a:prstGeom prst="rect">
            <a:avLst/>
          </a:prstGeom>
          <a:noFill/>
          <a:ln/>
        </p:spPr>
        <p:txBody>
          <a:bodyPr wrap="square" lIns="0" tIns="0" rIns="0" bIns="0" rtlCol="0" anchor="ctr"/>
          <a:lstStyle/>
          <a:p>
            <a:r>
              <a:rPr lang="en-US" sz="1200" dirty="0">
                <a:solidFill>
                  <a:srgbClr val="CBD5E1"/>
                </a:solidFill>
              </a:rPr>
              <a:t>Score ≥ 75</a:t>
            </a:r>
            <a:endParaRPr lang="en-US" sz="1200" dirty="0"/>
          </a:p>
        </p:txBody>
      </p:sp>
      <p:sp>
        <p:nvSpPr>
          <p:cNvPr id="177" name="Shape 40">
            <a:extLst>
              <a:ext uri="{FF2B5EF4-FFF2-40B4-BE49-F238E27FC236}">
                <a16:creationId xmlns:a16="http://schemas.microsoft.com/office/drawing/2014/main" id="{C91C4F80-6130-7A80-7019-6E6CF692D1B3}"/>
              </a:ext>
            </a:extLst>
          </p:cNvPr>
          <p:cNvSpPr/>
          <p:nvPr/>
        </p:nvSpPr>
        <p:spPr>
          <a:xfrm>
            <a:off x="4945316" y="2567179"/>
            <a:ext cx="1341120" cy="365760"/>
          </a:xfrm>
          <a:prstGeom prst="rect">
            <a:avLst/>
          </a:prstGeom>
          <a:solidFill>
            <a:srgbClr val="F59E0B"/>
          </a:solidFill>
          <a:ln w="12700">
            <a:solidFill>
              <a:srgbClr val="F59E0B"/>
            </a:solidFill>
            <a:prstDash val="solid"/>
          </a:ln>
        </p:spPr>
      </p:sp>
      <p:sp>
        <p:nvSpPr>
          <p:cNvPr id="178" name="Text 41">
            <a:extLst>
              <a:ext uri="{FF2B5EF4-FFF2-40B4-BE49-F238E27FC236}">
                <a16:creationId xmlns:a16="http://schemas.microsoft.com/office/drawing/2014/main" id="{8503313E-BB1C-50D3-468E-F8C257AE835A}"/>
              </a:ext>
            </a:extLst>
          </p:cNvPr>
          <p:cNvSpPr/>
          <p:nvPr/>
        </p:nvSpPr>
        <p:spPr>
          <a:xfrm>
            <a:off x="4945316" y="2567179"/>
            <a:ext cx="1341120" cy="365760"/>
          </a:xfrm>
          <a:prstGeom prst="rect">
            <a:avLst/>
          </a:prstGeom>
          <a:noFill/>
          <a:ln/>
        </p:spPr>
        <p:txBody>
          <a:bodyPr wrap="square" lIns="0" tIns="0" rIns="0" bIns="0" rtlCol="0" anchor="ctr"/>
          <a:lstStyle/>
          <a:p>
            <a:pPr algn="ctr"/>
            <a:r>
              <a:rPr lang="en-US" sz="1067" b="1" dirty="0">
                <a:solidFill>
                  <a:srgbClr val="FFFFFF"/>
                </a:solidFill>
              </a:rPr>
              <a:t>WARNING</a:t>
            </a:r>
            <a:endParaRPr lang="en-US" sz="1067" dirty="0"/>
          </a:p>
        </p:txBody>
      </p:sp>
      <p:sp>
        <p:nvSpPr>
          <p:cNvPr id="179" name="Text 42">
            <a:extLst>
              <a:ext uri="{FF2B5EF4-FFF2-40B4-BE49-F238E27FC236}">
                <a16:creationId xmlns:a16="http://schemas.microsoft.com/office/drawing/2014/main" id="{EC12ED17-0B1D-1B29-AF29-B84FF91A6FD6}"/>
              </a:ext>
            </a:extLst>
          </p:cNvPr>
          <p:cNvSpPr/>
          <p:nvPr/>
        </p:nvSpPr>
        <p:spPr>
          <a:xfrm>
            <a:off x="6371780" y="2615947"/>
            <a:ext cx="1341120" cy="292608"/>
          </a:xfrm>
          <a:prstGeom prst="rect">
            <a:avLst/>
          </a:prstGeom>
          <a:noFill/>
          <a:ln/>
        </p:spPr>
        <p:txBody>
          <a:bodyPr wrap="square" lIns="0" tIns="0" rIns="0" bIns="0" rtlCol="0" anchor="ctr"/>
          <a:lstStyle/>
          <a:p>
            <a:r>
              <a:rPr lang="en-US" sz="1200" dirty="0">
                <a:solidFill>
                  <a:srgbClr val="CBD5E1"/>
                </a:solidFill>
              </a:rPr>
              <a:t>Score ≥ 50</a:t>
            </a:r>
            <a:endParaRPr lang="en-US" sz="1200" dirty="0"/>
          </a:p>
        </p:txBody>
      </p:sp>
      <p:sp>
        <p:nvSpPr>
          <p:cNvPr id="180" name="Shape 43">
            <a:extLst>
              <a:ext uri="{FF2B5EF4-FFF2-40B4-BE49-F238E27FC236}">
                <a16:creationId xmlns:a16="http://schemas.microsoft.com/office/drawing/2014/main" id="{F2940852-CA68-9714-241B-AAB645705026}"/>
              </a:ext>
            </a:extLst>
          </p:cNvPr>
          <p:cNvSpPr/>
          <p:nvPr/>
        </p:nvSpPr>
        <p:spPr>
          <a:xfrm>
            <a:off x="4945316" y="3201163"/>
            <a:ext cx="1341120" cy="365760"/>
          </a:xfrm>
          <a:prstGeom prst="rect">
            <a:avLst/>
          </a:prstGeom>
          <a:solidFill>
            <a:srgbClr val="90E0EF"/>
          </a:solidFill>
          <a:ln w="12700">
            <a:solidFill>
              <a:srgbClr val="90E0EF"/>
            </a:solidFill>
            <a:prstDash val="solid"/>
          </a:ln>
        </p:spPr>
      </p:sp>
      <p:sp>
        <p:nvSpPr>
          <p:cNvPr id="181" name="Text 44">
            <a:extLst>
              <a:ext uri="{FF2B5EF4-FFF2-40B4-BE49-F238E27FC236}">
                <a16:creationId xmlns:a16="http://schemas.microsoft.com/office/drawing/2014/main" id="{3F5E59A5-D8EC-0AFD-0A2E-4F36013D4F18}"/>
              </a:ext>
            </a:extLst>
          </p:cNvPr>
          <p:cNvSpPr/>
          <p:nvPr/>
        </p:nvSpPr>
        <p:spPr>
          <a:xfrm>
            <a:off x="4945316" y="3201163"/>
            <a:ext cx="1341120" cy="365760"/>
          </a:xfrm>
          <a:prstGeom prst="rect">
            <a:avLst/>
          </a:prstGeom>
          <a:noFill/>
          <a:ln/>
        </p:spPr>
        <p:txBody>
          <a:bodyPr wrap="square" lIns="0" tIns="0" rIns="0" bIns="0" rtlCol="0" anchor="ctr"/>
          <a:lstStyle/>
          <a:p>
            <a:pPr algn="ctr"/>
            <a:r>
              <a:rPr lang="en-US" sz="1067" b="1" dirty="0">
                <a:solidFill>
                  <a:srgbClr val="FFFFFF"/>
                </a:solidFill>
              </a:rPr>
              <a:t>MONITOR</a:t>
            </a:r>
            <a:endParaRPr lang="en-US" sz="1067" dirty="0"/>
          </a:p>
        </p:txBody>
      </p:sp>
      <p:sp>
        <p:nvSpPr>
          <p:cNvPr id="182" name="Text 45">
            <a:extLst>
              <a:ext uri="{FF2B5EF4-FFF2-40B4-BE49-F238E27FC236}">
                <a16:creationId xmlns:a16="http://schemas.microsoft.com/office/drawing/2014/main" id="{F1604837-4D24-00F2-F9B1-D3ABCDB2FAD4}"/>
              </a:ext>
            </a:extLst>
          </p:cNvPr>
          <p:cNvSpPr/>
          <p:nvPr/>
        </p:nvSpPr>
        <p:spPr>
          <a:xfrm>
            <a:off x="6371780" y="3249931"/>
            <a:ext cx="1341120" cy="292608"/>
          </a:xfrm>
          <a:prstGeom prst="rect">
            <a:avLst/>
          </a:prstGeom>
          <a:noFill/>
          <a:ln/>
        </p:spPr>
        <p:txBody>
          <a:bodyPr wrap="square" lIns="0" tIns="0" rIns="0" bIns="0" rtlCol="0" anchor="ctr"/>
          <a:lstStyle/>
          <a:p>
            <a:r>
              <a:rPr lang="en-US" sz="1200" dirty="0">
                <a:solidFill>
                  <a:srgbClr val="CBD5E1"/>
                </a:solidFill>
              </a:rPr>
              <a:t>Score ≥ 25</a:t>
            </a:r>
            <a:endParaRPr lang="en-US" sz="1200" dirty="0"/>
          </a:p>
        </p:txBody>
      </p:sp>
      <p:sp>
        <p:nvSpPr>
          <p:cNvPr id="183" name="Shape 46">
            <a:extLst>
              <a:ext uri="{FF2B5EF4-FFF2-40B4-BE49-F238E27FC236}">
                <a16:creationId xmlns:a16="http://schemas.microsoft.com/office/drawing/2014/main" id="{CEDA3BFC-B4C5-2A55-B3DB-B93E9433E1D1}"/>
              </a:ext>
            </a:extLst>
          </p:cNvPr>
          <p:cNvSpPr/>
          <p:nvPr/>
        </p:nvSpPr>
        <p:spPr>
          <a:xfrm>
            <a:off x="4945316" y="3835147"/>
            <a:ext cx="1341120" cy="365760"/>
          </a:xfrm>
          <a:prstGeom prst="rect">
            <a:avLst/>
          </a:prstGeom>
          <a:solidFill>
            <a:srgbClr val="10B981"/>
          </a:solidFill>
          <a:ln w="12700">
            <a:solidFill>
              <a:srgbClr val="10B981"/>
            </a:solidFill>
            <a:prstDash val="solid"/>
          </a:ln>
        </p:spPr>
      </p:sp>
      <p:sp>
        <p:nvSpPr>
          <p:cNvPr id="184" name="Text 47">
            <a:extLst>
              <a:ext uri="{FF2B5EF4-FFF2-40B4-BE49-F238E27FC236}">
                <a16:creationId xmlns:a16="http://schemas.microsoft.com/office/drawing/2014/main" id="{77692FB4-67A2-D227-4DFA-02F60CC34C55}"/>
              </a:ext>
            </a:extLst>
          </p:cNvPr>
          <p:cNvSpPr/>
          <p:nvPr/>
        </p:nvSpPr>
        <p:spPr>
          <a:xfrm>
            <a:off x="4945316" y="3835147"/>
            <a:ext cx="1341120" cy="365760"/>
          </a:xfrm>
          <a:prstGeom prst="rect">
            <a:avLst/>
          </a:prstGeom>
          <a:noFill/>
          <a:ln/>
        </p:spPr>
        <p:txBody>
          <a:bodyPr wrap="square" lIns="0" tIns="0" rIns="0" bIns="0" rtlCol="0" anchor="ctr"/>
          <a:lstStyle/>
          <a:p>
            <a:pPr algn="ctr"/>
            <a:r>
              <a:rPr lang="en-US" sz="1067" b="1" dirty="0">
                <a:solidFill>
                  <a:srgbClr val="FFFFFF"/>
                </a:solidFill>
              </a:rPr>
              <a:t>OK</a:t>
            </a:r>
            <a:endParaRPr lang="en-US" sz="1067" dirty="0"/>
          </a:p>
        </p:txBody>
      </p:sp>
      <p:sp>
        <p:nvSpPr>
          <p:cNvPr id="185" name="Text 48">
            <a:extLst>
              <a:ext uri="{FF2B5EF4-FFF2-40B4-BE49-F238E27FC236}">
                <a16:creationId xmlns:a16="http://schemas.microsoft.com/office/drawing/2014/main" id="{15E58179-0FF5-15EF-7EE6-23688D8DF1DF}"/>
              </a:ext>
            </a:extLst>
          </p:cNvPr>
          <p:cNvSpPr/>
          <p:nvPr/>
        </p:nvSpPr>
        <p:spPr>
          <a:xfrm>
            <a:off x="6371780" y="3883915"/>
            <a:ext cx="1341120" cy="292608"/>
          </a:xfrm>
          <a:prstGeom prst="rect">
            <a:avLst/>
          </a:prstGeom>
          <a:noFill/>
          <a:ln/>
        </p:spPr>
        <p:txBody>
          <a:bodyPr wrap="square" lIns="0" tIns="0" rIns="0" bIns="0" rtlCol="0" anchor="ctr"/>
          <a:lstStyle/>
          <a:p>
            <a:r>
              <a:rPr lang="en-US" sz="1200" dirty="0">
                <a:solidFill>
                  <a:srgbClr val="CBD5E1"/>
                </a:solidFill>
              </a:rPr>
              <a:t>Score &lt; 25</a:t>
            </a:r>
            <a:endParaRPr lang="en-US" sz="1200" dirty="0"/>
          </a:p>
        </p:txBody>
      </p:sp>
      <p:sp>
        <p:nvSpPr>
          <p:cNvPr id="186" name="Shape 49">
            <a:extLst>
              <a:ext uri="{FF2B5EF4-FFF2-40B4-BE49-F238E27FC236}">
                <a16:creationId xmlns:a16="http://schemas.microsoft.com/office/drawing/2014/main" id="{A6D76EBF-5FD0-6C7B-8211-E9A2B25D3372}"/>
              </a:ext>
            </a:extLst>
          </p:cNvPr>
          <p:cNvSpPr/>
          <p:nvPr/>
        </p:nvSpPr>
        <p:spPr>
          <a:xfrm>
            <a:off x="4945316" y="4517899"/>
            <a:ext cx="2743200" cy="30480"/>
          </a:xfrm>
          <a:prstGeom prst="rect">
            <a:avLst/>
          </a:prstGeom>
          <a:solidFill>
            <a:srgbClr val="1E3A5F"/>
          </a:solidFill>
          <a:ln w="12700">
            <a:solidFill>
              <a:srgbClr val="1E3A5F"/>
            </a:solidFill>
            <a:prstDash val="solid"/>
          </a:ln>
        </p:spPr>
      </p:sp>
      <p:sp>
        <p:nvSpPr>
          <p:cNvPr id="187" name="Text 50">
            <a:extLst>
              <a:ext uri="{FF2B5EF4-FFF2-40B4-BE49-F238E27FC236}">
                <a16:creationId xmlns:a16="http://schemas.microsoft.com/office/drawing/2014/main" id="{7E3A515F-A2CF-A14A-A416-F86C427EFAA7}"/>
              </a:ext>
            </a:extLst>
          </p:cNvPr>
          <p:cNvSpPr/>
          <p:nvPr/>
        </p:nvSpPr>
        <p:spPr>
          <a:xfrm>
            <a:off x="5006276" y="4615435"/>
            <a:ext cx="2682240" cy="316992"/>
          </a:xfrm>
          <a:prstGeom prst="rect">
            <a:avLst/>
          </a:prstGeom>
          <a:noFill/>
          <a:ln/>
        </p:spPr>
        <p:txBody>
          <a:bodyPr wrap="square" lIns="0" tIns="0" rIns="0" bIns="0" rtlCol="0" anchor="ctr"/>
          <a:lstStyle/>
          <a:p>
            <a:r>
              <a:rPr lang="en-US" sz="1333" b="1" dirty="0">
                <a:solidFill>
                  <a:srgbClr val="EF4444"/>
                </a:solidFill>
              </a:rPr>
              <a:t>Results - 3,922 SKUs</a:t>
            </a:r>
            <a:endParaRPr lang="en-US" sz="1333" dirty="0"/>
          </a:p>
        </p:txBody>
      </p:sp>
      <p:sp>
        <p:nvSpPr>
          <p:cNvPr id="188" name="Shape 51">
            <a:extLst>
              <a:ext uri="{FF2B5EF4-FFF2-40B4-BE49-F238E27FC236}">
                <a16:creationId xmlns:a16="http://schemas.microsoft.com/office/drawing/2014/main" id="{198F8031-E4F9-CF86-911C-EC42419576A0}"/>
              </a:ext>
            </a:extLst>
          </p:cNvPr>
          <p:cNvSpPr/>
          <p:nvPr/>
        </p:nvSpPr>
        <p:spPr>
          <a:xfrm>
            <a:off x="4945316" y="5042155"/>
            <a:ext cx="1158240" cy="316992"/>
          </a:xfrm>
          <a:prstGeom prst="rect">
            <a:avLst/>
          </a:prstGeom>
          <a:solidFill>
            <a:srgbClr val="EF4444"/>
          </a:solidFill>
          <a:ln w="12700">
            <a:solidFill>
              <a:srgbClr val="EF4444"/>
            </a:solidFill>
            <a:prstDash val="solid"/>
          </a:ln>
        </p:spPr>
      </p:sp>
      <p:sp>
        <p:nvSpPr>
          <p:cNvPr id="189" name="Text 52">
            <a:extLst>
              <a:ext uri="{FF2B5EF4-FFF2-40B4-BE49-F238E27FC236}">
                <a16:creationId xmlns:a16="http://schemas.microsoft.com/office/drawing/2014/main" id="{3936F30F-D2DF-740B-0338-419B68431082}"/>
              </a:ext>
            </a:extLst>
          </p:cNvPr>
          <p:cNvSpPr/>
          <p:nvPr/>
        </p:nvSpPr>
        <p:spPr>
          <a:xfrm>
            <a:off x="4945316" y="5042155"/>
            <a:ext cx="1158240" cy="316992"/>
          </a:xfrm>
          <a:prstGeom prst="rect">
            <a:avLst/>
          </a:prstGeom>
          <a:noFill/>
          <a:ln/>
        </p:spPr>
        <p:txBody>
          <a:bodyPr wrap="square" lIns="0" tIns="0" rIns="0" bIns="0" rtlCol="0" anchor="ctr"/>
          <a:lstStyle/>
          <a:p>
            <a:pPr algn="ctr"/>
            <a:r>
              <a:rPr lang="en-US" sz="933" b="1" dirty="0">
                <a:solidFill>
                  <a:srgbClr val="FFFFFF"/>
                </a:solidFill>
              </a:rPr>
              <a:t>CRITICAL</a:t>
            </a:r>
            <a:endParaRPr lang="en-US" sz="933" dirty="0"/>
          </a:p>
        </p:txBody>
      </p:sp>
      <p:sp>
        <p:nvSpPr>
          <p:cNvPr id="190" name="Text 53">
            <a:extLst>
              <a:ext uri="{FF2B5EF4-FFF2-40B4-BE49-F238E27FC236}">
                <a16:creationId xmlns:a16="http://schemas.microsoft.com/office/drawing/2014/main" id="{4EDCE14B-3399-B190-6480-18F116BD01C9}"/>
              </a:ext>
            </a:extLst>
          </p:cNvPr>
          <p:cNvSpPr/>
          <p:nvPr/>
        </p:nvSpPr>
        <p:spPr>
          <a:xfrm>
            <a:off x="6201092" y="5066539"/>
            <a:ext cx="1524000" cy="268224"/>
          </a:xfrm>
          <a:prstGeom prst="rect">
            <a:avLst/>
          </a:prstGeom>
          <a:noFill/>
          <a:ln/>
        </p:spPr>
        <p:txBody>
          <a:bodyPr wrap="square" lIns="0" tIns="0" rIns="0" bIns="0" rtlCol="0" anchor="ctr"/>
          <a:lstStyle/>
          <a:p>
            <a:r>
              <a:rPr lang="en-US" sz="1133" b="1" dirty="0">
                <a:solidFill>
                  <a:srgbClr val="FFFFFF"/>
                </a:solidFill>
              </a:rPr>
              <a:t>2,649  67.5%</a:t>
            </a:r>
            <a:endParaRPr lang="en-US" sz="1133" dirty="0"/>
          </a:p>
        </p:txBody>
      </p:sp>
      <p:sp>
        <p:nvSpPr>
          <p:cNvPr id="191" name="Shape 54">
            <a:extLst>
              <a:ext uri="{FF2B5EF4-FFF2-40B4-BE49-F238E27FC236}">
                <a16:creationId xmlns:a16="http://schemas.microsoft.com/office/drawing/2014/main" id="{1221AC06-0CD4-4517-1748-6CD7F8E3E5CD}"/>
              </a:ext>
            </a:extLst>
          </p:cNvPr>
          <p:cNvSpPr/>
          <p:nvPr/>
        </p:nvSpPr>
        <p:spPr>
          <a:xfrm>
            <a:off x="4945316" y="5456683"/>
            <a:ext cx="1158240" cy="316992"/>
          </a:xfrm>
          <a:prstGeom prst="rect">
            <a:avLst/>
          </a:prstGeom>
          <a:solidFill>
            <a:srgbClr val="F59E0B"/>
          </a:solidFill>
          <a:ln w="12700">
            <a:solidFill>
              <a:srgbClr val="F59E0B"/>
            </a:solidFill>
            <a:prstDash val="solid"/>
          </a:ln>
        </p:spPr>
      </p:sp>
      <p:sp>
        <p:nvSpPr>
          <p:cNvPr id="192" name="Text 55">
            <a:extLst>
              <a:ext uri="{FF2B5EF4-FFF2-40B4-BE49-F238E27FC236}">
                <a16:creationId xmlns:a16="http://schemas.microsoft.com/office/drawing/2014/main" id="{DF935128-50FD-A332-99A0-CBDD5C697FDC}"/>
              </a:ext>
            </a:extLst>
          </p:cNvPr>
          <p:cNvSpPr/>
          <p:nvPr/>
        </p:nvSpPr>
        <p:spPr>
          <a:xfrm>
            <a:off x="4945316" y="5456683"/>
            <a:ext cx="1158240" cy="316992"/>
          </a:xfrm>
          <a:prstGeom prst="rect">
            <a:avLst/>
          </a:prstGeom>
          <a:noFill/>
          <a:ln/>
        </p:spPr>
        <p:txBody>
          <a:bodyPr wrap="square" lIns="0" tIns="0" rIns="0" bIns="0" rtlCol="0" anchor="ctr"/>
          <a:lstStyle/>
          <a:p>
            <a:pPr algn="ctr"/>
            <a:r>
              <a:rPr lang="en-US" sz="933" b="1" dirty="0">
                <a:solidFill>
                  <a:srgbClr val="FFFFFF"/>
                </a:solidFill>
              </a:rPr>
              <a:t>WARNING</a:t>
            </a:r>
            <a:endParaRPr lang="en-US" sz="933" dirty="0"/>
          </a:p>
        </p:txBody>
      </p:sp>
      <p:sp>
        <p:nvSpPr>
          <p:cNvPr id="193" name="Text 56">
            <a:extLst>
              <a:ext uri="{FF2B5EF4-FFF2-40B4-BE49-F238E27FC236}">
                <a16:creationId xmlns:a16="http://schemas.microsoft.com/office/drawing/2014/main" id="{8A3B2687-A021-84FF-E5FE-66996382C14E}"/>
              </a:ext>
            </a:extLst>
          </p:cNvPr>
          <p:cNvSpPr/>
          <p:nvPr/>
        </p:nvSpPr>
        <p:spPr>
          <a:xfrm>
            <a:off x="6201092" y="5481067"/>
            <a:ext cx="1524000" cy="268224"/>
          </a:xfrm>
          <a:prstGeom prst="rect">
            <a:avLst/>
          </a:prstGeom>
          <a:noFill/>
          <a:ln/>
        </p:spPr>
        <p:txBody>
          <a:bodyPr wrap="square" lIns="0" tIns="0" rIns="0" bIns="0" rtlCol="0" anchor="ctr"/>
          <a:lstStyle/>
          <a:p>
            <a:r>
              <a:rPr lang="en-US" sz="1133" b="1" dirty="0">
                <a:solidFill>
                  <a:srgbClr val="FFFFFF"/>
                </a:solidFill>
              </a:rPr>
              <a:t>1,165  29.7%</a:t>
            </a:r>
            <a:endParaRPr lang="en-US" sz="1133" dirty="0"/>
          </a:p>
        </p:txBody>
      </p:sp>
      <p:sp>
        <p:nvSpPr>
          <p:cNvPr id="194" name="Shape 57">
            <a:extLst>
              <a:ext uri="{FF2B5EF4-FFF2-40B4-BE49-F238E27FC236}">
                <a16:creationId xmlns:a16="http://schemas.microsoft.com/office/drawing/2014/main" id="{C9CA1EB4-19FB-94CB-04C3-57B53C971E1B}"/>
              </a:ext>
            </a:extLst>
          </p:cNvPr>
          <p:cNvSpPr/>
          <p:nvPr/>
        </p:nvSpPr>
        <p:spPr>
          <a:xfrm>
            <a:off x="4945316" y="5871211"/>
            <a:ext cx="1158240" cy="316992"/>
          </a:xfrm>
          <a:prstGeom prst="rect">
            <a:avLst/>
          </a:prstGeom>
          <a:solidFill>
            <a:srgbClr val="90E0EF"/>
          </a:solidFill>
          <a:ln w="12700">
            <a:solidFill>
              <a:srgbClr val="90E0EF"/>
            </a:solidFill>
            <a:prstDash val="solid"/>
          </a:ln>
        </p:spPr>
      </p:sp>
      <p:sp>
        <p:nvSpPr>
          <p:cNvPr id="195" name="Text 58">
            <a:extLst>
              <a:ext uri="{FF2B5EF4-FFF2-40B4-BE49-F238E27FC236}">
                <a16:creationId xmlns:a16="http://schemas.microsoft.com/office/drawing/2014/main" id="{8F3FE030-C01F-C9B7-2A96-025B500006CD}"/>
              </a:ext>
            </a:extLst>
          </p:cNvPr>
          <p:cNvSpPr/>
          <p:nvPr/>
        </p:nvSpPr>
        <p:spPr>
          <a:xfrm>
            <a:off x="4945316" y="5871211"/>
            <a:ext cx="1158240" cy="316992"/>
          </a:xfrm>
          <a:prstGeom prst="rect">
            <a:avLst/>
          </a:prstGeom>
          <a:noFill/>
          <a:ln/>
        </p:spPr>
        <p:txBody>
          <a:bodyPr wrap="square" lIns="0" tIns="0" rIns="0" bIns="0" rtlCol="0" anchor="ctr"/>
          <a:lstStyle/>
          <a:p>
            <a:pPr algn="ctr"/>
            <a:r>
              <a:rPr lang="en-US" sz="933" b="1" dirty="0">
                <a:solidFill>
                  <a:srgbClr val="FFFFFF"/>
                </a:solidFill>
              </a:rPr>
              <a:t>MONITOR</a:t>
            </a:r>
            <a:endParaRPr lang="en-US" sz="933" dirty="0"/>
          </a:p>
        </p:txBody>
      </p:sp>
      <p:sp>
        <p:nvSpPr>
          <p:cNvPr id="196" name="Text 59">
            <a:extLst>
              <a:ext uri="{FF2B5EF4-FFF2-40B4-BE49-F238E27FC236}">
                <a16:creationId xmlns:a16="http://schemas.microsoft.com/office/drawing/2014/main" id="{FC7CC37B-2458-CD6B-403E-FE3A33730D22}"/>
              </a:ext>
            </a:extLst>
          </p:cNvPr>
          <p:cNvSpPr/>
          <p:nvPr/>
        </p:nvSpPr>
        <p:spPr>
          <a:xfrm>
            <a:off x="6201092" y="5895595"/>
            <a:ext cx="1524000" cy="268224"/>
          </a:xfrm>
          <a:prstGeom prst="rect">
            <a:avLst/>
          </a:prstGeom>
          <a:noFill/>
          <a:ln/>
        </p:spPr>
        <p:txBody>
          <a:bodyPr wrap="square" lIns="0" tIns="0" rIns="0" bIns="0" rtlCol="0" anchor="ctr"/>
          <a:lstStyle/>
          <a:p>
            <a:r>
              <a:rPr lang="en-US" sz="1133" b="1" dirty="0">
                <a:solidFill>
                  <a:srgbClr val="FFFFFF"/>
                </a:solidFill>
              </a:rPr>
              <a:t>71  1.8%</a:t>
            </a:r>
            <a:endParaRPr lang="en-US" sz="1133" dirty="0"/>
          </a:p>
        </p:txBody>
      </p:sp>
      <p:sp>
        <p:nvSpPr>
          <p:cNvPr id="197" name="Shape 60">
            <a:extLst>
              <a:ext uri="{FF2B5EF4-FFF2-40B4-BE49-F238E27FC236}">
                <a16:creationId xmlns:a16="http://schemas.microsoft.com/office/drawing/2014/main" id="{68DA2F1C-8C77-2D7F-5C8D-28B977727397}"/>
              </a:ext>
            </a:extLst>
          </p:cNvPr>
          <p:cNvSpPr/>
          <p:nvPr/>
        </p:nvSpPr>
        <p:spPr>
          <a:xfrm>
            <a:off x="4945316" y="6285739"/>
            <a:ext cx="1158240" cy="316992"/>
          </a:xfrm>
          <a:prstGeom prst="rect">
            <a:avLst/>
          </a:prstGeom>
          <a:solidFill>
            <a:srgbClr val="10B981"/>
          </a:solidFill>
          <a:ln w="12700">
            <a:solidFill>
              <a:srgbClr val="10B981"/>
            </a:solidFill>
            <a:prstDash val="solid"/>
          </a:ln>
        </p:spPr>
      </p:sp>
      <p:sp>
        <p:nvSpPr>
          <p:cNvPr id="198" name="Text 61">
            <a:extLst>
              <a:ext uri="{FF2B5EF4-FFF2-40B4-BE49-F238E27FC236}">
                <a16:creationId xmlns:a16="http://schemas.microsoft.com/office/drawing/2014/main" id="{89E0D700-1DC8-2E4D-32C5-B1EAF3014E22}"/>
              </a:ext>
            </a:extLst>
          </p:cNvPr>
          <p:cNvSpPr/>
          <p:nvPr/>
        </p:nvSpPr>
        <p:spPr>
          <a:xfrm>
            <a:off x="4945316" y="6285739"/>
            <a:ext cx="1158240" cy="316992"/>
          </a:xfrm>
          <a:prstGeom prst="rect">
            <a:avLst/>
          </a:prstGeom>
          <a:noFill/>
          <a:ln/>
        </p:spPr>
        <p:txBody>
          <a:bodyPr wrap="square" lIns="0" tIns="0" rIns="0" bIns="0" rtlCol="0" anchor="ctr"/>
          <a:lstStyle/>
          <a:p>
            <a:pPr algn="ctr"/>
            <a:r>
              <a:rPr lang="en-US" sz="933" b="1" dirty="0">
                <a:solidFill>
                  <a:srgbClr val="FFFFFF"/>
                </a:solidFill>
              </a:rPr>
              <a:t>OK</a:t>
            </a:r>
            <a:endParaRPr lang="en-US" sz="933" dirty="0"/>
          </a:p>
        </p:txBody>
      </p:sp>
      <p:sp>
        <p:nvSpPr>
          <p:cNvPr id="199" name="Text 62">
            <a:extLst>
              <a:ext uri="{FF2B5EF4-FFF2-40B4-BE49-F238E27FC236}">
                <a16:creationId xmlns:a16="http://schemas.microsoft.com/office/drawing/2014/main" id="{57CAE896-7202-B09C-37FA-66FBBF5BEEE0}"/>
              </a:ext>
            </a:extLst>
          </p:cNvPr>
          <p:cNvSpPr/>
          <p:nvPr/>
        </p:nvSpPr>
        <p:spPr>
          <a:xfrm>
            <a:off x="6201092" y="6310123"/>
            <a:ext cx="1524000" cy="268224"/>
          </a:xfrm>
          <a:prstGeom prst="rect">
            <a:avLst/>
          </a:prstGeom>
          <a:noFill/>
          <a:ln/>
        </p:spPr>
        <p:txBody>
          <a:bodyPr wrap="square" lIns="0" tIns="0" rIns="0" bIns="0" rtlCol="0" anchor="ctr"/>
          <a:lstStyle/>
          <a:p>
            <a:r>
              <a:rPr lang="en-US" sz="1133" b="1" dirty="0">
                <a:solidFill>
                  <a:srgbClr val="FFFFFF"/>
                </a:solidFill>
              </a:rPr>
              <a:t>37  0.9%</a:t>
            </a:r>
            <a:endParaRPr lang="en-US" sz="1133" dirty="0"/>
          </a:p>
        </p:txBody>
      </p:sp>
      <p:pic>
        <p:nvPicPr>
          <p:cNvPr id="213" name="Picture 212">
            <a:extLst>
              <a:ext uri="{FF2B5EF4-FFF2-40B4-BE49-F238E27FC236}">
                <a16:creationId xmlns:a16="http://schemas.microsoft.com/office/drawing/2014/main" id="{3394BD5C-9BE5-77ED-B481-C1D5CF8A030F}"/>
              </a:ext>
            </a:extLst>
          </p:cNvPr>
          <p:cNvPicPr>
            <a:picLocks noChangeAspect="1"/>
          </p:cNvPicPr>
          <p:nvPr/>
        </p:nvPicPr>
        <p:blipFill>
          <a:blip r:embed="rId3"/>
          <a:stretch>
            <a:fillRect/>
          </a:stretch>
        </p:blipFill>
        <p:spPr>
          <a:xfrm>
            <a:off x="8054276" y="3166742"/>
            <a:ext cx="4153480" cy="3667637"/>
          </a:xfrm>
          <a:prstGeom prst="rect">
            <a:avLst/>
          </a:prstGeom>
        </p:spPr>
      </p:pic>
      <p:graphicFrame>
        <p:nvGraphicFramePr>
          <p:cNvPr id="233" name="Table 232">
            <a:extLst>
              <a:ext uri="{FF2B5EF4-FFF2-40B4-BE49-F238E27FC236}">
                <a16:creationId xmlns:a16="http://schemas.microsoft.com/office/drawing/2014/main" id="{CE0ED1EE-F640-17FA-698E-E50E7C4D9C2C}"/>
              </a:ext>
            </a:extLst>
          </p:cNvPr>
          <p:cNvGraphicFramePr>
            <a:graphicFrameLocks noGrp="1"/>
          </p:cNvGraphicFramePr>
          <p:nvPr>
            <p:extLst>
              <p:ext uri="{D42A27DB-BD31-4B8C-83A1-F6EECF244321}">
                <p14:modId xmlns:p14="http://schemas.microsoft.com/office/powerpoint/2010/main" val="2848457245"/>
              </p:ext>
            </p:extLst>
          </p:nvPr>
        </p:nvGraphicFramePr>
        <p:xfrm>
          <a:off x="8054276" y="1033527"/>
          <a:ext cx="3958335" cy="2009140"/>
        </p:xfrm>
        <a:graphic>
          <a:graphicData uri="http://schemas.openxmlformats.org/drawingml/2006/table">
            <a:tbl>
              <a:tblPr firstRow="1" bandRow="1">
                <a:tableStyleId>{5C22544A-7EE6-4342-B048-85BDC9FD1C3A}</a:tableStyleId>
              </a:tblPr>
              <a:tblGrid>
                <a:gridCol w="1319445">
                  <a:extLst>
                    <a:ext uri="{9D8B030D-6E8A-4147-A177-3AD203B41FA5}">
                      <a16:colId xmlns:a16="http://schemas.microsoft.com/office/drawing/2014/main" val="2365194983"/>
                    </a:ext>
                  </a:extLst>
                </a:gridCol>
                <a:gridCol w="2638890">
                  <a:extLst>
                    <a:ext uri="{9D8B030D-6E8A-4147-A177-3AD203B41FA5}">
                      <a16:colId xmlns:a16="http://schemas.microsoft.com/office/drawing/2014/main" val="2547338952"/>
                    </a:ext>
                  </a:extLst>
                </a:gridCol>
              </a:tblGrid>
              <a:tr h="328676">
                <a:tc gridSpan="2">
                  <a:txBody>
                    <a:bodyPr/>
                    <a:lstStyle/>
                    <a:p>
                      <a:r>
                        <a:rPr lang="en-SG" dirty="0"/>
                        <a:t>Inventory Calculation Formulas</a:t>
                      </a:r>
                    </a:p>
                  </a:txBody>
                  <a:tcPr/>
                </a:tc>
                <a:tc hMerge="1">
                  <a:txBody>
                    <a:bodyPr/>
                    <a:lstStyle/>
                    <a:p>
                      <a:endParaRPr lang="en-SG" dirty="0"/>
                    </a:p>
                  </a:txBody>
                  <a:tcPr/>
                </a:tc>
                <a:extLst>
                  <a:ext uri="{0D108BD9-81ED-4DB2-BD59-A6C34878D82A}">
                    <a16:rowId xmlns:a16="http://schemas.microsoft.com/office/drawing/2014/main" val="126890422"/>
                  </a:ext>
                </a:extLst>
              </a:tr>
              <a:tr h="328676">
                <a:tc>
                  <a:txBody>
                    <a:bodyPr/>
                    <a:lstStyle/>
                    <a:p>
                      <a:r>
                        <a:rPr lang="en-SG" sz="1400" dirty="0"/>
                        <a:t>EOQ</a:t>
                      </a:r>
                    </a:p>
                  </a:txBody>
                  <a:tcPr/>
                </a:tc>
                <a:tc>
                  <a:txBody>
                    <a:bodyPr/>
                    <a:lstStyle/>
                    <a:p>
                      <a:pPr algn="l"/>
                      <a:r>
                        <a:rPr lang="en-SG" sz="1400" b="1" i="0" dirty="0">
                          <a:solidFill>
                            <a:srgbClr val="0D9488"/>
                          </a:solidFill>
                          <a:latin typeface="Consolas"/>
                        </a:rPr>
                        <a:t>√(2 × D × S / H)</a:t>
                      </a:r>
                    </a:p>
                  </a:txBody>
                  <a:tcPr/>
                </a:tc>
                <a:extLst>
                  <a:ext uri="{0D108BD9-81ED-4DB2-BD59-A6C34878D82A}">
                    <a16:rowId xmlns:a16="http://schemas.microsoft.com/office/drawing/2014/main" val="61487778"/>
                  </a:ext>
                </a:extLst>
              </a:tr>
              <a:tr h="328676">
                <a:tc>
                  <a:txBody>
                    <a:bodyPr/>
                    <a:lstStyle/>
                    <a:p>
                      <a:r>
                        <a:rPr lang="en-SG" sz="1400" dirty="0"/>
                        <a:t>ROP</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SG" sz="1400" b="1" i="0" dirty="0">
                          <a:solidFill>
                            <a:srgbClr val="0D9488"/>
                          </a:solidFill>
                          <a:latin typeface="Consolas"/>
                        </a:rPr>
                        <a:t>d̄ × L + Z × </a:t>
                      </a:r>
                      <a:r>
                        <a:rPr lang="el-GR" sz="1400" b="1" i="0" dirty="0">
                          <a:solidFill>
                            <a:srgbClr val="0D9488"/>
                          </a:solidFill>
                          <a:latin typeface="Consolas"/>
                        </a:rPr>
                        <a:t>σ × √</a:t>
                      </a:r>
                      <a:r>
                        <a:rPr lang="en-SG" sz="1400" b="1" i="0" dirty="0">
                          <a:solidFill>
                            <a:srgbClr val="0D9488"/>
                          </a:solidFill>
                          <a:latin typeface="Consolas"/>
                        </a:rPr>
                        <a:t>L</a:t>
                      </a:r>
                    </a:p>
                  </a:txBody>
                  <a:tcPr/>
                </a:tc>
                <a:extLst>
                  <a:ext uri="{0D108BD9-81ED-4DB2-BD59-A6C34878D82A}">
                    <a16:rowId xmlns:a16="http://schemas.microsoft.com/office/drawing/2014/main" val="1206982254"/>
                  </a:ext>
                </a:extLst>
              </a:tr>
              <a:tr h="328676">
                <a:tc>
                  <a:txBody>
                    <a:bodyPr/>
                    <a:lstStyle/>
                    <a:p>
                      <a:r>
                        <a:rPr lang="en-SG" sz="1400" dirty="0"/>
                        <a:t>Safety Stock</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SG" sz="1400" b="1" i="0" dirty="0">
                          <a:solidFill>
                            <a:srgbClr val="0D9488"/>
                          </a:solidFill>
                          <a:latin typeface="Consolas"/>
                        </a:rPr>
                        <a:t>Z × </a:t>
                      </a:r>
                      <a:r>
                        <a:rPr lang="el-GR" sz="1400" b="1" i="0" dirty="0">
                          <a:solidFill>
                            <a:srgbClr val="0D9488"/>
                          </a:solidFill>
                          <a:latin typeface="Consolas"/>
                        </a:rPr>
                        <a:t>σ_</a:t>
                      </a:r>
                      <a:r>
                        <a:rPr lang="en-SG" sz="1400" b="1" i="0" dirty="0">
                          <a:solidFill>
                            <a:srgbClr val="0D9488"/>
                          </a:solidFill>
                          <a:latin typeface="Consolas"/>
                        </a:rPr>
                        <a:t>d × √L</a:t>
                      </a:r>
                    </a:p>
                  </a:txBody>
                  <a:tcPr/>
                </a:tc>
                <a:extLst>
                  <a:ext uri="{0D108BD9-81ED-4DB2-BD59-A6C34878D82A}">
                    <a16:rowId xmlns:a16="http://schemas.microsoft.com/office/drawing/2014/main" val="2106850681"/>
                  </a:ext>
                </a:extLst>
              </a:tr>
              <a:tr h="328676">
                <a:tc>
                  <a:txBody>
                    <a:bodyPr/>
                    <a:lstStyle/>
                    <a:p>
                      <a:r>
                        <a:rPr lang="en-SG" sz="1400" dirty="0"/>
                        <a:t>Coverage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SG" sz="1400" b="1" i="0" dirty="0">
                          <a:solidFill>
                            <a:srgbClr val="0D9488"/>
                          </a:solidFill>
                          <a:latin typeface="Consolas"/>
                        </a:rPr>
                        <a:t>Stock on Hand / d̄</a:t>
                      </a:r>
                    </a:p>
                  </a:txBody>
                  <a:tcPr/>
                </a:tc>
                <a:extLst>
                  <a:ext uri="{0D108BD9-81ED-4DB2-BD59-A6C34878D82A}">
                    <a16:rowId xmlns:a16="http://schemas.microsoft.com/office/drawing/2014/main" val="1341443765"/>
                  </a:ext>
                </a:extLst>
              </a:tr>
              <a:tr h="328676">
                <a:tc>
                  <a:txBody>
                    <a:bodyPr/>
                    <a:lstStyle/>
                    <a:p>
                      <a:r>
                        <a:rPr lang="en-SG" sz="1400" dirty="0"/>
                        <a:t>Volatility</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l-GR" sz="1400" b="1" i="0" dirty="0">
                          <a:solidFill>
                            <a:srgbClr val="0D9488"/>
                          </a:solidFill>
                          <a:latin typeface="Consolas"/>
                        </a:rPr>
                        <a:t>σ / </a:t>
                      </a:r>
                      <a:r>
                        <a:rPr lang="en-SG" sz="1400" b="1" i="0" dirty="0">
                          <a:solidFill>
                            <a:srgbClr val="0D9488"/>
                          </a:solidFill>
                          <a:latin typeface="Consolas"/>
                        </a:rPr>
                        <a:t>d̄ (CV)</a:t>
                      </a:r>
                    </a:p>
                  </a:txBody>
                  <a:tcPr/>
                </a:tc>
                <a:extLst>
                  <a:ext uri="{0D108BD9-81ED-4DB2-BD59-A6C34878D82A}">
                    <a16:rowId xmlns:a16="http://schemas.microsoft.com/office/drawing/2014/main" val="3676011034"/>
                  </a:ext>
                </a:extLst>
              </a:tr>
            </a:tbl>
          </a:graphicData>
        </a:graphic>
      </p:graphicFrame>
    </p:spTree>
    <p:extLst>
      <p:ext uri="{BB962C8B-B14F-4D97-AF65-F5344CB8AC3E}">
        <p14:creationId xmlns:p14="http://schemas.microsoft.com/office/powerpoint/2010/main" val="20361955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3A6B9-E3BD-9E9D-A3AD-34FA1EC287B4}"/>
              </a:ext>
            </a:extLst>
          </p:cNvPr>
          <p:cNvSpPr>
            <a:spLocks noGrp="1"/>
          </p:cNvSpPr>
          <p:nvPr>
            <p:ph type="title"/>
          </p:nvPr>
        </p:nvSpPr>
        <p:spPr/>
        <p:txBody>
          <a:bodyPr>
            <a:normAutofit/>
          </a:bodyPr>
          <a:lstStyle/>
          <a:p>
            <a:r>
              <a:rPr lang="en-SG" dirty="0"/>
              <a:t>Sub 6: </a:t>
            </a:r>
            <a:r>
              <a:rPr lang="en-SG" dirty="0" err="1"/>
              <a:t>Streamlit</a:t>
            </a:r>
            <a:r>
              <a:rPr lang="en-SG" dirty="0"/>
              <a:t> Interactive Dashboard</a:t>
            </a:r>
            <a:br>
              <a:rPr lang="en-SG" dirty="0"/>
            </a:br>
            <a:endParaRPr lang="en-SG" dirty="0"/>
          </a:p>
        </p:txBody>
      </p:sp>
      <p:sp>
        <p:nvSpPr>
          <p:cNvPr id="4" name="Slide Number Placeholder 3">
            <a:extLst>
              <a:ext uri="{FF2B5EF4-FFF2-40B4-BE49-F238E27FC236}">
                <a16:creationId xmlns:a16="http://schemas.microsoft.com/office/drawing/2014/main" id="{77076903-C64B-CF4F-9F22-742D8893FE9F}"/>
              </a:ext>
            </a:extLst>
          </p:cNvPr>
          <p:cNvSpPr>
            <a:spLocks noGrp="1"/>
          </p:cNvSpPr>
          <p:nvPr>
            <p:ph type="sldNum" sz="quarter" idx="12"/>
          </p:nvPr>
        </p:nvSpPr>
        <p:spPr/>
        <p:txBody>
          <a:bodyPr/>
          <a:lstStyle/>
          <a:p>
            <a:fld id="{5A37AB63-62EB-4EDF-B1C9-C7FAE06A9E45}" type="slidenum">
              <a:rPr lang="en-SG" smtClean="0"/>
              <a:t>13</a:t>
            </a:fld>
            <a:endParaRPr lang="en-SG"/>
          </a:p>
        </p:txBody>
      </p:sp>
      <p:sp>
        <p:nvSpPr>
          <p:cNvPr id="7" name="AutoShape 6">
            <a:extLst>
              <a:ext uri="{FF2B5EF4-FFF2-40B4-BE49-F238E27FC236}">
                <a16:creationId xmlns:a16="http://schemas.microsoft.com/office/drawing/2014/main" id="{6B6EAECD-1174-1C54-1BF3-1CB7E69F13C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sp>
        <p:nvSpPr>
          <p:cNvPr id="8" name="Shape 4">
            <a:extLst>
              <a:ext uri="{FF2B5EF4-FFF2-40B4-BE49-F238E27FC236}">
                <a16:creationId xmlns:a16="http://schemas.microsoft.com/office/drawing/2014/main" id="{81312687-FD87-6CD5-7D88-DD97D1EA7A35}"/>
              </a:ext>
            </a:extLst>
          </p:cNvPr>
          <p:cNvSpPr/>
          <p:nvPr/>
        </p:nvSpPr>
        <p:spPr>
          <a:xfrm>
            <a:off x="312356" y="1264555"/>
            <a:ext cx="4267200" cy="5547360"/>
          </a:xfrm>
          <a:prstGeom prst="rect">
            <a:avLst/>
          </a:prstGeom>
          <a:solidFill>
            <a:srgbClr val="162032"/>
          </a:solidFill>
          <a:ln w="12700">
            <a:solidFill>
              <a:srgbClr val="1E3A5F"/>
            </a:solidFill>
            <a:prstDash val="solid"/>
          </a:ln>
          <a:effectLst>
            <a:outerShdw blurRad="101600" dist="25400" dir="8100000" algn="bl" rotWithShape="0">
              <a:srgbClr val="000000">
                <a:alpha val="18000"/>
              </a:srgbClr>
            </a:outerShdw>
          </a:effectLst>
        </p:spPr>
      </p:sp>
      <p:sp>
        <p:nvSpPr>
          <p:cNvPr id="9" name="Shape 5">
            <a:extLst>
              <a:ext uri="{FF2B5EF4-FFF2-40B4-BE49-F238E27FC236}">
                <a16:creationId xmlns:a16="http://schemas.microsoft.com/office/drawing/2014/main" id="{13ABD9B8-485D-C069-AE99-C2F078875F76}"/>
              </a:ext>
            </a:extLst>
          </p:cNvPr>
          <p:cNvSpPr/>
          <p:nvPr/>
        </p:nvSpPr>
        <p:spPr>
          <a:xfrm>
            <a:off x="312356" y="1264555"/>
            <a:ext cx="4267200" cy="67056"/>
          </a:xfrm>
          <a:prstGeom prst="rect">
            <a:avLst/>
          </a:prstGeom>
          <a:solidFill>
            <a:srgbClr val="00B4D8"/>
          </a:solidFill>
          <a:ln w="12700">
            <a:solidFill>
              <a:srgbClr val="00B4D8"/>
            </a:solidFill>
            <a:prstDash val="solid"/>
          </a:ln>
        </p:spPr>
      </p:sp>
      <p:sp>
        <p:nvSpPr>
          <p:cNvPr id="10" name="Text 6">
            <a:extLst>
              <a:ext uri="{FF2B5EF4-FFF2-40B4-BE49-F238E27FC236}">
                <a16:creationId xmlns:a16="http://schemas.microsoft.com/office/drawing/2014/main" id="{BE8E4A9D-91C2-DEDC-97C9-CF1DAD223014}"/>
              </a:ext>
            </a:extLst>
          </p:cNvPr>
          <p:cNvSpPr/>
          <p:nvPr/>
        </p:nvSpPr>
        <p:spPr>
          <a:xfrm>
            <a:off x="531812" y="1386475"/>
            <a:ext cx="3779520" cy="341376"/>
          </a:xfrm>
          <a:prstGeom prst="rect">
            <a:avLst/>
          </a:prstGeom>
          <a:noFill/>
          <a:ln/>
        </p:spPr>
        <p:txBody>
          <a:bodyPr wrap="square" lIns="0" tIns="0" rIns="0" bIns="0" rtlCol="0" anchor="ctr"/>
          <a:lstStyle/>
          <a:p>
            <a:r>
              <a:rPr lang="en-US" sz="1467" b="1" dirty="0">
                <a:solidFill>
                  <a:srgbClr val="00B4D8"/>
                </a:solidFill>
              </a:rPr>
              <a:t>6 Pages</a:t>
            </a:r>
            <a:endParaRPr lang="en-US" sz="1467" dirty="0"/>
          </a:p>
        </p:txBody>
      </p:sp>
      <p:sp>
        <p:nvSpPr>
          <p:cNvPr id="11" name="Shape 7">
            <a:extLst>
              <a:ext uri="{FF2B5EF4-FFF2-40B4-BE49-F238E27FC236}">
                <a16:creationId xmlns:a16="http://schemas.microsoft.com/office/drawing/2014/main" id="{0E565482-364B-93EA-EBAE-33ADB74C6818}"/>
              </a:ext>
            </a:extLst>
          </p:cNvPr>
          <p:cNvSpPr/>
          <p:nvPr/>
        </p:nvSpPr>
        <p:spPr>
          <a:xfrm>
            <a:off x="373316" y="1910731"/>
            <a:ext cx="85344" cy="512064"/>
          </a:xfrm>
          <a:prstGeom prst="rect">
            <a:avLst/>
          </a:prstGeom>
          <a:solidFill>
            <a:srgbClr val="00B4D8"/>
          </a:solidFill>
          <a:ln w="12700">
            <a:solidFill>
              <a:srgbClr val="00B4D8"/>
            </a:solidFill>
            <a:prstDash val="solid"/>
          </a:ln>
        </p:spPr>
      </p:sp>
      <p:sp>
        <p:nvSpPr>
          <p:cNvPr id="12" name="Text 8">
            <a:extLst>
              <a:ext uri="{FF2B5EF4-FFF2-40B4-BE49-F238E27FC236}">
                <a16:creationId xmlns:a16="http://schemas.microsoft.com/office/drawing/2014/main" id="{CBE37736-1E3E-A972-BCE4-E0499C2DA42A}"/>
              </a:ext>
            </a:extLst>
          </p:cNvPr>
          <p:cNvSpPr/>
          <p:nvPr/>
        </p:nvSpPr>
        <p:spPr>
          <a:xfrm>
            <a:off x="617156" y="1898539"/>
            <a:ext cx="3779520" cy="268224"/>
          </a:xfrm>
          <a:prstGeom prst="rect">
            <a:avLst/>
          </a:prstGeom>
          <a:noFill/>
          <a:ln/>
        </p:spPr>
        <p:txBody>
          <a:bodyPr wrap="square" lIns="0" tIns="0" rIns="0" bIns="0" rtlCol="0" anchor="ctr"/>
          <a:lstStyle/>
          <a:p>
            <a:r>
              <a:rPr lang="en-US" sz="1333" b="1" dirty="0">
                <a:solidFill>
                  <a:srgbClr val="FFFFFF"/>
                </a:solidFill>
              </a:rPr>
              <a:t>📊  Analytics Dashboard</a:t>
            </a:r>
            <a:endParaRPr lang="en-US" sz="1333" dirty="0"/>
          </a:p>
        </p:txBody>
      </p:sp>
      <p:sp>
        <p:nvSpPr>
          <p:cNvPr id="13" name="Text 9">
            <a:extLst>
              <a:ext uri="{FF2B5EF4-FFF2-40B4-BE49-F238E27FC236}">
                <a16:creationId xmlns:a16="http://schemas.microsoft.com/office/drawing/2014/main" id="{B2464518-CDFF-646A-E06F-063FAF90DB8C}"/>
              </a:ext>
            </a:extLst>
          </p:cNvPr>
          <p:cNvSpPr/>
          <p:nvPr/>
        </p:nvSpPr>
        <p:spPr>
          <a:xfrm>
            <a:off x="617156" y="2154571"/>
            <a:ext cx="3779520" cy="243840"/>
          </a:xfrm>
          <a:prstGeom prst="rect">
            <a:avLst/>
          </a:prstGeom>
          <a:noFill/>
          <a:ln/>
        </p:spPr>
        <p:txBody>
          <a:bodyPr wrap="square" lIns="0" tIns="0" rIns="0" bIns="0" rtlCol="0" anchor="ctr"/>
          <a:lstStyle/>
          <a:p>
            <a:r>
              <a:rPr lang="en-US" sz="1067" dirty="0">
                <a:solidFill>
                  <a:srgbClr val="CBD5E1"/>
                </a:solidFill>
              </a:rPr>
              <a:t>KPI cards, daily sales, top products by revenue</a:t>
            </a:r>
            <a:endParaRPr lang="en-US" sz="1067" dirty="0"/>
          </a:p>
        </p:txBody>
      </p:sp>
      <p:sp>
        <p:nvSpPr>
          <p:cNvPr id="14" name="Shape 10">
            <a:extLst>
              <a:ext uri="{FF2B5EF4-FFF2-40B4-BE49-F238E27FC236}">
                <a16:creationId xmlns:a16="http://schemas.microsoft.com/office/drawing/2014/main" id="{2D779768-38EA-20DC-BD0D-F526F9D77A0A}"/>
              </a:ext>
            </a:extLst>
          </p:cNvPr>
          <p:cNvSpPr/>
          <p:nvPr/>
        </p:nvSpPr>
        <p:spPr>
          <a:xfrm>
            <a:off x="373316" y="2544715"/>
            <a:ext cx="85344" cy="512064"/>
          </a:xfrm>
          <a:prstGeom prst="rect">
            <a:avLst/>
          </a:prstGeom>
          <a:solidFill>
            <a:srgbClr val="0077B6"/>
          </a:solidFill>
          <a:ln w="12700">
            <a:solidFill>
              <a:srgbClr val="0077B6"/>
            </a:solidFill>
            <a:prstDash val="solid"/>
          </a:ln>
        </p:spPr>
      </p:sp>
      <p:sp>
        <p:nvSpPr>
          <p:cNvPr id="15" name="Text 11">
            <a:extLst>
              <a:ext uri="{FF2B5EF4-FFF2-40B4-BE49-F238E27FC236}">
                <a16:creationId xmlns:a16="http://schemas.microsoft.com/office/drawing/2014/main" id="{572BCFEB-5B57-3E27-B58F-C7D57D75B29E}"/>
              </a:ext>
            </a:extLst>
          </p:cNvPr>
          <p:cNvSpPr/>
          <p:nvPr/>
        </p:nvSpPr>
        <p:spPr>
          <a:xfrm>
            <a:off x="617156" y="2532523"/>
            <a:ext cx="3779520" cy="268224"/>
          </a:xfrm>
          <a:prstGeom prst="rect">
            <a:avLst/>
          </a:prstGeom>
          <a:noFill/>
          <a:ln/>
        </p:spPr>
        <p:txBody>
          <a:bodyPr wrap="square" lIns="0" tIns="0" rIns="0" bIns="0" rtlCol="0" anchor="ctr"/>
          <a:lstStyle/>
          <a:p>
            <a:r>
              <a:rPr lang="en-US" sz="1333" b="1" dirty="0">
                <a:solidFill>
                  <a:srgbClr val="FFFFFF"/>
                </a:solidFill>
              </a:rPr>
              <a:t>📈  Forecast Explorer</a:t>
            </a:r>
            <a:endParaRPr lang="en-US" sz="1333" dirty="0"/>
          </a:p>
        </p:txBody>
      </p:sp>
      <p:sp>
        <p:nvSpPr>
          <p:cNvPr id="16" name="Text 12">
            <a:extLst>
              <a:ext uri="{FF2B5EF4-FFF2-40B4-BE49-F238E27FC236}">
                <a16:creationId xmlns:a16="http://schemas.microsoft.com/office/drawing/2014/main" id="{5FF19BFD-EC0D-B1B3-FFAF-3D95269E14F8}"/>
              </a:ext>
            </a:extLst>
          </p:cNvPr>
          <p:cNvSpPr/>
          <p:nvPr/>
        </p:nvSpPr>
        <p:spPr>
          <a:xfrm>
            <a:off x="617156" y="2788555"/>
            <a:ext cx="3779520" cy="243840"/>
          </a:xfrm>
          <a:prstGeom prst="rect">
            <a:avLst/>
          </a:prstGeom>
          <a:noFill/>
          <a:ln/>
        </p:spPr>
        <p:txBody>
          <a:bodyPr wrap="square" lIns="0" tIns="0" rIns="0" bIns="0" rtlCol="0" anchor="ctr"/>
          <a:lstStyle/>
          <a:p>
            <a:r>
              <a:rPr lang="en-US" sz="1067" dirty="0">
                <a:solidFill>
                  <a:srgbClr val="CBD5E1"/>
                </a:solidFill>
              </a:rPr>
              <a:t>Select a SKU, run 14-day RF demand forecast</a:t>
            </a:r>
            <a:endParaRPr lang="en-US" sz="1067" dirty="0"/>
          </a:p>
        </p:txBody>
      </p:sp>
      <p:sp>
        <p:nvSpPr>
          <p:cNvPr id="17" name="Shape 13">
            <a:extLst>
              <a:ext uri="{FF2B5EF4-FFF2-40B4-BE49-F238E27FC236}">
                <a16:creationId xmlns:a16="http://schemas.microsoft.com/office/drawing/2014/main" id="{2E61B458-FC46-57A7-4DB9-A4F405C470E3}"/>
              </a:ext>
            </a:extLst>
          </p:cNvPr>
          <p:cNvSpPr/>
          <p:nvPr/>
        </p:nvSpPr>
        <p:spPr>
          <a:xfrm>
            <a:off x="373316" y="3178699"/>
            <a:ext cx="85344" cy="512064"/>
          </a:xfrm>
          <a:prstGeom prst="rect">
            <a:avLst/>
          </a:prstGeom>
          <a:solidFill>
            <a:srgbClr val="F59E0B"/>
          </a:solidFill>
          <a:ln w="12700">
            <a:solidFill>
              <a:srgbClr val="F59E0B"/>
            </a:solidFill>
            <a:prstDash val="solid"/>
          </a:ln>
        </p:spPr>
      </p:sp>
      <p:sp>
        <p:nvSpPr>
          <p:cNvPr id="18" name="Text 14">
            <a:extLst>
              <a:ext uri="{FF2B5EF4-FFF2-40B4-BE49-F238E27FC236}">
                <a16:creationId xmlns:a16="http://schemas.microsoft.com/office/drawing/2014/main" id="{9129800A-2645-C423-CDBB-748631EBA8D7}"/>
              </a:ext>
            </a:extLst>
          </p:cNvPr>
          <p:cNvSpPr/>
          <p:nvPr/>
        </p:nvSpPr>
        <p:spPr>
          <a:xfrm>
            <a:off x="617156" y="3166507"/>
            <a:ext cx="3779520" cy="268224"/>
          </a:xfrm>
          <a:prstGeom prst="rect">
            <a:avLst/>
          </a:prstGeom>
          <a:noFill/>
          <a:ln/>
        </p:spPr>
        <p:txBody>
          <a:bodyPr wrap="square" lIns="0" tIns="0" rIns="0" bIns="0" rtlCol="0" anchor="ctr"/>
          <a:lstStyle/>
          <a:p>
            <a:r>
              <a:rPr lang="en-US" sz="1333" b="1" dirty="0">
                <a:solidFill>
                  <a:srgbClr val="FFFFFF"/>
                </a:solidFill>
              </a:rPr>
              <a:t>🚨  Alert Filter</a:t>
            </a:r>
            <a:endParaRPr lang="en-US" sz="1333" dirty="0"/>
          </a:p>
        </p:txBody>
      </p:sp>
      <p:sp>
        <p:nvSpPr>
          <p:cNvPr id="19" name="Text 15">
            <a:extLst>
              <a:ext uri="{FF2B5EF4-FFF2-40B4-BE49-F238E27FC236}">
                <a16:creationId xmlns:a16="http://schemas.microsoft.com/office/drawing/2014/main" id="{CD7E94F6-57B1-EB5A-DDD7-18B3C2E5A585}"/>
              </a:ext>
            </a:extLst>
          </p:cNvPr>
          <p:cNvSpPr/>
          <p:nvPr/>
        </p:nvSpPr>
        <p:spPr>
          <a:xfrm>
            <a:off x="617156" y="3422539"/>
            <a:ext cx="3779520" cy="243840"/>
          </a:xfrm>
          <a:prstGeom prst="rect">
            <a:avLst/>
          </a:prstGeom>
          <a:noFill/>
          <a:ln/>
        </p:spPr>
        <p:txBody>
          <a:bodyPr wrap="square" lIns="0" tIns="0" rIns="0" bIns="0" rtlCol="0" anchor="ctr"/>
          <a:lstStyle/>
          <a:p>
            <a:r>
              <a:rPr lang="en-US" sz="1067" dirty="0">
                <a:solidFill>
                  <a:srgbClr val="CBD5E1"/>
                </a:solidFill>
              </a:rPr>
              <a:t>Browse CRITICAL/WARNING alerts, export CSV</a:t>
            </a:r>
            <a:endParaRPr lang="en-US" sz="1067" dirty="0"/>
          </a:p>
        </p:txBody>
      </p:sp>
      <p:sp>
        <p:nvSpPr>
          <p:cNvPr id="20" name="Shape 16">
            <a:extLst>
              <a:ext uri="{FF2B5EF4-FFF2-40B4-BE49-F238E27FC236}">
                <a16:creationId xmlns:a16="http://schemas.microsoft.com/office/drawing/2014/main" id="{7EBAB5BE-A578-2DAF-1B91-0E759DB17F3B}"/>
              </a:ext>
            </a:extLst>
          </p:cNvPr>
          <p:cNvSpPr/>
          <p:nvPr/>
        </p:nvSpPr>
        <p:spPr>
          <a:xfrm>
            <a:off x="373316" y="3812683"/>
            <a:ext cx="85344" cy="512064"/>
          </a:xfrm>
          <a:prstGeom prst="rect">
            <a:avLst/>
          </a:prstGeom>
          <a:solidFill>
            <a:srgbClr val="10B981"/>
          </a:solidFill>
          <a:ln w="12700">
            <a:solidFill>
              <a:srgbClr val="10B981"/>
            </a:solidFill>
            <a:prstDash val="solid"/>
          </a:ln>
        </p:spPr>
      </p:sp>
      <p:sp>
        <p:nvSpPr>
          <p:cNvPr id="21" name="Text 17">
            <a:extLst>
              <a:ext uri="{FF2B5EF4-FFF2-40B4-BE49-F238E27FC236}">
                <a16:creationId xmlns:a16="http://schemas.microsoft.com/office/drawing/2014/main" id="{339C873C-C99B-21D8-C37F-7DD912462DC4}"/>
              </a:ext>
            </a:extLst>
          </p:cNvPr>
          <p:cNvSpPr/>
          <p:nvPr/>
        </p:nvSpPr>
        <p:spPr>
          <a:xfrm>
            <a:off x="617156" y="3800491"/>
            <a:ext cx="3779520" cy="268224"/>
          </a:xfrm>
          <a:prstGeom prst="rect">
            <a:avLst/>
          </a:prstGeom>
          <a:noFill/>
          <a:ln/>
        </p:spPr>
        <p:txBody>
          <a:bodyPr wrap="square" lIns="0" tIns="0" rIns="0" bIns="0" rtlCol="0" anchor="ctr"/>
          <a:lstStyle/>
          <a:p>
            <a:r>
              <a:rPr lang="en-US" sz="1333" b="1" dirty="0">
                <a:solidFill>
                  <a:srgbClr val="FFFFFF"/>
                </a:solidFill>
              </a:rPr>
              <a:t>👥  Segment Explorer</a:t>
            </a:r>
            <a:endParaRPr lang="en-US" sz="1333" dirty="0"/>
          </a:p>
        </p:txBody>
      </p:sp>
      <p:sp>
        <p:nvSpPr>
          <p:cNvPr id="22" name="Text 18">
            <a:extLst>
              <a:ext uri="{FF2B5EF4-FFF2-40B4-BE49-F238E27FC236}">
                <a16:creationId xmlns:a16="http://schemas.microsoft.com/office/drawing/2014/main" id="{EE03671C-A7CA-34B3-CED6-A06FA5CADE35}"/>
              </a:ext>
            </a:extLst>
          </p:cNvPr>
          <p:cNvSpPr/>
          <p:nvPr/>
        </p:nvSpPr>
        <p:spPr>
          <a:xfrm>
            <a:off x="617156" y="4056523"/>
            <a:ext cx="3779520" cy="243840"/>
          </a:xfrm>
          <a:prstGeom prst="rect">
            <a:avLst/>
          </a:prstGeom>
          <a:noFill/>
          <a:ln/>
        </p:spPr>
        <p:txBody>
          <a:bodyPr wrap="square" lIns="0" tIns="0" rIns="0" bIns="0" rtlCol="0" anchor="ctr"/>
          <a:lstStyle/>
          <a:p>
            <a:r>
              <a:rPr lang="en-US" sz="1067" dirty="0">
                <a:solidFill>
                  <a:srgbClr val="CBD5E1"/>
                </a:solidFill>
              </a:rPr>
              <a:t>Explore RFM segments and top customers</a:t>
            </a:r>
            <a:endParaRPr lang="en-US" sz="1067" dirty="0"/>
          </a:p>
        </p:txBody>
      </p:sp>
      <p:sp>
        <p:nvSpPr>
          <p:cNvPr id="23" name="Shape 19">
            <a:extLst>
              <a:ext uri="{FF2B5EF4-FFF2-40B4-BE49-F238E27FC236}">
                <a16:creationId xmlns:a16="http://schemas.microsoft.com/office/drawing/2014/main" id="{FD070C2A-26E8-C315-A45A-40EC51C35A0A}"/>
              </a:ext>
            </a:extLst>
          </p:cNvPr>
          <p:cNvSpPr/>
          <p:nvPr/>
        </p:nvSpPr>
        <p:spPr>
          <a:xfrm>
            <a:off x="373316" y="4446667"/>
            <a:ext cx="85344" cy="512064"/>
          </a:xfrm>
          <a:prstGeom prst="rect">
            <a:avLst/>
          </a:prstGeom>
          <a:solidFill>
            <a:srgbClr val="EF4444"/>
          </a:solidFill>
          <a:ln w="12700">
            <a:solidFill>
              <a:srgbClr val="EF4444"/>
            </a:solidFill>
            <a:prstDash val="solid"/>
          </a:ln>
        </p:spPr>
      </p:sp>
      <p:sp>
        <p:nvSpPr>
          <p:cNvPr id="24" name="Text 20">
            <a:extLst>
              <a:ext uri="{FF2B5EF4-FFF2-40B4-BE49-F238E27FC236}">
                <a16:creationId xmlns:a16="http://schemas.microsoft.com/office/drawing/2014/main" id="{B65FAEF0-6260-C35E-29D0-46415938BEC3}"/>
              </a:ext>
            </a:extLst>
          </p:cNvPr>
          <p:cNvSpPr/>
          <p:nvPr/>
        </p:nvSpPr>
        <p:spPr>
          <a:xfrm>
            <a:off x="617156" y="4434475"/>
            <a:ext cx="3779520" cy="268224"/>
          </a:xfrm>
          <a:prstGeom prst="rect">
            <a:avLst/>
          </a:prstGeom>
          <a:noFill/>
          <a:ln/>
        </p:spPr>
        <p:txBody>
          <a:bodyPr wrap="square" lIns="0" tIns="0" rIns="0" bIns="0" rtlCol="0" anchor="ctr"/>
          <a:lstStyle/>
          <a:p>
            <a:r>
              <a:rPr lang="en-US" sz="1333" b="1" dirty="0">
                <a:solidFill>
                  <a:srgbClr val="FFFFFF"/>
                </a:solidFill>
              </a:rPr>
              <a:t>🔍  Anomaly Detection</a:t>
            </a:r>
            <a:endParaRPr lang="en-US" sz="1333" dirty="0"/>
          </a:p>
        </p:txBody>
      </p:sp>
      <p:sp>
        <p:nvSpPr>
          <p:cNvPr id="25" name="Text 21">
            <a:extLst>
              <a:ext uri="{FF2B5EF4-FFF2-40B4-BE49-F238E27FC236}">
                <a16:creationId xmlns:a16="http://schemas.microsoft.com/office/drawing/2014/main" id="{C4B76093-E33B-FCC7-195E-9ACA1F9410A7}"/>
              </a:ext>
            </a:extLst>
          </p:cNvPr>
          <p:cNvSpPr/>
          <p:nvPr/>
        </p:nvSpPr>
        <p:spPr>
          <a:xfrm>
            <a:off x="617156" y="4690507"/>
            <a:ext cx="3779520" cy="243840"/>
          </a:xfrm>
          <a:prstGeom prst="rect">
            <a:avLst/>
          </a:prstGeom>
          <a:noFill/>
          <a:ln/>
        </p:spPr>
        <p:txBody>
          <a:bodyPr wrap="square" lIns="0" tIns="0" rIns="0" bIns="0" rtlCol="0" anchor="ctr"/>
          <a:lstStyle/>
          <a:p>
            <a:r>
              <a:rPr lang="en-US" sz="1067" dirty="0">
                <a:solidFill>
                  <a:srgbClr val="CBD5E1"/>
                </a:solidFill>
              </a:rPr>
              <a:t>View flagged transactions and anomaly scores</a:t>
            </a:r>
            <a:endParaRPr lang="en-US" sz="1067" dirty="0"/>
          </a:p>
        </p:txBody>
      </p:sp>
      <p:sp>
        <p:nvSpPr>
          <p:cNvPr id="26" name="Shape 22">
            <a:extLst>
              <a:ext uri="{FF2B5EF4-FFF2-40B4-BE49-F238E27FC236}">
                <a16:creationId xmlns:a16="http://schemas.microsoft.com/office/drawing/2014/main" id="{B4D635C9-446C-C526-52F9-F5D6701A687A}"/>
              </a:ext>
            </a:extLst>
          </p:cNvPr>
          <p:cNvSpPr/>
          <p:nvPr/>
        </p:nvSpPr>
        <p:spPr>
          <a:xfrm>
            <a:off x="373316" y="5080651"/>
            <a:ext cx="85344" cy="512064"/>
          </a:xfrm>
          <a:prstGeom prst="rect">
            <a:avLst/>
          </a:prstGeom>
          <a:solidFill>
            <a:srgbClr val="64748B"/>
          </a:solidFill>
          <a:ln w="12700">
            <a:solidFill>
              <a:srgbClr val="64748B"/>
            </a:solidFill>
            <a:prstDash val="solid"/>
          </a:ln>
        </p:spPr>
      </p:sp>
      <p:sp>
        <p:nvSpPr>
          <p:cNvPr id="27" name="Text 23">
            <a:extLst>
              <a:ext uri="{FF2B5EF4-FFF2-40B4-BE49-F238E27FC236}">
                <a16:creationId xmlns:a16="http://schemas.microsoft.com/office/drawing/2014/main" id="{B0B15482-3865-2E11-98C7-4045FCCDBCD9}"/>
              </a:ext>
            </a:extLst>
          </p:cNvPr>
          <p:cNvSpPr/>
          <p:nvPr/>
        </p:nvSpPr>
        <p:spPr>
          <a:xfrm>
            <a:off x="617156" y="5068459"/>
            <a:ext cx="3779520" cy="268224"/>
          </a:xfrm>
          <a:prstGeom prst="rect">
            <a:avLst/>
          </a:prstGeom>
          <a:noFill/>
          <a:ln/>
        </p:spPr>
        <p:txBody>
          <a:bodyPr wrap="square" lIns="0" tIns="0" rIns="0" bIns="0" rtlCol="0" anchor="ctr"/>
          <a:lstStyle/>
          <a:p>
            <a:r>
              <a:rPr lang="en-US" sz="1333" b="1" dirty="0">
                <a:solidFill>
                  <a:srgbClr val="FFFFFF"/>
                </a:solidFill>
              </a:rPr>
              <a:t>ℹ️  System Info</a:t>
            </a:r>
            <a:endParaRPr lang="en-US" sz="1333" dirty="0"/>
          </a:p>
        </p:txBody>
      </p:sp>
      <p:sp>
        <p:nvSpPr>
          <p:cNvPr id="28" name="Text 24">
            <a:extLst>
              <a:ext uri="{FF2B5EF4-FFF2-40B4-BE49-F238E27FC236}">
                <a16:creationId xmlns:a16="http://schemas.microsoft.com/office/drawing/2014/main" id="{18F73828-8B59-3DB9-67C5-8642D5A83521}"/>
              </a:ext>
            </a:extLst>
          </p:cNvPr>
          <p:cNvSpPr/>
          <p:nvPr/>
        </p:nvSpPr>
        <p:spPr>
          <a:xfrm>
            <a:off x="617156" y="5324491"/>
            <a:ext cx="3779520" cy="243840"/>
          </a:xfrm>
          <a:prstGeom prst="rect">
            <a:avLst/>
          </a:prstGeom>
          <a:noFill/>
          <a:ln/>
        </p:spPr>
        <p:txBody>
          <a:bodyPr wrap="square" lIns="0" tIns="0" rIns="0" bIns="0" rtlCol="0" anchor="ctr"/>
          <a:lstStyle/>
          <a:p>
            <a:r>
              <a:rPr lang="en-US" sz="1067" dirty="0">
                <a:solidFill>
                  <a:srgbClr val="CBD5E1"/>
                </a:solidFill>
              </a:rPr>
              <a:t>Live metrics for all 5 subsystems</a:t>
            </a:r>
            <a:endParaRPr lang="en-US" sz="1067" dirty="0"/>
          </a:p>
        </p:txBody>
      </p:sp>
      <p:sp>
        <p:nvSpPr>
          <p:cNvPr id="29" name="Shape 25">
            <a:extLst>
              <a:ext uri="{FF2B5EF4-FFF2-40B4-BE49-F238E27FC236}">
                <a16:creationId xmlns:a16="http://schemas.microsoft.com/office/drawing/2014/main" id="{5292BCDB-90B1-0C43-D6D1-10DAC5B0B8C2}"/>
              </a:ext>
            </a:extLst>
          </p:cNvPr>
          <p:cNvSpPr/>
          <p:nvPr/>
        </p:nvSpPr>
        <p:spPr>
          <a:xfrm>
            <a:off x="312356" y="6287659"/>
            <a:ext cx="4267200" cy="524256"/>
          </a:xfrm>
          <a:prstGeom prst="rect">
            <a:avLst/>
          </a:prstGeom>
          <a:solidFill>
            <a:srgbClr val="0077B6"/>
          </a:solidFill>
          <a:ln w="12700">
            <a:solidFill>
              <a:srgbClr val="0077B6"/>
            </a:solidFill>
            <a:prstDash val="solid"/>
          </a:ln>
        </p:spPr>
      </p:sp>
      <p:sp>
        <p:nvSpPr>
          <p:cNvPr id="30" name="Text 26">
            <a:extLst>
              <a:ext uri="{FF2B5EF4-FFF2-40B4-BE49-F238E27FC236}">
                <a16:creationId xmlns:a16="http://schemas.microsoft.com/office/drawing/2014/main" id="{7FCB213D-B0F8-1B56-7A68-848F78979EC3}"/>
              </a:ext>
            </a:extLst>
          </p:cNvPr>
          <p:cNvSpPr/>
          <p:nvPr/>
        </p:nvSpPr>
        <p:spPr>
          <a:xfrm>
            <a:off x="531812" y="6324235"/>
            <a:ext cx="3779520" cy="243840"/>
          </a:xfrm>
          <a:prstGeom prst="rect">
            <a:avLst/>
          </a:prstGeom>
          <a:noFill/>
          <a:ln/>
        </p:spPr>
        <p:txBody>
          <a:bodyPr wrap="square" lIns="0" tIns="0" rIns="0" bIns="0" rtlCol="0" anchor="ctr"/>
          <a:lstStyle/>
          <a:p>
            <a:r>
              <a:rPr lang="en-US" sz="1133" b="1" dirty="0">
                <a:solidFill>
                  <a:srgbClr val="FFFFFF"/>
                </a:solidFill>
              </a:rPr>
              <a:t>🌐  Deployment</a:t>
            </a:r>
            <a:endParaRPr lang="en-US" sz="1133" dirty="0"/>
          </a:p>
        </p:txBody>
      </p:sp>
      <p:sp>
        <p:nvSpPr>
          <p:cNvPr id="31" name="Text 27">
            <a:extLst>
              <a:ext uri="{FF2B5EF4-FFF2-40B4-BE49-F238E27FC236}">
                <a16:creationId xmlns:a16="http://schemas.microsoft.com/office/drawing/2014/main" id="{FC999590-DBBE-CF66-990E-2B8AE0345C9C}"/>
              </a:ext>
            </a:extLst>
          </p:cNvPr>
          <p:cNvSpPr/>
          <p:nvPr/>
        </p:nvSpPr>
        <p:spPr>
          <a:xfrm>
            <a:off x="531812" y="6531499"/>
            <a:ext cx="3779520" cy="219456"/>
          </a:xfrm>
          <a:prstGeom prst="rect">
            <a:avLst/>
          </a:prstGeom>
          <a:noFill/>
          <a:ln/>
        </p:spPr>
        <p:txBody>
          <a:bodyPr wrap="square" lIns="0" tIns="0" rIns="0" bIns="0" rtlCol="0" anchor="ctr"/>
          <a:lstStyle/>
          <a:p>
            <a:r>
              <a:rPr lang="en-US" sz="1067" dirty="0">
                <a:solidFill>
                  <a:srgbClr val="90E0EF"/>
                </a:solidFill>
              </a:rPr>
              <a:t>Streamlit on Colab · ngrok HTTPS tunnel · Public URL</a:t>
            </a:r>
            <a:endParaRPr lang="en-US" sz="1067" dirty="0"/>
          </a:p>
        </p:txBody>
      </p:sp>
      <p:sp>
        <p:nvSpPr>
          <p:cNvPr id="32" name="Shape 28">
            <a:extLst>
              <a:ext uri="{FF2B5EF4-FFF2-40B4-BE49-F238E27FC236}">
                <a16:creationId xmlns:a16="http://schemas.microsoft.com/office/drawing/2014/main" id="{3DA87E8A-8301-FD56-967F-F4B2D37D231C}"/>
              </a:ext>
            </a:extLst>
          </p:cNvPr>
          <p:cNvSpPr/>
          <p:nvPr/>
        </p:nvSpPr>
        <p:spPr>
          <a:xfrm>
            <a:off x="4823396" y="1264555"/>
            <a:ext cx="7071360" cy="5547360"/>
          </a:xfrm>
          <a:prstGeom prst="rect">
            <a:avLst/>
          </a:prstGeom>
          <a:solidFill>
            <a:srgbClr val="162032"/>
          </a:solidFill>
          <a:ln w="12700">
            <a:solidFill>
              <a:srgbClr val="1E3A5F"/>
            </a:solidFill>
            <a:prstDash val="solid"/>
          </a:ln>
          <a:effectLst>
            <a:outerShdw blurRad="101600" dist="25400" dir="8100000" algn="bl" rotWithShape="0">
              <a:srgbClr val="000000">
                <a:alpha val="18000"/>
              </a:srgbClr>
            </a:outerShdw>
          </a:effectLst>
        </p:spPr>
      </p:sp>
      <p:sp>
        <p:nvSpPr>
          <p:cNvPr id="33" name="Shape 29">
            <a:extLst>
              <a:ext uri="{FF2B5EF4-FFF2-40B4-BE49-F238E27FC236}">
                <a16:creationId xmlns:a16="http://schemas.microsoft.com/office/drawing/2014/main" id="{C67473C2-1932-3F18-B339-F41E84E8E1D3}"/>
              </a:ext>
            </a:extLst>
          </p:cNvPr>
          <p:cNvSpPr/>
          <p:nvPr/>
        </p:nvSpPr>
        <p:spPr>
          <a:xfrm>
            <a:off x="4823396" y="1264555"/>
            <a:ext cx="7071360" cy="67056"/>
          </a:xfrm>
          <a:prstGeom prst="rect">
            <a:avLst/>
          </a:prstGeom>
          <a:solidFill>
            <a:srgbClr val="0077B6"/>
          </a:solidFill>
          <a:ln w="12700">
            <a:solidFill>
              <a:srgbClr val="0077B6"/>
            </a:solidFill>
            <a:prstDash val="solid"/>
          </a:ln>
        </p:spPr>
      </p:sp>
      <p:sp>
        <p:nvSpPr>
          <p:cNvPr id="34" name="Text 30">
            <a:extLst>
              <a:ext uri="{FF2B5EF4-FFF2-40B4-BE49-F238E27FC236}">
                <a16:creationId xmlns:a16="http://schemas.microsoft.com/office/drawing/2014/main" id="{C6609392-164F-0F56-ABE6-360DB7D3CC61}"/>
              </a:ext>
            </a:extLst>
          </p:cNvPr>
          <p:cNvSpPr/>
          <p:nvPr/>
        </p:nvSpPr>
        <p:spPr>
          <a:xfrm>
            <a:off x="5042852" y="1386475"/>
            <a:ext cx="6583680" cy="316992"/>
          </a:xfrm>
          <a:prstGeom prst="rect">
            <a:avLst/>
          </a:prstGeom>
          <a:noFill/>
          <a:ln/>
        </p:spPr>
        <p:txBody>
          <a:bodyPr wrap="square" lIns="0" tIns="0" rIns="0" bIns="0" rtlCol="0" anchor="ctr"/>
          <a:lstStyle/>
          <a:p>
            <a:r>
              <a:rPr lang="en-US" sz="1400" b="1" dirty="0">
                <a:solidFill>
                  <a:srgbClr val="90E0EF"/>
                </a:solidFill>
              </a:rPr>
              <a:t>Live Dashboard</a:t>
            </a:r>
            <a:endParaRPr lang="en-US" sz="1400" dirty="0"/>
          </a:p>
        </p:txBody>
      </p:sp>
      <p:sp>
        <p:nvSpPr>
          <p:cNvPr id="35" name="Shape 31">
            <a:extLst>
              <a:ext uri="{FF2B5EF4-FFF2-40B4-BE49-F238E27FC236}">
                <a16:creationId xmlns:a16="http://schemas.microsoft.com/office/drawing/2014/main" id="{9ADAA2BC-4D7F-61C4-D6E3-15B071D59075}"/>
              </a:ext>
            </a:extLst>
          </p:cNvPr>
          <p:cNvSpPr/>
          <p:nvPr/>
        </p:nvSpPr>
        <p:spPr>
          <a:xfrm>
            <a:off x="4981892" y="1776619"/>
            <a:ext cx="6766560" cy="4815840"/>
          </a:xfrm>
          <a:prstGeom prst="rect">
            <a:avLst/>
          </a:prstGeom>
          <a:solidFill>
            <a:srgbClr val="0D1B2A"/>
          </a:solidFill>
          <a:ln w="12700">
            <a:solidFill>
              <a:srgbClr val="64748B"/>
            </a:solidFill>
            <a:prstDash val="dash"/>
          </a:ln>
        </p:spPr>
      </p:sp>
      <p:pic>
        <p:nvPicPr>
          <p:cNvPr id="39" name="Picture 38">
            <a:extLst>
              <a:ext uri="{FF2B5EF4-FFF2-40B4-BE49-F238E27FC236}">
                <a16:creationId xmlns:a16="http://schemas.microsoft.com/office/drawing/2014/main" id="{16E6CB65-69DA-F36A-B629-6CD3970CCBF4}"/>
              </a:ext>
            </a:extLst>
          </p:cNvPr>
          <p:cNvPicPr>
            <a:picLocks noChangeAspect="1"/>
          </p:cNvPicPr>
          <p:nvPr/>
        </p:nvPicPr>
        <p:blipFill>
          <a:blip r:embed="rId2"/>
          <a:stretch>
            <a:fillRect/>
          </a:stretch>
        </p:blipFill>
        <p:spPr>
          <a:xfrm>
            <a:off x="5261862" y="2176637"/>
            <a:ext cx="6194427" cy="4057253"/>
          </a:xfrm>
          <a:prstGeom prst="rect">
            <a:avLst/>
          </a:prstGeom>
        </p:spPr>
      </p:pic>
    </p:spTree>
    <p:extLst>
      <p:ext uri="{BB962C8B-B14F-4D97-AF65-F5344CB8AC3E}">
        <p14:creationId xmlns:p14="http://schemas.microsoft.com/office/powerpoint/2010/main" val="1256893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D1523-D92F-F20D-E8B6-0FD110069986}"/>
              </a:ext>
            </a:extLst>
          </p:cNvPr>
          <p:cNvSpPr>
            <a:spLocks noGrp="1"/>
          </p:cNvSpPr>
          <p:nvPr>
            <p:ph type="title"/>
          </p:nvPr>
        </p:nvSpPr>
        <p:spPr/>
        <p:txBody>
          <a:bodyPr/>
          <a:lstStyle/>
          <a:p>
            <a:r>
              <a:rPr lang="en-SG" dirty="0"/>
              <a:t>Results &amp; Evaluation</a:t>
            </a:r>
          </a:p>
        </p:txBody>
      </p:sp>
      <p:sp>
        <p:nvSpPr>
          <p:cNvPr id="3" name="Content Placeholder 2">
            <a:extLst>
              <a:ext uri="{FF2B5EF4-FFF2-40B4-BE49-F238E27FC236}">
                <a16:creationId xmlns:a16="http://schemas.microsoft.com/office/drawing/2014/main" id="{A2DD5F02-313F-56B5-E3AB-F54A93404DD7}"/>
              </a:ext>
            </a:extLst>
          </p:cNvPr>
          <p:cNvSpPr>
            <a:spLocks noGrp="1"/>
          </p:cNvSpPr>
          <p:nvPr>
            <p:ph idx="1"/>
          </p:nvPr>
        </p:nvSpPr>
        <p:spPr/>
        <p:txBody>
          <a:bodyPr/>
          <a:lstStyle/>
          <a:p>
            <a:endParaRPr lang="en-SG"/>
          </a:p>
        </p:txBody>
      </p:sp>
      <p:sp>
        <p:nvSpPr>
          <p:cNvPr id="4" name="Slide Number Placeholder 3">
            <a:extLst>
              <a:ext uri="{FF2B5EF4-FFF2-40B4-BE49-F238E27FC236}">
                <a16:creationId xmlns:a16="http://schemas.microsoft.com/office/drawing/2014/main" id="{AB8B515C-6E12-53A6-73F5-14099053874E}"/>
              </a:ext>
            </a:extLst>
          </p:cNvPr>
          <p:cNvSpPr>
            <a:spLocks noGrp="1"/>
          </p:cNvSpPr>
          <p:nvPr>
            <p:ph type="sldNum" sz="quarter" idx="12"/>
          </p:nvPr>
        </p:nvSpPr>
        <p:spPr/>
        <p:txBody>
          <a:bodyPr/>
          <a:lstStyle/>
          <a:p>
            <a:fld id="{5A37AB63-62EB-4EDF-B1C9-C7FAE06A9E45}" type="slidenum">
              <a:rPr lang="en-SG" smtClean="0"/>
              <a:t>14</a:t>
            </a:fld>
            <a:endParaRPr lang="en-SG"/>
          </a:p>
        </p:txBody>
      </p:sp>
      <p:graphicFrame>
        <p:nvGraphicFramePr>
          <p:cNvPr id="15" name="Table 0">
            <a:extLst>
              <a:ext uri="{FF2B5EF4-FFF2-40B4-BE49-F238E27FC236}">
                <a16:creationId xmlns:a16="http://schemas.microsoft.com/office/drawing/2014/main" id="{F80EE4F8-B68D-1ADD-1AA8-5A5DA473C8CF}"/>
              </a:ext>
            </a:extLst>
          </p:cNvPr>
          <p:cNvGraphicFramePr>
            <a:graphicFrameLocks noGrp="1"/>
          </p:cNvGraphicFramePr>
          <p:nvPr>
            <p:extLst>
              <p:ext uri="{D42A27DB-BD31-4B8C-83A1-F6EECF244321}">
                <p14:modId xmlns:p14="http://schemas.microsoft.com/office/powerpoint/2010/main" val="1340091232"/>
              </p:ext>
            </p:extLst>
          </p:nvPr>
        </p:nvGraphicFramePr>
        <p:xfrm>
          <a:off x="381000" y="1323976"/>
          <a:ext cx="11582400" cy="4389119"/>
        </p:xfrm>
        <a:graphic>
          <a:graphicData uri="http://schemas.openxmlformats.org/drawingml/2006/table">
            <a:tbl>
              <a:tblPr/>
              <a:tblGrid>
                <a:gridCol w="2194560">
                  <a:extLst>
                    <a:ext uri="{9D8B030D-6E8A-4147-A177-3AD203B41FA5}">
                      <a16:colId xmlns:a16="http://schemas.microsoft.com/office/drawing/2014/main" val="20000"/>
                    </a:ext>
                  </a:extLst>
                </a:gridCol>
                <a:gridCol w="2255520">
                  <a:extLst>
                    <a:ext uri="{9D8B030D-6E8A-4147-A177-3AD203B41FA5}">
                      <a16:colId xmlns:a16="http://schemas.microsoft.com/office/drawing/2014/main" val="20001"/>
                    </a:ext>
                  </a:extLst>
                </a:gridCol>
                <a:gridCol w="1950720">
                  <a:extLst>
                    <a:ext uri="{9D8B030D-6E8A-4147-A177-3AD203B41FA5}">
                      <a16:colId xmlns:a16="http://schemas.microsoft.com/office/drawing/2014/main" val="20002"/>
                    </a:ext>
                  </a:extLst>
                </a:gridCol>
                <a:gridCol w="3657600">
                  <a:extLst>
                    <a:ext uri="{9D8B030D-6E8A-4147-A177-3AD203B41FA5}">
                      <a16:colId xmlns:a16="http://schemas.microsoft.com/office/drawing/2014/main" val="20003"/>
                    </a:ext>
                  </a:extLst>
                </a:gridCol>
                <a:gridCol w="1524000">
                  <a:extLst>
                    <a:ext uri="{9D8B030D-6E8A-4147-A177-3AD203B41FA5}">
                      <a16:colId xmlns:a16="http://schemas.microsoft.com/office/drawing/2014/main" val="20004"/>
                    </a:ext>
                  </a:extLst>
                </a:gridCol>
              </a:tblGrid>
              <a:tr h="627017">
                <a:tc>
                  <a:txBody>
                    <a:bodyPr/>
                    <a:lstStyle/>
                    <a:p>
                      <a:pPr marL="0" indent="0" algn="l">
                        <a:buNone/>
                      </a:pPr>
                      <a:r>
                        <a:rPr lang="en-US" sz="1300" b="1" dirty="0">
                          <a:solidFill>
                            <a:srgbClr val="FFFFFF"/>
                          </a:solidFill>
                        </a:rPr>
                        <a:t>Subsystem</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077B6"/>
                    </a:solidFill>
                  </a:tcPr>
                </a:tc>
                <a:tc>
                  <a:txBody>
                    <a:bodyPr/>
                    <a:lstStyle/>
                    <a:p>
                      <a:pPr marL="0" indent="0" algn="l">
                        <a:buNone/>
                      </a:pPr>
                      <a:r>
                        <a:rPr lang="en-US" sz="1300" b="1" dirty="0">
                          <a:solidFill>
                            <a:srgbClr val="FFFFFF"/>
                          </a:solidFill>
                        </a:rPr>
                        <a:t>Method</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077B6"/>
                    </a:solidFill>
                  </a:tcPr>
                </a:tc>
                <a:tc>
                  <a:txBody>
                    <a:bodyPr/>
                    <a:lstStyle/>
                    <a:p>
                      <a:pPr marL="0" indent="0" algn="l">
                        <a:buNone/>
                      </a:pPr>
                      <a:r>
                        <a:rPr lang="en-US" sz="1300" b="1" dirty="0">
                          <a:solidFill>
                            <a:srgbClr val="FFFFFF"/>
                          </a:solidFill>
                        </a:rPr>
                        <a:t>Key Metric</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077B6"/>
                    </a:solidFill>
                  </a:tcPr>
                </a:tc>
                <a:tc>
                  <a:txBody>
                    <a:bodyPr/>
                    <a:lstStyle/>
                    <a:p>
                      <a:pPr marL="0" indent="0" algn="l">
                        <a:buNone/>
                      </a:pPr>
                      <a:r>
                        <a:rPr lang="en-US" sz="1300" b="1" dirty="0">
                          <a:solidFill>
                            <a:srgbClr val="FFFFFF"/>
                          </a:solidFill>
                        </a:rPr>
                        <a:t>Result</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077B6"/>
                    </a:solidFill>
                  </a:tcPr>
                </a:tc>
                <a:tc>
                  <a:txBody>
                    <a:bodyPr/>
                    <a:lstStyle/>
                    <a:p>
                      <a:pPr marL="0" indent="0" algn="ctr">
                        <a:buNone/>
                      </a:pPr>
                      <a:r>
                        <a:rPr lang="en-US" sz="1300" b="1" dirty="0">
                          <a:solidFill>
                            <a:srgbClr val="FFFFFF"/>
                          </a:solidFill>
                        </a:rPr>
                        <a:t>Status</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077B6"/>
                    </a:solidFill>
                  </a:tcPr>
                </a:tc>
                <a:extLst>
                  <a:ext uri="{0D108BD9-81ED-4DB2-BD59-A6C34878D82A}">
                    <a16:rowId xmlns:a16="http://schemas.microsoft.com/office/drawing/2014/main" val="10000"/>
                  </a:ext>
                </a:extLst>
              </a:tr>
              <a:tr h="627017">
                <a:tc>
                  <a:txBody>
                    <a:bodyPr/>
                    <a:lstStyle/>
                    <a:p>
                      <a:pPr marL="0" indent="0">
                        <a:buNone/>
                      </a:pPr>
                      <a:r>
                        <a:rPr lang="en-US" sz="1300" dirty="0">
                          <a:solidFill>
                            <a:srgbClr val="CBD5E1"/>
                          </a:solidFill>
                        </a:rPr>
                        <a:t>Sub1: Data Ingestion</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buNone/>
                      </a:pPr>
                      <a:r>
                        <a:rPr lang="en-US" sz="1300" dirty="0">
                          <a:solidFill>
                            <a:srgbClr val="CBD5E1"/>
                          </a:solidFill>
                        </a:rPr>
                        <a:t>Pandas pipeline</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buNone/>
                      </a:pPr>
                      <a:r>
                        <a:rPr lang="en-US" sz="1300" dirty="0">
                          <a:solidFill>
                            <a:srgbClr val="CBD5E1"/>
                          </a:solidFill>
                        </a:rPr>
                        <a:t>Records retained</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buNone/>
                      </a:pPr>
                      <a:r>
                        <a:rPr lang="en-US" sz="1300" b="1" dirty="0">
                          <a:solidFill>
                            <a:srgbClr val="FFFFFF"/>
                          </a:solidFill>
                        </a:rPr>
                        <a:t>530,104 of 541,909  (removed 11,805)</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lgn="ctr">
                        <a:buNone/>
                      </a:pPr>
                      <a:r>
                        <a:rPr lang="en-US" sz="1300" b="1" dirty="0">
                          <a:solidFill>
                            <a:srgbClr val="10B981"/>
                          </a:solidFill>
                        </a:rPr>
                        <a:t>✓ Pass</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extLst>
                  <a:ext uri="{0D108BD9-81ED-4DB2-BD59-A6C34878D82A}">
                    <a16:rowId xmlns:a16="http://schemas.microsoft.com/office/drawing/2014/main" val="10001"/>
                  </a:ext>
                </a:extLst>
              </a:tr>
              <a:tr h="627017">
                <a:tc>
                  <a:txBody>
                    <a:bodyPr/>
                    <a:lstStyle/>
                    <a:p>
                      <a:pPr marL="0" indent="0">
                        <a:buNone/>
                      </a:pPr>
                      <a:r>
                        <a:rPr lang="en-US" sz="1300" dirty="0">
                          <a:solidFill>
                            <a:srgbClr val="CBD5E1"/>
                          </a:solidFill>
                        </a:rPr>
                        <a:t>Sub2: Demand Forecast</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buNone/>
                      </a:pPr>
                      <a:r>
                        <a:rPr lang="en-US" sz="1300" dirty="0">
                          <a:solidFill>
                            <a:srgbClr val="CBD5E1"/>
                          </a:solidFill>
                        </a:rPr>
                        <a:t>Random Forest (top 50 SKUs)</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buNone/>
                      </a:pPr>
                      <a:r>
                        <a:rPr lang="en-US" sz="1300" dirty="0">
                          <a:solidFill>
                            <a:srgbClr val="CBD5E1"/>
                          </a:solidFill>
                        </a:rPr>
                        <a:t>MAE / RMSE / R²</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buNone/>
                      </a:pPr>
                      <a:r>
                        <a:rPr lang="en-US" sz="1300" b="1" dirty="0">
                          <a:solidFill>
                            <a:srgbClr val="F59E0B"/>
                          </a:solidFill>
                        </a:rPr>
                        <a:t>Val: 46.14 / 98.94 / 0.274   Test: 53.36 / 129.51 / </a:t>
                      </a:r>
                      <a:r>
                        <a:rPr lang="en-US" sz="1300" b="1" u="sng" dirty="0">
                          <a:solidFill>
                            <a:srgbClr val="FF0000"/>
                          </a:solidFill>
                        </a:rPr>
                        <a:t>0.143</a:t>
                      </a:r>
                      <a:endParaRPr lang="en-US" sz="1300" u="sng" dirty="0">
                        <a:solidFill>
                          <a:srgbClr val="FF0000"/>
                        </a:solidFill>
                      </a:endParaRPr>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lgn="ctr">
                        <a:buNone/>
                      </a:pPr>
                      <a:r>
                        <a:rPr lang="en-US" sz="1300" b="1" dirty="0">
                          <a:solidFill>
                            <a:srgbClr val="F59E0B"/>
                          </a:solidFill>
                        </a:rPr>
                        <a:t>⚡ Acceptable</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extLst>
                  <a:ext uri="{0D108BD9-81ED-4DB2-BD59-A6C34878D82A}">
                    <a16:rowId xmlns:a16="http://schemas.microsoft.com/office/drawing/2014/main" val="10002"/>
                  </a:ext>
                </a:extLst>
              </a:tr>
              <a:tr h="627017">
                <a:tc>
                  <a:txBody>
                    <a:bodyPr/>
                    <a:lstStyle/>
                    <a:p>
                      <a:pPr marL="0" indent="0">
                        <a:buNone/>
                      </a:pPr>
                      <a:r>
                        <a:rPr lang="en-US" sz="1300" dirty="0">
                          <a:solidFill>
                            <a:srgbClr val="CBD5E1"/>
                          </a:solidFill>
                        </a:rPr>
                        <a:t>Sub3: Anomaly Detection</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buNone/>
                      </a:pPr>
                      <a:r>
                        <a:rPr lang="en-US" sz="1300" dirty="0">
                          <a:solidFill>
                            <a:srgbClr val="CBD5E1"/>
                          </a:solidFill>
                        </a:rPr>
                        <a:t>Isolation Forest vs IQR</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buNone/>
                      </a:pPr>
                      <a:r>
                        <a:rPr lang="en-US" sz="1300" dirty="0">
                          <a:solidFill>
                            <a:srgbClr val="CBD5E1"/>
                          </a:solidFill>
                        </a:rPr>
                        <a:t>Flags (IF vs IQR)</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buNone/>
                      </a:pPr>
                      <a:r>
                        <a:rPr lang="en-US" sz="1300" b="1" dirty="0">
                          <a:solidFill>
                            <a:srgbClr val="FFFFFF"/>
                          </a:solidFill>
                        </a:rPr>
                        <a:t>IF: 10,573 (2%)   IQR: 105,738 (20%)</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lgn="ctr">
                        <a:buNone/>
                      </a:pPr>
                      <a:r>
                        <a:rPr lang="en-US" sz="1300" b="1" dirty="0">
                          <a:solidFill>
                            <a:srgbClr val="10B981"/>
                          </a:solidFill>
                        </a:rPr>
                        <a:t>✓ Pass</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extLst>
                  <a:ext uri="{0D108BD9-81ED-4DB2-BD59-A6C34878D82A}">
                    <a16:rowId xmlns:a16="http://schemas.microsoft.com/office/drawing/2014/main" val="10003"/>
                  </a:ext>
                </a:extLst>
              </a:tr>
              <a:tr h="627017">
                <a:tc>
                  <a:txBody>
                    <a:bodyPr/>
                    <a:lstStyle/>
                    <a:p>
                      <a:pPr marL="0" indent="0">
                        <a:buNone/>
                      </a:pPr>
                      <a:r>
                        <a:rPr lang="en-US" sz="1300" dirty="0">
                          <a:solidFill>
                            <a:srgbClr val="CBD5E1"/>
                          </a:solidFill>
                        </a:rPr>
                        <a:t>Sub4: Segmentation</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buNone/>
                      </a:pPr>
                      <a:r>
                        <a:rPr lang="en-US" sz="1300" dirty="0">
                          <a:solidFill>
                            <a:srgbClr val="CBD5E1"/>
                          </a:solidFill>
                        </a:rPr>
                        <a:t>RFM + K-Means k=4</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buNone/>
                      </a:pPr>
                      <a:r>
                        <a:rPr lang="en-US" sz="1300" dirty="0">
                          <a:solidFill>
                            <a:srgbClr val="CBD5E1"/>
                          </a:solidFill>
                        </a:rPr>
                        <a:t>Segments / customers</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buNone/>
                      </a:pPr>
                      <a:r>
                        <a:rPr lang="en-US" sz="1300" b="1" dirty="0">
                          <a:solidFill>
                            <a:srgbClr val="FFFFFF"/>
                          </a:solidFill>
                        </a:rPr>
                        <a:t>Potential 2,507 · VIP 934 · Churn Risk 897</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lgn="ctr">
                        <a:buNone/>
                      </a:pPr>
                      <a:r>
                        <a:rPr lang="en-US" sz="1300" b="1" dirty="0">
                          <a:solidFill>
                            <a:srgbClr val="10B981"/>
                          </a:solidFill>
                        </a:rPr>
                        <a:t>✓ Pass</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extLst>
                  <a:ext uri="{0D108BD9-81ED-4DB2-BD59-A6C34878D82A}">
                    <a16:rowId xmlns:a16="http://schemas.microsoft.com/office/drawing/2014/main" val="10004"/>
                  </a:ext>
                </a:extLst>
              </a:tr>
              <a:tr h="627017">
                <a:tc>
                  <a:txBody>
                    <a:bodyPr/>
                    <a:lstStyle/>
                    <a:p>
                      <a:pPr marL="0" indent="0">
                        <a:buNone/>
                      </a:pPr>
                      <a:r>
                        <a:rPr lang="en-US" sz="1300" dirty="0">
                          <a:solidFill>
                            <a:srgbClr val="CBD5E1"/>
                          </a:solidFill>
                        </a:rPr>
                        <a:t>Sub5: Fuzzy Reorder</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buNone/>
                      </a:pPr>
                      <a:r>
                        <a:rPr lang="en-US" sz="1300" dirty="0">
                          <a:solidFill>
                            <a:srgbClr val="CBD5E1"/>
                          </a:solidFill>
                        </a:rPr>
                        <a:t>Fuzzy Logic + EOQ</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buNone/>
                      </a:pPr>
                      <a:r>
                        <a:rPr lang="en-US" sz="1300" dirty="0">
                          <a:solidFill>
                            <a:srgbClr val="CBD5E1"/>
                          </a:solidFill>
                        </a:rPr>
                        <a:t>Alert breakdown</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buNone/>
                      </a:pPr>
                      <a:r>
                        <a:rPr lang="en-US" sz="1300" b="1" dirty="0">
                          <a:solidFill>
                            <a:srgbClr val="FFFFFF"/>
                          </a:solidFill>
                        </a:rPr>
                        <a:t>CRITICAL 2,649 · WARNING 1,165 · MONITOR 71 · OK 37</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lgn="ctr">
                        <a:buNone/>
                      </a:pPr>
                      <a:r>
                        <a:rPr lang="en-US" sz="1300" b="1" dirty="0">
                          <a:solidFill>
                            <a:srgbClr val="10B981"/>
                          </a:solidFill>
                        </a:rPr>
                        <a:t>✓ Pass</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extLst>
                  <a:ext uri="{0D108BD9-81ED-4DB2-BD59-A6C34878D82A}">
                    <a16:rowId xmlns:a16="http://schemas.microsoft.com/office/drawing/2014/main" val="10005"/>
                  </a:ext>
                </a:extLst>
              </a:tr>
              <a:tr h="627017">
                <a:tc>
                  <a:txBody>
                    <a:bodyPr/>
                    <a:lstStyle/>
                    <a:p>
                      <a:pPr marL="0" indent="0">
                        <a:buNone/>
                      </a:pPr>
                      <a:r>
                        <a:rPr lang="en-US" sz="1300" dirty="0">
                          <a:solidFill>
                            <a:srgbClr val="CBD5E1"/>
                          </a:solidFill>
                        </a:rPr>
                        <a:t>Sub6: Dashboard</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buNone/>
                      </a:pPr>
                      <a:r>
                        <a:rPr lang="en-US" sz="1300" dirty="0">
                          <a:solidFill>
                            <a:srgbClr val="CBD5E1"/>
                          </a:solidFill>
                        </a:rPr>
                        <a:t>Streamlit + ngrok</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buNone/>
                      </a:pPr>
                      <a:r>
                        <a:rPr lang="en-US" sz="1300" dirty="0">
                          <a:solidFill>
                            <a:srgbClr val="CBD5E1"/>
                          </a:solidFill>
                        </a:rPr>
                        <a:t>Public URL live</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buNone/>
                      </a:pPr>
                      <a:r>
                        <a:rPr lang="en-US" sz="1300" b="1" dirty="0">
                          <a:solidFill>
                            <a:srgbClr val="FFFFFF"/>
                          </a:solidFill>
                        </a:rPr>
                        <a:t>Yes - 530,104 records loaded, all 6 pages functional</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tc>
                  <a:txBody>
                    <a:bodyPr/>
                    <a:lstStyle/>
                    <a:p>
                      <a:pPr marL="0" indent="0" algn="ctr">
                        <a:buNone/>
                      </a:pPr>
                      <a:r>
                        <a:rPr lang="en-US" sz="1300" b="1" dirty="0">
                          <a:solidFill>
                            <a:srgbClr val="10B981"/>
                          </a:solidFill>
                        </a:rPr>
                        <a:t>✓ Pass</a:t>
                      </a:r>
                      <a:endParaRPr lang="en-US" sz="1300" dirty="0"/>
                    </a:p>
                  </a:txBody>
                  <a:tcPr marL="121920" marR="121920" marT="60960" marB="6096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032"/>
                    </a:solidFill>
                  </a:tcPr>
                </a:tc>
                <a:extLst>
                  <a:ext uri="{0D108BD9-81ED-4DB2-BD59-A6C34878D82A}">
                    <a16:rowId xmlns:a16="http://schemas.microsoft.com/office/drawing/2014/main" val="10006"/>
                  </a:ext>
                </a:extLst>
              </a:tr>
            </a:tbl>
          </a:graphicData>
        </a:graphic>
      </p:graphicFrame>
      <p:sp>
        <p:nvSpPr>
          <p:cNvPr id="16" name="Shape 4">
            <a:extLst>
              <a:ext uri="{FF2B5EF4-FFF2-40B4-BE49-F238E27FC236}">
                <a16:creationId xmlns:a16="http://schemas.microsoft.com/office/drawing/2014/main" id="{96339C19-CECE-ACE0-FC39-DCC3AEC542D3}"/>
              </a:ext>
            </a:extLst>
          </p:cNvPr>
          <p:cNvSpPr/>
          <p:nvPr/>
        </p:nvSpPr>
        <p:spPr>
          <a:xfrm>
            <a:off x="381000" y="5859398"/>
            <a:ext cx="11582400" cy="998601"/>
          </a:xfrm>
          <a:prstGeom prst="rect">
            <a:avLst/>
          </a:prstGeom>
          <a:solidFill>
            <a:srgbClr val="162032"/>
          </a:solidFill>
          <a:ln w="12700">
            <a:solidFill>
              <a:srgbClr val="F59E0B"/>
            </a:solidFill>
            <a:prstDash val="solid"/>
          </a:ln>
          <a:effectLst>
            <a:outerShdw blurRad="101600" dist="25400" dir="8100000" algn="bl" rotWithShape="0">
              <a:srgbClr val="000000">
                <a:alpha val="18000"/>
              </a:srgbClr>
            </a:outerShdw>
          </a:effectLst>
        </p:spPr>
      </p:sp>
      <p:sp>
        <p:nvSpPr>
          <p:cNvPr id="17" name="Shape 5">
            <a:extLst>
              <a:ext uri="{FF2B5EF4-FFF2-40B4-BE49-F238E27FC236}">
                <a16:creationId xmlns:a16="http://schemas.microsoft.com/office/drawing/2014/main" id="{BD463098-0F7C-68DC-5B80-730FFFBFEFA2}"/>
              </a:ext>
            </a:extLst>
          </p:cNvPr>
          <p:cNvSpPr/>
          <p:nvPr/>
        </p:nvSpPr>
        <p:spPr>
          <a:xfrm>
            <a:off x="381000" y="5859399"/>
            <a:ext cx="11582400" cy="67056"/>
          </a:xfrm>
          <a:prstGeom prst="rect">
            <a:avLst/>
          </a:prstGeom>
          <a:solidFill>
            <a:srgbClr val="F59E0B"/>
          </a:solidFill>
          <a:ln w="12700">
            <a:solidFill>
              <a:srgbClr val="F59E0B"/>
            </a:solidFill>
            <a:prstDash val="solid"/>
          </a:ln>
        </p:spPr>
      </p:sp>
      <p:sp>
        <p:nvSpPr>
          <p:cNvPr id="18" name="Text 6">
            <a:extLst>
              <a:ext uri="{FF2B5EF4-FFF2-40B4-BE49-F238E27FC236}">
                <a16:creationId xmlns:a16="http://schemas.microsoft.com/office/drawing/2014/main" id="{55F82DEE-E3EE-7C73-75DD-E92FA4EF55B3}"/>
              </a:ext>
            </a:extLst>
          </p:cNvPr>
          <p:cNvSpPr/>
          <p:nvPr/>
        </p:nvSpPr>
        <p:spPr>
          <a:xfrm>
            <a:off x="600456" y="5981319"/>
            <a:ext cx="3901440" cy="316992"/>
          </a:xfrm>
          <a:prstGeom prst="rect">
            <a:avLst/>
          </a:prstGeom>
          <a:noFill/>
          <a:ln/>
        </p:spPr>
        <p:txBody>
          <a:bodyPr wrap="square" lIns="0" tIns="0" rIns="0" bIns="0" rtlCol="0" anchor="ctr"/>
          <a:lstStyle/>
          <a:p>
            <a:r>
              <a:rPr lang="en-US" sz="1267" b="1" dirty="0">
                <a:solidFill>
                  <a:srgbClr val="F59E0B"/>
                </a:solidFill>
              </a:rPr>
              <a:t>⚡  Why is Sub2 R² = </a:t>
            </a:r>
            <a:r>
              <a:rPr lang="en-US" sz="1267" b="1" dirty="0">
                <a:solidFill>
                  <a:srgbClr val="FF0000"/>
                </a:solidFill>
              </a:rPr>
              <a:t>0.143</a:t>
            </a:r>
            <a:r>
              <a:rPr lang="en-US" sz="1267" b="1" dirty="0">
                <a:solidFill>
                  <a:srgbClr val="F59E0B"/>
                </a:solidFill>
              </a:rPr>
              <a:t> is acceptable?</a:t>
            </a:r>
            <a:endParaRPr lang="en-US" sz="1267" dirty="0"/>
          </a:p>
        </p:txBody>
      </p:sp>
      <p:sp>
        <p:nvSpPr>
          <p:cNvPr id="19" name="Text 7">
            <a:extLst>
              <a:ext uri="{FF2B5EF4-FFF2-40B4-BE49-F238E27FC236}">
                <a16:creationId xmlns:a16="http://schemas.microsoft.com/office/drawing/2014/main" id="{FAF83A1E-F335-D386-97FE-AFDDC6A12C11}"/>
              </a:ext>
            </a:extLst>
          </p:cNvPr>
          <p:cNvSpPr/>
          <p:nvPr/>
        </p:nvSpPr>
        <p:spPr>
          <a:xfrm>
            <a:off x="4501896" y="5988942"/>
            <a:ext cx="7193280" cy="776103"/>
          </a:xfrm>
          <a:prstGeom prst="rect">
            <a:avLst/>
          </a:prstGeom>
          <a:noFill/>
          <a:ln/>
        </p:spPr>
        <p:txBody>
          <a:bodyPr wrap="square" lIns="0" tIns="0" rIns="0" bIns="0" rtlCol="0" anchor="ctr"/>
          <a:lstStyle/>
          <a:p>
            <a:r>
              <a:rPr lang="en-US" sz="1133" dirty="0">
                <a:solidFill>
                  <a:srgbClr val="CBD5E1"/>
                </a:solidFill>
              </a:rPr>
              <a:t>Per-SKU daily retail demand is inherently noisy and volatile - R² measures explained variance, not forecast usefulness. A low R² does not mean the model is wrong; it means demand is hard to predict perfectly. The system was trained on only the top 50 SKUs (11,660 records). MAE of 53.36 units is operationally useful and the system still generates actionable 14-day reorder triggers regardless of R² value.</a:t>
            </a:r>
            <a:endParaRPr lang="en-US" sz="1133" dirty="0"/>
          </a:p>
        </p:txBody>
      </p:sp>
    </p:spTree>
    <p:extLst>
      <p:ext uri="{BB962C8B-B14F-4D97-AF65-F5344CB8AC3E}">
        <p14:creationId xmlns:p14="http://schemas.microsoft.com/office/powerpoint/2010/main" val="6967620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16724-88FF-1FC6-A627-8E472F2DABDB}"/>
              </a:ext>
            </a:extLst>
          </p:cNvPr>
          <p:cNvSpPr>
            <a:spLocks noGrp="1"/>
          </p:cNvSpPr>
          <p:nvPr>
            <p:ph type="title"/>
          </p:nvPr>
        </p:nvSpPr>
        <p:spPr/>
        <p:txBody>
          <a:bodyPr/>
          <a:lstStyle/>
          <a:p>
            <a:r>
              <a:rPr lang="en-SG" dirty="0"/>
              <a:t>Discussion and Key Insights</a:t>
            </a:r>
          </a:p>
        </p:txBody>
      </p:sp>
      <p:sp>
        <p:nvSpPr>
          <p:cNvPr id="4" name="Slide Number Placeholder 3">
            <a:extLst>
              <a:ext uri="{FF2B5EF4-FFF2-40B4-BE49-F238E27FC236}">
                <a16:creationId xmlns:a16="http://schemas.microsoft.com/office/drawing/2014/main" id="{1F34F1DE-D50D-57B6-468B-AD38DD1E80AE}"/>
              </a:ext>
            </a:extLst>
          </p:cNvPr>
          <p:cNvSpPr>
            <a:spLocks noGrp="1"/>
          </p:cNvSpPr>
          <p:nvPr>
            <p:ph type="sldNum" sz="quarter" idx="12"/>
          </p:nvPr>
        </p:nvSpPr>
        <p:spPr/>
        <p:txBody>
          <a:bodyPr/>
          <a:lstStyle/>
          <a:p>
            <a:fld id="{5A37AB63-62EB-4EDF-B1C9-C7FAE06A9E45}" type="slidenum">
              <a:rPr lang="en-SG" smtClean="0"/>
              <a:t>15</a:t>
            </a:fld>
            <a:endParaRPr lang="en-SG"/>
          </a:p>
        </p:txBody>
      </p:sp>
      <p:sp>
        <p:nvSpPr>
          <p:cNvPr id="50" name="Shape 4">
            <a:extLst>
              <a:ext uri="{FF2B5EF4-FFF2-40B4-BE49-F238E27FC236}">
                <a16:creationId xmlns:a16="http://schemas.microsoft.com/office/drawing/2014/main" id="{5398A7C1-08A3-6DB5-7B05-D610CD1A49F8}"/>
              </a:ext>
            </a:extLst>
          </p:cNvPr>
          <p:cNvSpPr/>
          <p:nvPr/>
        </p:nvSpPr>
        <p:spPr>
          <a:xfrm>
            <a:off x="409575" y="1650618"/>
            <a:ext cx="3657600" cy="4419600"/>
          </a:xfrm>
          <a:prstGeom prst="rect">
            <a:avLst/>
          </a:prstGeom>
          <a:solidFill>
            <a:srgbClr val="162032"/>
          </a:solidFill>
          <a:ln w="12700">
            <a:solidFill>
              <a:srgbClr val="1E3A5F"/>
            </a:solidFill>
            <a:prstDash val="solid"/>
          </a:ln>
          <a:effectLst>
            <a:outerShdw blurRad="101600" dist="25400" dir="8100000" algn="bl" rotWithShape="0">
              <a:srgbClr val="000000">
                <a:alpha val="18000"/>
              </a:srgbClr>
            </a:outerShdw>
          </a:effectLst>
        </p:spPr>
      </p:sp>
      <p:sp>
        <p:nvSpPr>
          <p:cNvPr id="51" name="Shape 5">
            <a:extLst>
              <a:ext uri="{FF2B5EF4-FFF2-40B4-BE49-F238E27FC236}">
                <a16:creationId xmlns:a16="http://schemas.microsoft.com/office/drawing/2014/main" id="{86163817-80C3-F2C8-3001-127418C81E6A}"/>
              </a:ext>
            </a:extLst>
          </p:cNvPr>
          <p:cNvSpPr/>
          <p:nvPr/>
        </p:nvSpPr>
        <p:spPr>
          <a:xfrm>
            <a:off x="409575" y="1650618"/>
            <a:ext cx="3657600" cy="53424"/>
          </a:xfrm>
          <a:prstGeom prst="rect">
            <a:avLst/>
          </a:prstGeom>
          <a:solidFill>
            <a:srgbClr val="10B981"/>
          </a:solidFill>
          <a:ln w="12700">
            <a:solidFill>
              <a:srgbClr val="10B981"/>
            </a:solidFill>
            <a:prstDash val="solid"/>
          </a:ln>
        </p:spPr>
      </p:sp>
      <p:sp>
        <p:nvSpPr>
          <p:cNvPr id="52" name="Text 6">
            <a:extLst>
              <a:ext uri="{FF2B5EF4-FFF2-40B4-BE49-F238E27FC236}">
                <a16:creationId xmlns:a16="http://schemas.microsoft.com/office/drawing/2014/main" id="{CB521B35-8F69-829F-1EF7-7AE53C9E662D}"/>
              </a:ext>
            </a:extLst>
          </p:cNvPr>
          <p:cNvSpPr/>
          <p:nvPr/>
        </p:nvSpPr>
        <p:spPr>
          <a:xfrm>
            <a:off x="629031" y="1772538"/>
            <a:ext cx="3230880" cy="271975"/>
          </a:xfrm>
          <a:prstGeom prst="rect">
            <a:avLst/>
          </a:prstGeom>
          <a:noFill/>
          <a:ln/>
        </p:spPr>
        <p:txBody>
          <a:bodyPr wrap="square" lIns="0" tIns="0" rIns="0" bIns="0" rtlCol="0" anchor="ctr"/>
          <a:lstStyle/>
          <a:p>
            <a:r>
              <a:rPr lang="en-US" sz="1467" b="1" dirty="0">
                <a:solidFill>
                  <a:srgbClr val="10B981"/>
                </a:solidFill>
              </a:rPr>
              <a:t>✓  What Worked</a:t>
            </a:r>
            <a:endParaRPr lang="en-US" sz="1467" dirty="0"/>
          </a:p>
        </p:txBody>
      </p:sp>
      <p:sp>
        <p:nvSpPr>
          <p:cNvPr id="53" name="Shape 7">
            <a:extLst>
              <a:ext uri="{FF2B5EF4-FFF2-40B4-BE49-F238E27FC236}">
                <a16:creationId xmlns:a16="http://schemas.microsoft.com/office/drawing/2014/main" id="{E9834E25-B4D3-D398-4C6E-0D6858C64EB3}"/>
              </a:ext>
            </a:extLst>
          </p:cNvPr>
          <p:cNvSpPr/>
          <p:nvPr/>
        </p:nvSpPr>
        <p:spPr>
          <a:xfrm>
            <a:off x="470535" y="2296794"/>
            <a:ext cx="85344" cy="271975"/>
          </a:xfrm>
          <a:prstGeom prst="rect">
            <a:avLst/>
          </a:prstGeom>
          <a:solidFill>
            <a:srgbClr val="10B981"/>
          </a:solidFill>
          <a:ln w="12700">
            <a:solidFill>
              <a:srgbClr val="10B981"/>
            </a:solidFill>
            <a:prstDash val="solid"/>
          </a:ln>
        </p:spPr>
      </p:sp>
      <p:sp>
        <p:nvSpPr>
          <p:cNvPr id="54" name="Text 8">
            <a:extLst>
              <a:ext uri="{FF2B5EF4-FFF2-40B4-BE49-F238E27FC236}">
                <a16:creationId xmlns:a16="http://schemas.microsoft.com/office/drawing/2014/main" id="{C6FBDDDA-BD1C-C7BD-761A-43C6873729B4}"/>
              </a:ext>
            </a:extLst>
          </p:cNvPr>
          <p:cNvSpPr/>
          <p:nvPr/>
        </p:nvSpPr>
        <p:spPr>
          <a:xfrm>
            <a:off x="714375" y="2296794"/>
            <a:ext cx="3230880" cy="349683"/>
          </a:xfrm>
          <a:prstGeom prst="rect">
            <a:avLst/>
          </a:prstGeom>
          <a:noFill/>
          <a:ln/>
        </p:spPr>
        <p:txBody>
          <a:bodyPr wrap="square" lIns="0" tIns="0" rIns="0" bIns="0" rtlCol="0" anchor="ctr"/>
          <a:lstStyle/>
          <a:p>
            <a:r>
              <a:rPr lang="en-US" sz="1267" dirty="0">
                <a:solidFill>
                  <a:srgbClr val="CBD5E1"/>
                </a:solidFill>
              </a:rPr>
              <a:t>lag_1 = strongest predictor (28% importance)</a:t>
            </a:r>
            <a:endParaRPr lang="en-US" sz="1267" dirty="0"/>
          </a:p>
        </p:txBody>
      </p:sp>
      <p:sp>
        <p:nvSpPr>
          <p:cNvPr id="55" name="Shape 9">
            <a:extLst>
              <a:ext uri="{FF2B5EF4-FFF2-40B4-BE49-F238E27FC236}">
                <a16:creationId xmlns:a16="http://schemas.microsoft.com/office/drawing/2014/main" id="{0C022722-36B8-CC73-A347-CD54F1D12D3D}"/>
              </a:ext>
            </a:extLst>
          </p:cNvPr>
          <p:cNvSpPr/>
          <p:nvPr/>
        </p:nvSpPr>
        <p:spPr>
          <a:xfrm>
            <a:off x="470535" y="2882010"/>
            <a:ext cx="85344" cy="271975"/>
          </a:xfrm>
          <a:prstGeom prst="rect">
            <a:avLst/>
          </a:prstGeom>
          <a:solidFill>
            <a:srgbClr val="10B981"/>
          </a:solidFill>
          <a:ln w="12700">
            <a:solidFill>
              <a:srgbClr val="10B981"/>
            </a:solidFill>
            <a:prstDash val="solid"/>
          </a:ln>
        </p:spPr>
      </p:sp>
      <p:sp>
        <p:nvSpPr>
          <p:cNvPr id="56" name="Text 10">
            <a:extLst>
              <a:ext uri="{FF2B5EF4-FFF2-40B4-BE49-F238E27FC236}">
                <a16:creationId xmlns:a16="http://schemas.microsoft.com/office/drawing/2014/main" id="{FA0B8EAE-7998-3072-496F-A5F59EE15A7F}"/>
              </a:ext>
            </a:extLst>
          </p:cNvPr>
          <p:cNvSpPr/>
          <p:nvPr/>
        </p:nvSpPr>
        <p:spPr>
          <a:xfrm>
            <a:off x="714375" y="2882010"/>
            <a:ext cx="3230880" cy="349683"/>
          </a:xfrm>
          <a:prstGeom prst="rect">
            <a:avLst/>
          </a:prstGeom>
          <a:noFill/>
          <a:ln/>
        </p:spPr>
        <p:txBody>
          <a:bodyPr wrap="square" lIns="0" tIns="0" rIns="0" bIns="0" rtlCol="0" anchor="ctr"/>
          <a:lstStyle/>
          <a:p>
            <a:r>
              <a:rPr lang="en-US" sz="1267" dirty="0">
                <a:solidFill>
                  <a:srgbClr val="CBD5E1"/>
                </a:solidFill>
              </a:rPr>
              <a:t>IF flags 10x fewer false positives than IQR</a:t>
            </a:r>
            <a:endParaRPr lang="en-US" sz="1267" dirty="0"/>
          </a:p>
        </p:txBody>
      </p:sp>
      <p:sp>
        <p:nvSpPr>
          <p:cNvPr id="57" name="Shape 11">
            <a:extLst>
              <a:ext uri="{FF2B5EF4-FFF2-40B4-BE49-F238E27FC236}">
                <a16:creationId xmlns:a16="http://schemas.microsoft.com/office/drawing/2014/main" id="{55C56430-2090-FADB-71CB-6A5466CAB697}"/>
              </a:ext>
            </a:extLst>
          </p:cNvPr>
          <p:cNvSpPr/>
          <p:nvPr/>
        </p:nvSpPr>
        <p:spPr>
          <a:xfrm>
            <a:off x="470535" y="3467226"/>
            <a:ext cx="85344" cy="271975"/>
          </a:xfrm>
          <a:prstGeom prst="rect">
            <a:avLst/>
          </a:prstGeom>
          <a:solidFill>
            <a:srgbClr val="10B981"/>
          </a:solidFill>
          <a:ln w="12700">
            <a:solidFill>
              <a:srgbClr val="10B981"/>
            </a:solidFill>
            <a:prstDash val="solid"/>
          </a:ln>
        </p:spPr>
      </p:sp>
      <p:sp>
        <p:nvSpPr>
          <p:cNvPr id="58" name="Text 12">
            <a:extLst>
              <a:ext uri="{FF2B5EF4-FFF2-40B4-BE49-F238E27FC236}">
                <a16:creationId xmlns:a16="http://schemas.microsoft.com/office/drawing/2014/main" id="{62D163BB-AF57-6D89-D82E-B322B33137A7}"/>
              </a:ext>
            </a:extLst>
          </p:cNvPr>
          <p:cNvSpPr/>
          <p:nvPr/>
        </p:nvSpPr>
        <p:spPr>
          <a:xfrm>
            <a:off x="714375" y="3467226"/>
            <a:ext cx="3230880" cy="349683"/>
          </a:xfrm>
          <a:prstGeom prst="rect">
            <a:avLst/>
          </a:prstGeom>
          <a:noFill/>
          <a:ln/>
        </p:spPr>
        <p:txBody>
          <a:bodyPr wrap="square" lIns="0" tIns="0" rIns="0" bIns="0" rtlCol="0" anchor="ctr"/>
          <a:lstStyle/>
          <a:p>
            <a:r>
              <a:rPr lang="en-US" sz="1267" dirty="0">
                <a:solidFill>
                  <a:srgbClr val="CBD5E1"/>
                </a:solidFill>
              </a:rPr>
              <a:t>Fuzzy logic handles "low coverage" naturally — no hard cutoff</a:t>
            </a:r>
            <a:endParaRPr lang="en-US" sz="1267" dirty="0"/>
          </a:p>
        </p:txBody>
      </p:sp>
      <p:sp>
        <p:nvSpPr>
          <p:cNvPr id="59" name="Shape 13">
            <a:extLst>
              <a:ext uri="{FF2B5EF4-FFF2-40B4-BE49-F238E27FC236}">
                <a16:creationId xmlns:a16="http://schemas.microsoft.com/office/drawing/2014/main" id="{E36434F8-E9C2-87CB-C13C-A900EF0104B1}"/>
              </a:ext>
            </a:extLst>
          </p:cNvPr>
          <p:cNvSpPr/>
          <p:nvPr/>
        </p:nvSpPr>
        <p:spPr>
          <a:xfrm>
            <a:off x="470535" y="4052442"/>
            <a:ext cx="85344" cy="271975"/>
          </a:xfrm>
          <a:prstGeom prst="rect">
            <a:avLst/>
          </a:prstGeom>
          <a:solidFill>
            <a:srgbClr val="10B981"/>
          </a:solidFill>
          <a:ln w="12700">
            <a:solidFill>
              <a:srgbClr val="10B981"/>
            </a:solidFill>
            <a:prstDash val="solid"/>
          </a:ln>
        </p:spPr>
      </p:sp>
      <p:sp>
        <p:nvSpPr>
          <p:cNvPr id="60" name="Text 14">
            <a:extLst>
              <a:ext uri="{FF2B5EF4-FFF2-40B4-BE49-F238E27FC236}">
                <a16:creationId xmlns:a16="http://schemas.microsoft.com/office/drawing/2014/main" id="{8AAB5DDF-CCD6-B81F-7102-C1C53126371F}"/>
              </a:ext>
            </a:extLst>
          </p:cNvPr>
          <p:cNvSpPr/>
          <p:nvPr/>
        </p:nvSpPr>
        <p:spPr>
          <a:xfrm>
            <a:off x="714375" y="4052442"/>
            <a:ext cx="3230880" cy="349683"/>
          </a:xfrm>
          <a:prstGeom prst="rect">
            <a:avLst/>
          </a:prstGeom>
          <a:noFill/>
          <a:ln/>
        </p:spPr>
        <p:txBody>
          <a:bodyPr wrap="square" lIns="0" tIns="0" rIns="0" bIns="0" rtlCol="0" anchor="ctr"/>
          <a:lstStyle/>
          <a:p>
            <a:r>
              <a:rPr lang="en-US" sz="1267" dirty="0">
                <a:solidFill>
                  <a:srgbClr val="CBD5E1"/>
                </a:solidFill>
              </a:rPr>
              <a:t>Vectorised grid = ~40x faster inference</a:t>
            </a:r>
            <a:endParaRPr lang="en-US" sz="1267" dirty="0"/>
          </a:p>
        </p:txBody>
      </p:sp>
      <p:sp>
        <p:nvSpPr>
          <p:cNvPr id="61" name="Shape 15">
            <a:extLst>
              <a:ext uri="{FF2B5EF4-FFF2-40B4-BE49-F238E27FC236}">
                <a16:creationId xmlns:a16="http://schemas.microsoft.com/office/drawing/2014/main" id="{3618C1E0-C9A6-3FC4-D664-07E7DCEB0563}"/>
              </a:ext>
            </a:extLst>
          </p:cNvPr>
          <p:cNvSpPr/>
          <p:nvPr/>
        </p:nvSpPr>
        <p:spPr>
          <a:xfrm>
            <a:off x="470535" y="4637658"/>
            <a:ext cx="85344" cy="271975"/>
          </a:xfrm>
          <a:prstGeom prst="rect">
            <a:avLst/>
          </a:prstGeom>
          <a:solidFill>
            <a:srgbClr val="10B981"/>
          </a:solidFill>
          <a:ln w="12700">
            <a:solidFill>
              <a:srgbClr val="10B981"/>
            </a:solidFill>
            <a:prstDash val="solid"/>
          </a:ln>
        </p:spPr>
      </p:sp>
      <p:sp>
        <p:nvSpPr>
          <p:cNvPr id="62" name="Text 16">
            <a:extLst>
              <a:ext uri="{FF2B5EF4-FFF2-40B4-BE49-F238E27FC236}">
                <a16:creationId xmlns:a16="http://schemas.microsoft.com/office/drawing/2014/main" id="{1C644230-6D21-4888-4240-DBF73E6CBF31}"/>
              </a:ext>
            </a:extLst>
          </p:cNvPr>
          <p:cNvSpPr/>
          <p:nvPr/>
        </p:nvSpPr>
        <p:spPr>
          <a:xfrm>
            <a:off x="714375" y="4637658"/>
            <a:ext cx="3230880" cy="349683"/>
          </a:xfrm>
          <a:prstGeom prst="rect">
            <a:avLst/>
          </a:prstGeom>
          <a:noFill/>
          <a:ln/>
        </p:spPr>
        <p:txBody>
          <a:bodyPr wrap="square" lIns="0" tIns="0" rIns="0" bIns="0" rtlCol="0" anchor="ctr"/>
          <a:lstStyle/>
          <a:p>
            <a:r>
              <a:rPr lang="en-US" sz="1267" dirty="0">
                <a:solidFill>
                  <a:srgbClr val="CBD5E1"/>
                </a:solidFill>
              </a:rPr>
              <a:t>Chronological split prevents data leakage</a:t>
            </a:r>
            <a:endParaRPr lang="en-US" sz="1267" dirty="0"/>
          </a:p>
        </p:txBody>
      </p:sp>
      <p:sp>
        <p:nvSpPr>
          <p:cNvPr id="63" name="Shape 17">
            <a:extLst>
              <a:ext uri="{FF2B5EF4-FFF2-40B4-BE49-F238E27FC236}">
                <a16:creationId xmlns:a16="http://schemas.microsoft.com/office/drawing/2014/main" id="{09D62798-CD11-7FE2-C15B-6B7A18CAA568}"/>
              </a:ext>
            </a:extLst>
          </p:cNvPr>
          <p:cNvSpPr/>
          <p:nvPr/>
        </p:nvSpPr>
        <p:spPr>
          <a:xfrm>
            <a:off x="470535" y="5222874"/>
            <a:ext cx="85344" cy="271975"/>
          </a:xfrm>
          <a:prstGeom prst="rect">
            <a:avLst/>
          </a:prstGeom>
          <a:solidFill>
            <a:srgbClr val="10B981"/>
          </a:solidFill>
          <a:ln w="12700">
            <a:solidFill>
              <a:srgbClr val="10B981"/>
            </a:solidFill>
            <a:prstDash val="solid"/>
          </a:ln>
        </p:spPr>
      </p:sp>
      <p:sp>
        <p:nvSpPr>
          <p:cNvPr id="64" name="Text 18">
            <a:extLst>
              <a:ext uri="{FF2B5EF4-FFF2-40B4-BE49-F238E27FC236}">
                <a16:creationId xmlns:a16="http://schemas.microsoft.com/office/drawing/2014/main" id="{E7AFDD0F-866F-D0E1-5A85-ACB8CD657DE3}"/>
              </a:ext>
            </a:extLst>
          </p:cNvPr>
          <p:cNvSpPr/>
          <p:nvPr/>
        </p:nvSpPr>
        <p:spPr>
          <a:xfrm>
            <a:off x="714375" y="5222874"/>
            <a:ext cx="3230880" cy="349683"/>
          </a:xfrm>
          <a:prstGeom prst="rect">
            <a:avLst/>
          </a:prstGeom>
          <a:noFill/>
          <a:ln/>
        </p:spPr>
        <p:txBody>
          <a:bodyPr wrap="square" lIns="0" tIns="0" rIns="0" bIns="0" rtlCol="0" anchor="ctr"/>
          <a:lstStyle/>
          <a:p>
            <a:r>
              <a:rPr lang="en-US" sz="1267" dirty="0">
                <a:solidFill>
                  <a:srgbClr val="CBD5E1"/>
                </a:solidFill>
              </a:rPr>
              <a:t>ngrok delivers live demo at zero infra cost</a:t>
            </a:r>
            <a:endParaRPr lang="en-US" sz="1267" dirty="0"/>
          </a:p>
        </p:txBody>
      </p:sp>
      <p:sp>
        <p:nvSpPr>
          <p:cNvPr id="65" name="Shape 19">
            <a:extLst>
              <a:ext uri="{FF2B5EF4-FFF2-40B4-BE49-F238E27FC236}">
                <a16:creationId xmlns:a16="http://schemas.microsoft.com/office/drawing/2014/main" id="{FAC5F041-C0AE-0A46-E5CE-2FDBC3A7ECBE}"/>
              </a:ext>
            </a:extLst>
          </p:cNvPr>
          <p:cNvSpPr/>
          <p:nvPr/>
        </p:nvSpPr>
        <p:spPr>
          <a:xfrm>
            <a:off x="4371975" y="1650618"/>
            <a:ext cx="3657600" cy="4419600"/>
          </a:xfrm>
          <a:prstGeom prst="rect">
            <a:avLst/>
          </a:prstGeom>
          <a:solidFill>
            <a:srgbClr val="162032"/>
          </a:solidFill>
          <a:ln w="12700">
            <a:solidFill>
              <a:srgbClr val="1E3A5F"/>
            </a:solidFill>
            <a:prstDash val="solid"/>
          </a:ln>
          <a:effectLst>
            <a:outerShdw blurRad="101600" dist="25400" dir="8100000" algn="bl" rotWithShape="0">
              <a:srgbClr val="000000">
                <a:alpha val="18000"/>
              </a:srgbClr>
            </a:outerShdw>
          </a:effectLst>
        </p:spPr>
      </p:sp>
      <p:sp>
        <p:nvSpPr>
          <p:cNvPr id="66" name="Shape 20">
            <a:extLst>
              <a:ext uri="{FF2B5EF4-FFF2-40B4-BE49-F238E27FC236}">
                <a16:creationId xmlns:a16="http://schemas.microsoft.com/office/drawing/2014/main" id="{DBFE3B65-7845-C48C-C894-34D49ABD1D97}"/>
              </a:ext>
            </a:extLst>
          </p:cNvPr>
          <p:cNvSpPr/>
          <p:nvPr/>
        </p:nvSpPr>
        <p:spPr>
          <a:xfrm>
            <a:off x="4371975" y="1650618"/>
            <a:ext cx="3657600" cy="53424"/>
          </a:xfrm>
          <a:prstGeom prst="rect">
            <a:avLst/>
          </a:prstGeom>
          <a:solidFill>
            <a:srgbClr val="F59E0B"/>
          </a:solidFill>
          <a:ln w="12700">
            <a:solidFill>
              <a:srgbClr val="F59E0B"/>
            </a:solidFill>
            <a:prstDash val="solid"/>
          </a:ln>
        </p:spPr>
      </p:sp>
      <p:sp>
        <p:nvSpPr>
          <p:cNvPr id="67" name="Text 21">
            <a:extLst>
              <a:ext uri="{FF2B5EF4-FFF2-40B4-BE49-F238E27FC236}">
                <a16:creationId xmlns:a16="http://schemas.microsoft.com/office/drawing/2014/main" id="{171F365B-807F-718E-D173-90E9D93FD190}"/>
              </a:ext>
            </a:extLst>
          </p:cNvPr>
          <p:cNvSpPr/>
          <p:nvPr/>
        </p:nvSpPr>
        <p:spPr>
          <a:xfrm>
            <a:off x="4591431" y="1772538"/>
            <a:ext cx="3230880" cy="271975"/>
          </a:xfrm>
          <a:prstGeom prst="rect">
            <a:avLst/>
          </a:prstGeom>
          <a:noFill/>
          <a:ln/>
        </p:spPr>
        <p:txBody>
          <a:bodyPr wrap="square" lIns="0" tIns="0" rIns="0" bIns="0" rtlCol="0" anchor="ctr"/>
          <a:lstStyle/>
          <a:p>
            <a:r>
              <a:rPr lang="en-US" sz="1467" b="1" dirty="0">
                <a:solidFill>
                  <a:srgbClr val="F59E0B"/>
                </a:solidFill>
              </a:rPr>
              <a:t>⚠  Limitations</a:t>
            </a:r>
            <a:endParaRPr lang="en-US" sz="1467" dirty="0"/>
          </a:p>
        </p:txBody>
      </p:sp>
      <p:sp>
        <p:nvSpPr>
          <p:cNvPr id="68" name="Shape 22">
            <a:extLst>
              <a:ext uri="{FF2B5EF4-FFF2-40B4-BE49-F238E27FC236}">
                <a16:creationId xmlns:a16="http://schemas.microsoft.com/office/drawing/2014/main" id="{2E5A8359-86F4-F20B-70F9-2F505AADCBAA}"/>
              </a:ext>
            </a:extLst>
          </p:cNvPr>
          <p:cNvSpPr/>
          <p:nvPr/>
        </p:nvSpPr>
        <p:spPr>
          <a:xfrm>
            <a:off x="4432935" y="2296794"/>
            <a:ext cx="85344" cy="271975"/>
          </a:xfrm>
          <a:prstGeom prst="rect">
            <a:avLst/>
          </a:prstGeom>
          <a:solidFill>
            <a:srgbClr val="F59E0B"/>
          </a:solidFill>
          <a:ln w="12700">
            <a:solidFill>
              <a:srgbClr val="F59E0B"/>
            </a:solidFill>
            <a:prstDash val="solid"/>
          </a:ln>
        </p:spPr>
      </p:sp>
      <p:sp>
        <p:nvSpPr>
          <p:cNvPr id="69" name="Text 23">
            <a:extLst>
              <a:ext uri="{FF2B5EF4-FFF2-40B4-BE49-F238E27FC236}">
                <a16:creationId xmlns:a16="http://schemas.microsoft.com/office/drawing/2014/main" id="{9FBC604A-E121-33BB-50E4-E1D946812448}"/>
              </a:ext>
            </a:extLst>
          </p:cNvPr>
          <p:cNvSpPr/>
          <p:nvPr/>
        </p:nvSpPr>
        <p:spPr>
          <a:xfrm>
            <a:off x="4652391" y="2296794"/>
            <a:ext cx="3230880" cy="349683"/>
          </a:xfrm>
          <a:prstGeom prst="rect">
            <a:avLst/>
          </a:prstGeom>
          <a:noFill/>
          <a:ln/>
        </p:spPr>
        <p:txBody>
          <a:bodyPr wrap="square" lIns="0" tIns="0" rIns="0" bIns="0" rtlCol="0" anchor="ctr"/>
          <a:lstStyle/>
          <a:p>
            <a:r>
              <a:rPr lang="en-US" sz="1267" dirty="0">
                <a:solidFill>
                  <a:srgbClr val="CBD5E1"/>
                </a:solidFill>
              </a:rPr>
              <a:t>R² = 0.143 — high per-SKU demand volatility</a:t>
            </a:r>
            <a:endParaRPr lang="en-US" sz="1267" dirty="0"/>
          </a:p>
        </p:txBody>
      </p:sp>
      <p:sp>
        <p:nvSpPr>
          <p:cNvPr id="70" name="Shape 24">
            <a:extLst>
              <a:ext uri="{FF2B5EF4-FFF2-40B4-BE49-F238E27FC236}">
                <a16:creationId xmlns:a16="http://schemas.microsoft.com/office/drawing/2014/main" id="{88B26DC0-A02E-4E8B-61CD-F3749AA8EC03}"/>
              </a:ext>
            </a:extLst>
          </p:cNvPr>
          <p:cNvSpPr/>
          <p:nvPr/>
        </p:nvSpPr>
        <p:spPr>
          <a:xfrm>
            <a:off x="4432935" y="2882010"/>
            <a:ext cx="85344" cy="271975"/>
          </a:xfrm>
          <a:prstGeom prst="rect">
            <a:avLst/>
          </a:prstGeom>
          <a:solidFill>
            <a:srgbClr val="F59E0B"/>
          </a:solidFill>
          <a:ln w="12700">
            <a:solidFill>
              <a:srgbClr val="F59E0B"/>
            </a:solidFill>
            <a:prstDash val="solid"/>
          </a:ln>
        </p:spPr>
      </p:sp>
      <p:sp>
        <p:nvSpPr>
          <p:cNvPr id="71" name="Text 25">
            <a:extLst>
              <a:ext uri="{FF2B5EF4-FFF2-40B4-BE49-F238E27FC236}">
                <a16:creationId xmlns:a16="http://schemas.microsoft.com/office/drawing/2014/main" id="{14EA7298-70C1-8D34-9CBC-48804FD6B66A}"/>
              </a:ext>
            </a:extLst>
          </p:cNvPr>
          <p:cNvSpPr/>
          <p:nvPr/>
        </p:nvSpPr>
        <p:spPr>
          <a:xfrm>
            <a:off x="4652391" y="2882010"/>
            <a:ext cx="3230880" cy="349683"/>
          </a:xfrm>
          <a:prstGeom prst="rect">
            <a:avLst/>
          </a:prstGeom>
          <a:noFill/>
          <a:ln/>
        </p:spPr>
        <p:txBody>
          <a:bodyPr wrap="square" lIns="0" tIns="0" rIns="0" bIns="0" rtlCol="0" anchor="ctr"/>
          <a:lstStyle/>
          <a:p>
            <a:r>
              <a:rPr lang="en-US" sz="1267" dirty="0">
                <a:solidFill>
                  <a:srgbClr val="CBD5E1"/>
                </a:solidFill>
              </a:rPr>
              <a:t>Trained on top 50 SKUs only — not full inventory</a:t>
            </a:r>
            <a:endParaRPr lang="en-US" sz="1267" dirty="0"/>
          </a:p>
        </p:txBody>
      </p:sp>
      <p:sp>
        <p:nvSpPr>
          <p:cNvPr id="72" name="Shape 26">
            <a:extLst>
              <a:ext uri="{FF2B5EF4-FFF2-40B4-BE49-F238E27FC236}">
                <a16:creationId xmlns:a16="http://schemas.microsoft.com/office/drawing/2014/main" id="{48AF31F7-1914-3E52-8E61-616A0AE7DFEE}"/>
              </a:ext>
            </a:extLst>
          </p:cNvPr>
          <p:cNvSpPr/>
          <p:nvPr/>
        </p:nvSpPr>
        <p:spPr>
          <a:xfrm>
            <a:off x="4432935" y="3467226"/>
            <a:ext cx="85344" cy="271975"/>
          </a:xfrm>
          <a:prstGeom prst="rect">
            <a:avLst/>
          </a:prstGeom>
          <a:solidFill>
            <a:srgbClr val="F59E0B"/>
          </a:solidFill>
          <a:ln w="12700">
            <a:solidFill>
              <a:srgbClr val="F59E0B"/>
            </a:solidFill>
            <a:prstDash val="solid"/>
          </a:ln>
        </p:spPr>
      </p:sp>
      <p:sp>
        <p:nvSpPr>
          <p:cNvPr id="73" name="Text 27">
            <a:extLst>
              <a:ext uri="{FF2B5EF4-FFF2-40B4-BE49-F238E27FC236}">
                <a16:creationId xmlns:a16="http://schemas.microsoft.com/office/drawing/2014/main" id="{6792B774-6844-0417-CC55-2F891A34CC2C}"/>
              </a:ext>
            </a:extLst>
          </p:cNvPr>
          <p:cNvSpPr/>
          <p:nvPr/>
        </p:nvSpPr>
        <p:spPr>
          <a:xfrm>
            <a:off x="4652391" y="3467226"/>
            <a:ext cx="3230880" cy="349683"/>
          </a:xfrm>
          <a:prstGeom prst="rect">
            <a:avLst/>
          </a:prstGeom>
          <a:noFill/>
          <a:ln/>
        </p:spPr>
        <p:txBody>
          <a:bodyPr wrap="square" lIns="0" tIns="0" rIns="0" bIns="0" rtlCol="0" anchor="ctr"/>
          <a:lstStyle/>
          <a:p>
            <a:r>
              <a:rPr lang="en-US" sz="1267" dirty="0">
                <a:solidFill>
                  <a:srgbClr val="CBD5E1"/>
                </a:solidFill>
              </a:rPr>
              <a:t>2010–11 UK data — may not reflect current trends</a:t>
            </a:r>
            <a:endParaRPr lang="en-US" sz="1267" dirty="0"/>
          </a:p>
        </p:txBody>
      </p:sp>
      <p:sp>
        <p:nvSpPr>
          <p:cNvPr id="74" name="Shape 28">
            <a:extLst>
              <a:ext uri="{FF2B5EF4-FFF2-40B4-BE49-F238E27FC236}">
                <a16:creationId xmlns:a16="http://schemas.microsoft.com/office/drawing/2014/main" id="{27EAD10F-EC4A-B442-D7C4-6B089E62700D}"/>
              </a:ext>
            </a:extLst>
          </p:cNvPr>
          <p:cNvSpPr/>
          <p:nvPr/>
        </p:nvSpPr>
        <p:spPr>
          <a:xfrm>
            <a:off x="4432935" y="4052442"/>
            <a:ext cx="85344" cy="271975"/>
          </a:xfrm>
          <a:prstGeom prst="rect">
            <a:avLst/>
          </a:prstGeom>
          <a:solidFill>
            <a:srgbClr val="F59E0B"/>
          </a:solidFill>
          <a:ln w="12700">
            <a:solidFill>
              <a:srgbClr val="F59E0B"/>
            </a:solidFill>
            <a:prstDash val="solid"/>
          </a:ln>
        </p:spPr>
      </p:sp>
      <p:sp>
        <p:nvSpPr>
          <p:cNvPr id="75" name="Text 29">
            <a:extLst>
              <a:ext uri="{FF2B5EF4-FFF2-40B4-BE49-F238E27FC236}">
                <a16:creationId xmlns:a16="http://schemas.microsoft.com/office/drawing/2014/main" id="{009A003C-69EA-29C8-560A-F8BF50C8BA80}"/>
              </a:ext>
            </a:extLst>
          </p:cNvPr>
          <p:cNvSpPr/>
          <p:nvPr/>
        </p:nvSpPr>
        <p:spPr>
          <a:xfrm>
            <a:off x="4652391" y="4052442"/>
            <a:ext cx="3230880" cy="349683"/>
          </a:xfrm>
          <a:prstGeom prst="rect">
            <a:avLst/>
          </a:prstGeom>
          <a:noFill/>
          <a:ln/>
        </p:spPr>
        <p:txBody>
          <a:bodyPr wrap="square" lIns="0" tIns="0" rIns="0" bIns="0" rtlCol="0" anchor="ctr"/>
          <a:lstStyle/>
          <a:p>
            <a:r>
              <a:rPr lang="en-US" sz="1267" dirty="0">
                <a:solidFill>
                  <a:srgbClr val="CBD5E1"/>
                </a:solidFill>
              </a:rPr>
              <a:t>Cold-start: no forecast for brand-new SKUs</a:t>
            </a:r>
            <a:endParaRPr lang="en-US" sz="1267" dirty="0"/>
          </a:p>
        </p:txBody>
      </p:sp>
      <p:sp>
        <p:nvSpPr>
          <p:cNvPr id="76" name="Shape 30">
            <a:extLst>
              <a:ext uri="{FF2B5EF4-FFF2-40B4-BE49-F238E27FC236}">
                <a16:creationId xmlns:a16="http://schemas.microsoft.com/office/drawing/2014/main" id="{6B09ABFB-779E-DC87-0D3C-3EB68C7C28F6}"/>
              </a:ext>
            </a:extLst>
          </p:cNvPr>
          <p:cNvSpPr/>
          <p:nvPr/>
        </p:nvSpPr>
        <p:spPr>
          <a:xfrm>
            <a:off x="4432935" y="4637658"/>
            <a:ext cx="85344" cy="271975"/>
          </a:xfrm>
          <a:prstGeom prst="rect">
            <a:avLst/>
          </a:prstGeom>
          <a:solidFill>
            <a:srgbClr val="F59E0B"/>
          </a:solidFill>
          <a:ln w="12700">
            <a:solidFill>
              <a:srgbClr val="F59E0B"/>
            </a:solidFill>
            <a:prstDash val="solid"/>
          </a:ln>
        </p:spPr>
      </p:sp>
      <p:sp>
        <p:nvSpPr>
          <p:cNvPr id="77" name="Text 31">
            <a:extLst>
              <a:ext uri="{FF2B5EF4-FFF2-40B4-BE49-F238E27FC236}">
                <a16:creationId xmlns:a16="http://schemas.microsoft.com/office/drawing/2014/main" id="{30CEB15A-095B-C8DA-AD2F-F6903CAB2B87}"/>
              </a:ext>
            </a:extLst>
          </p:cNvPr>
          <p:cNvSpPr/>
          <p:nvPr/>
        </p:nvSpPr>
        <p:spPr>
          <a:xfrm>
            <a:off x="4652391" y="4637658"/>
            <a:ext cx="3230880" cy="349683"/>
          </a:xfrm>
          <a:prstGeom prst="rect">
            <a:avLst/>
          </a:prstGeom>
          <a:noFill/>
          <a:ln/>
        </p:spPr>
        <p:txBody>
          <a:bodyPr wrap="square" lIns="0" tIns="0" rIns="0" bIns="0" rtlCol="0" anchor="ctr"/>
          <a:lstStyle/>
          <a:p>
            <a:r>
              <a:rPr lang="en-US" sz="1267" dirty="0">
                <a:solidFill>
                  <a:srgbClr val="CBD5E1"/>
                </a:solidFill>
              </a:rPr>
              <a:t>k=4 overrides silhouette optimal k=2</a:t>
            </a:r>
            <a:endParaRPr lang="en-US" sz="1267" dirty="0"/>
          </a:p>
        </p:txBody>
      </p:sp>
      <p:sp>
        <p:nvSpPr>
          <p:cNvPr id="78" name="Shape 32">
            <a:extLst>
              <a:ext uri="{FF2B5EF4-FFF2-40B4-BE49-F238E27FC236}">
                <a16:creationId xmlns:a16="http://schemas.microsoft.com/office/drawing/2014/main" id="{91803A49-BE31-1775-C148-DE3D5FF28F7E}"/>
              </a:ext>
            </a:extLst>
          </p:cNvPr>
          <p:cNvSpPr/>
          <p:nvPr/>
        </p:nvSpPr>
        <p:spPr>
          <a:xfrm>
            <a:off x="4432935" y="5222874"/>
            <a:ext cx="85344" cy="271975"/>
          </a:xfrm>
          <a:prstGeom prst="rect">
            <a:avLst/>
          </a:prstGeom>
          <a:solidFill>
            <a:srgbClr val="F59E0B"/>
          </a:solidFill>
          <a:ln w="12700">
            <a:solidFill>
              <a:srgbClr val="F59E0B"/>
            </a:solidFill>
            <a:prstDash val="solid"/>
          </a:ln>
        </p:spPr>
      </p:sp>
      <p:sp>
        <p:nvSpPr>
          <p:cNvPr id="79" name="Text 33">
            <a:extLst>
              <a:ext uri="{FF2B5EF4-FFF2-40B4-BE49-F238E27FC236}">
                <a16:creationId xmlns:a16="http://schemas.microsoft.com/office/drawing/2014/main" id="{CD83C1CD-26EF-A6E8-70F5-FBF2A3EC6482}"/>
              </a:ext>
            </a:extLst>
          </p:cNvPr>
          <p:cNvSpPr/>
          <p:nvPr/>
        </p:nvSpPr>
        <p:spPr>
          <a:xfrm>
            <a:off x="4652391" y="5222874"/>
            <a:ext cx="3230880" cy="349683"/>
          </a:xfrm>
          <a:prstGeom prst="rect">
            <a:avLst/>
          </a:prstGeom>
          <a:noFill/>
          <a:ln/>
        </p:spPr>
        <p:txBody>
          <a:bodyPr wrap="square" lIns="0" tIns="0" rIns="0" bIns="0" rtlCol="0" anchor="ctr"/>
          <a:lstStyle/>
          <a:p>
            <a:r>
              <a:rPr lang="en-US" sz="1267" dirty="0">
                <a:solidFill>
                  <a:srgbClr val="CBD5E1"/>
                </a:solidFill>
              </a:rPr>
              <a:t>No real-time streaming — manual upload only</a:t>
            </a:r>
            <a:endParaRPr lang="en-US" sz="1267" dirty="0"/>
          </a:p>
        </p:txBody>
      </p:sp>
      <p:sp>
        <p:nvSpPr>
          <p:cNvPr id="80" name="Shape 34">
            <a:extLst>
              <a:ext uri="{FF2B5EF4-FFF2-40B4-BE49-F238E27FC236}">
                <a16:creationId xmlns:a16="http://schemas.microsoft.com/office/drawing/2014/main" id="{C1505E6A-070B-CEB3-FB05-EC9867062EF8}"/>
              </a:ext>
            </a:extLst>
          </p:cNvPr>
          <p:cNvSpPr/>
          <p:nvPr/>
        </p:nvSpPr>
        <p:spPr>
          <a:xfrm>
            <a:off x="8334375" y="1650618"/>
            <a:ext cx="3657600" cy="4419600"/>
          </a:xfrm>
          <a:prstGeom prst="rect">
            <a:avLst/>
          </a:prstGeom>
          <a:solidFill>
            <a:srgbClr val="162032"/>
          </a:solidFill>
          <a:ln w="12700">
            <a:solidFill>
              <a:srgbClr val="1E3A5F"/>
            </a:solidFill>
            <a:prstDash val="solid"/>
          </a:ln>
          <a:effectLst>
            <a:outerShdw blurRad="101600" dist="25400" dir="8100000" algn="bl" rotWithShape="0">
              <a:srgbClr val="000000">
                <a:alpha val="18000"/>
              </a:srgbClr>
            </a:outerShdw>
          </a:effectLst>
        </p:spPr>
      </p:sp>
      <p:sp>
        <p:nvSpPr>
          <p:cNvPr id="81" name="Shape 35">
            <a:extLst>
              <a:ext uri="{FF2B5EF4-FFF2-40B4-BE49-F238E27FC236}">
                <a16:creationId xmlns:a16="http://schemas.microsoft.com/office/drawing/2014/main" id="{EEBBAC02-0B2F-AD5B-E5D3-D42BDC99E5CA}"/>
              </a:ext>
            </a:extLst>
          </p:cNvPr>
          <p:cNvSpPr/>
          <p:nvPr/>
        </p:nvSpPr>
        <p:spPr>
          <a:xfrm>
            <a:off x="8334375" y="1650618"/>
            <a:ext cx="3657600" cy="53424"/>
          </a:xfrm>
          <a:prstGeom prst="rect">
            <a:avLst/>
          </a:prstGeom>
          <a:solidFill>
            <a:srgbClr val="00B4D8"/>
          </a:solidFill>
          <a:ln w="12700">
            <a:solidFill>
              <a:srgbClr val="00B4D8"/>
            </a:solidFill>
            <a:prstDash val="solid"/>
          </a:ln>
        </p:spPr>
      </p:sp>
      <p:sp>
        <p:nvSpPr>
          <p:cNvPr id="82" name="Text 36">
            <a:extLst>
              <a:ext uri="{FF2B5EF4-FFF2-40B4-BE49-F238E27FC236}">
                <a16:creationId xmlns:a16="http://schemas.microsoft.com/office/drawing/2014/main" id="{FE9A4614-1E11-E112-E4F5-63063012D320}"/>
              </a:ext>
            </a:extLst>
          </p:cNvPr>
          <p:cNvSpPr/>
          <p:nvPr/>
        </p:nvSpPr>
        <p:spPr>
          <a:xfrm>
            <a:off x="8553831" y="1772538"/>
            <a:ext cx="3230880" cy="271975"/>
          </a:xfrm>
          <a:prstGeom prst="rect">
            <a:avLst/>
          </a:prstGeom>
          <a:noFill/>
          <a:ln/>
        </p:spPr>
        <p:txBody>
          <a:bodyPr wrap="square" lIns="0" tIns="0" rIns="0" bIns="0" rtlCol="0" anchor="ctr"/>
          <a:lstStyle/>
          <a:p>
            <a:r>
              <a:rPr lang="en-US" sz="1467" b="1" dirty="0">
                <a:solidFill>
                  <a:srgbClr val="00B4D8"/>
                </a:solidFill>
              </a:rPr>
              <a:t>→  Future Work</a:t>
            </a:r>
            <a:endParaRPr lang="en-US" sz="1467" dirty="0"/>
          </a:p>
        </p:txBody>
      </p:sp>
      <p:sp>
        <p:nvSpPr>
          <p:cNvPr id="83" name="Shape 37">
            <a:extLst>
              <a:ext uri="{FF2B5EF4-FFF2-40B4-BE49-F238E27FC236}">
                <a16:creationId xmlns:a16="http://schemas.microsoft.com/office/drawing/2014/main" id="{57DAE58E-58E8-6B2D-243E-6DAC8BF35910}"/>
              </a:ext>
            </a:extLst>
          </p:cNvPr>
          <p:cNvSpPr/>
          <p:nvPr/>
        </p:nvSpPr>
        <p:spPr>
          <a:xfrm>
            <a:off x="8395335" y="2296794"/>
            <a:ext cx="85344" cy="271975"/>
          </a:xfrm>
          <a:prstGeom prst="rect">
            <a:avLst/>
          </a:prstGeom>
          <a:solidFill>
            <a:srgbClr val="00B4D8"/>
          </a:solidFill>
          <a:ln w="12700">
            <a:solidFill>
              <a:srgbClr val="00B4D8"/>
            </a:solidFill>
            <a:prstDash val="solid"/>
          </a:ln>
        </p:spPr>
      </p:sp>
      <p:sp>
        <p:nvSpPr>
          <p:cNvPr id="84" name="Text 38">
            <a:extLst>
              <a:ext uri="{FF2B5EF4-FFF2-40B4-BE49-F238E27FC236}">
                <a16:creationId xmlns:a16="http://schemas.microsoft.com/office/drawing/2014/main" id="{B3D89427-EAB4-0904-6C01-BD770CA12CE2}"/>
              </a:ext>
            </a:extLst>
          </p:cNvPr>
          <p:cNvSpPr/>
          <p:nvPr/>
        </p:nvSpPr>
        <p:spPr>
          <a:xfrm>
            <a:off x="8639175" y="2296794"/>
            <a:ext cx="3230880" cy="349683"/>
          </a:xfrm>
          <a:prstGeom prst="rect">
            <a:avLst/>
          </a:prstGeom>
          <a:noFill/>
          <a:ln/>
        </p:spPr>
        <p:txBody>
          <a:bodyPr wrap="square" lIns="0" tIns="0" rIns="0" bIns="0" rtlCol="0" anchor="ctr"/>
          <a:lstStyle/>
          <a:p>
            <a:r>
              <a:rPr lang="en-US" sz="1267" dirty="0">
                <a:solidFill>
                  <a:srgbClr val="CBD5E1"/>
                </a:solidFill>
              </a:rPr>
              <a:t>LSTM / Transformer for full SKU forecasting</a:t>
            </a:r>
            <a:endParaRPr lang="en-US" sz="1267" dirty="0"/>
          </a:p>
        </p:txBody>
      </p:sp>
      <p:sp>
        <p:nvSpPr>
          <p:cNvPr id="85" name="Shape 39">
            <a:extLst>
              <a:ext uri="{FF2B5EF4-FFF2-40B4-BE49-F238E27FC236}">
                <a16:creationId xmlns:a16="http://schemas.microsoft.com/office/drawing/2014/main" id="{3EFEC39C-5428-0453-08DC-600EA77362A0}"/>
              </a:ext>
            </a:extLst>
          </p:cNvPr>
          <p:cNvSpPr/>
          <p:nvPr/>
        </p:nvSpPr>
        <p:spPr>
          <a:xfrm>
            <a:off x="8395335" y="2882010"/>
            <a:ext cx="85344" cy="271975"/>
          </a:xfrm>
          <a:prstGeom prst="rect">
            <a:avLst/>
          </a:prstGeom>
          <a:solidFill>
            <a:srgbClr val="00B4D8"/>
          </a:solidFill>
          <a:ln w="12700">
            <a:solidFill>
              <a:srgbClr val="00B4D8"/>
            </a:solidFill>
            <a:prstDash val="solid"/>
          </a:ln>
        </p:spPr>
      </p:sp>
      <p:sp>
        <p:nvSpPr>
          <p:cNvPr id="86" name="Text 40">
            <a:extLst>
              <a:ext uri="{FF2B5EF4-FFF2-40B4-BE49-F238E27FC236}">
                <a16:creationId xmlns:a16="http://schemas.microsoft.com/office/drawing/2014/main" id="{5DFB54D0-DCF5-CF9F-C721-376153043A8E}"/>
              </a:ext>
            </a:extLst>
          </p:cNvPr>
          <p:cNvSpPr/>
          <p:nvPr/>
        </p:nvSpPr>
        <p:spPr>
          <a:xfrm>
            <a:off x="8639175" y="2882010"/>
            <a:ext cx="3230880" cy="349683"/>
          </a:xfrm>
          <a:prstGeom prst="rect">
            <a:avLst/>
          </a:prstGeom>
          <a:noFill/>
          <a:ln/>
        </p:spPr>
        <p:txBody>
          <a:bodyPr wrap="square" lIns="0" tIns="0" rIns="0" bIns="0" rtlCol="0" anchor="ctr"/>
          <a:lstStyle/>
          <a:p>
            <a:r>
              <a:rPr lang="en-US" sz="1267" dirty="0">
                <a:solidFill>
                  <a:srgbClr val="CBD5E1"/>
                </a:solidFill>
              </a:rPr>
              <a:t>Real-time Kafka ingestion pipeline</a:t>
            </a:r>
            <a:endParaRPr lang="en-US" sz="1267" dirty="0"/>
          </a:p>
        </p:txBody>
      </p:sp>
      <p:sp>
        <p:nvSpPr>
          <p:cNvPr id="87" name="Shape 41">
            <a:extLst>
              <a:ext uri="{FF2B5EF4-FFF2-40B4-BE49-F238E27FC236}">
                <a16:creationId xmlns:a16="http://schemas.microsoft.com/office/drawing/2014/main" id="{3D71DD70-7810-D457-21FA-5D693AD6ACCE}"/>
              </a:ext>
            </a:extLst>
          </p:cNvPr>
          <p:cNvSpPr/>
          <p:nvPr/>
        </p:nvSpPr>
        <p:spPr>
          <a:xfrm>
            <a:off x="8395335" y="3467226"/>
            <a:ext cx="85344" cy="271975"/>
          </a:xfrm>
          <a:prstGeom prst="rect">
            <a:avLst/>
          </a:prstGeom>
          <a:solidFill>
            <a:srgbClr val="00B4D8"/>
          </a:solidFill>
          <a:ln w="12700">
            <a:solidFill>
              <a:srgbClr val="00B4D8"/>
            </a:solidFill>
            <a:prstDash val="solid"/>
          </a:ln>
        </p:spPr>
      </p:sp>
      <p:sp>
        <p:nvSpPr>
          <p:cNvPr id="88" name="Text 42">
            <a:extLst>
              <a:ext uri="{FF2B5EF4-FFF2-40B4-BE49-F238E27FC236}">
                <a16:creationId xmlns:a16="http://schemas.microsoft.com/office/drawing/2014/main" id="{BD7B7434-1B56-B2A1-FF69-04D56A43CE3F}"/>
              </a:ext>
            </a:extLst>
          </p:cNvPr>
          <p:cNvSpPr/>
          <p:nvPr/>
        </p:nvSpPr>
        <p:spPr>
          <a:xfrm>
            <a:off x="8639175" y="3467226"/>
            <a:ext cx="3230880" cy="349683"/>
          </a:xfrm>
          <a:prstGeom prst="rect">
            <a:avLst/>
          </a:prstGeom>
          <a:noFill/>
          <a:ln/>
        </p:spPr>
        <p:txBody>
          <a:bodyPr wrap="square" lIns="0" tIns="0" rIns="0" bIns="0" rtlCol="0" anchor="ctr"/>
          <a:lstStyle/>
          <a:p>
            <a:r>
              <a:rPr lang="en-US" sz="1267" dirty="0">
                <a:solidFill>
                  <a:srgbClr val="CBD5E1"/>
                </a:solidFill>
              </a:rPr>
              <a:t>MLflow for model versioning &amp; retraining</a:t>
            </a:r>
            <a:endParaRPr lang="en-US" sz="1267" dirty="0"/>
          </a:p>
        </p:txBody>
      </p:sp>
      <p:sp>
        <p:nvSpPr>
          <p:cNvPr id="89" name="Shape 43">
            <a:extLst>
              <a:ext uri="{FF2B5EF4-FFF2-40B4-BE49-F238E27FC236}">
                <a16:creationId xmlns:a16="http://schemas.microsoft.com/office/drawing/2014/main" id="{5C1A5FD9-DF0C-A564-DFA8-455214CB938F}"/>
              </a:ext>
            </a:extLst>
          </p:cNvPr>
          <p:cNvSpPr/>
          <p:nvPr/>
        </p:nvSpPr>
        <p:spPr>
          <a:xfrm>
            <a:off x="8395335" y="4052442"/>
            <a:ext cx="85344" cy="271975"/>
          </a:xfrm>
          <a:prstGeom prst="rect">
            <a:avLst/>
          </a:prstGeom>
          <a:solidFill>
            <a:srgbClr val="00B4D8"/>
          </a:solidFill>
          <a:ln w="12700">
            <a:solidFill>
              <a:srgbClr val="00B4D8"/>
            </a:solidFill>
            <a:prstDash val="solid"/>
          </a:ln>
        </p:spPr>
      </p:sp>
      <p:sp>
        <p:nvSpPr>
          <p:cNvPr id="90" name="Text 44">
            <a:extLst>
              <a:ext uri="{FF2B5EF4-FFF2-40B4-BE49-F238E27FC236}">
                <a16:creationId xmlns:a16="http://schemas.microsoft.com/office/drawing/2014/main" id="{D464A4AD-1434-24B1-C033-2F312B215232}"/>
              </a:ext>
            </a:extLst>
          </p:cNvPr>
          <p:cNvSpPr/>
          <p:nvPr/>
        </p:nvSpPr>
        <p:spPr>
          <a:xfrm>
            <a:off x="8639175" y="4052442"/>
            <a:ext cx="3230880" cy="349683"/>
          </a:xfrm>
          <a:prstGeom prst="rect">
            <a:avLst/>
          </a:prstGeom>
          <a:noFill/>
          <a:ln/>
        </p:spPr>
        <p:txBody>
          <a:bodyPr wrap="square" lIns="0" tIns="0" rIns="0" bIns="0" rtlCol="0" anchor="ctr"/>
          <a:lstStyle/>
          <a:p>
            <a:r>
              <a:rPr lang="en-US" sz="1267" dirty="0">
                <a:solidFill>
                  <a:srgbClr val="CBD5E1"/>
                </a:solidFill>
              </a:rPr>
              <a:t>SHAP values for RF interpretability</a:t>
            </a:r>
            <a:endParaRPr lang="en-US" sz="1267" dirty="0"/>
          </a:p>
        </p:txBody>
      </p:sp>
      <p:sp>
        <p:nvSpPr>
          <p:cNvPr id="91" name="Shape 45">
            <a:extLst>
              <a:ext uri="{FF2B5EF4-FFF2-40B4-BE49-F238E27FC236}">
                <a16:creationId xmlns:a16="http://schemas.microsoft.com/office/drawing/2014/main" id="{DD4B4DDA-1E9B-AE8E-05C3-71CD883E55CF}"/>
              </a:ext>
            </a:extLst>
          </p:cNvPr>
          <p:cNvSpPr/>
          <p:nvPr/>
        </p:nvSpPr>
        <p:spPr>
          <a:xfrm>
            <a:off x="8395335" y="4637658"/>
            <a:ext cx="85344" cy="271975"/>
          </a:xfrm>
          <a:prstGeom prst="rect">
            <a:avLst/>
          </a:prstGeom>
          <a:solidFill>
            <a:srgbClr val="00B4D8"/>
          </a:solidFill>
          <a:ln w="12700">
            <a:solidFill>
              <a:srgbClr val="00B4D8"/>
            </a:solidFill>
            <a:prstDash val="solid"/>
          </a:ln>
        </p:spPr>
      </p:sp>
      <p:sp>
        <p:nvSpPr>
          <p:cNvPr id="92" name="Text 46">
            <a:extLst>
              <a:ext uri="{FF2B5EF4-FFF2-40B4-BE49-F238E27FC236}">
                <a16:creationId xmlns:a16="http://schemas.microsoft.com/office/drawing/2014/main" id="{C026D8F1-39C3-4B67-A5FC-26E7E32FBFE5}"/>
              </a:ext>
            </a:extLst>
          </p:cNvPr>
          <p:cNvSpPr/>
          <p:nvPr/>
        </p:nvSpPr>
        <p:spPr>
          <a:xfrm>
            <a:off x="8639175" y="4637658"/>
            <a:ext cx="3230880" cy="349683"/>
          </a:xfrm>
          <a:prstGeom prst="rect">
            <a:avLst/>
          </a:prstGeom>
          <a:noFill/>
          <a:ln/>
        </p:spPr>
        <p:txBody>
          <a:bodyPr wrap="square" lIns="0" tIns="0" rIns="0" bIns="0" rtlCol="0" anchor="ctr"/>
          <a:lstStyle/>
          <a:p>
            <a:r>
              <a:rPr lang="en-US" sz="1267" dirty="0">
                <a:solidFill>
                  <a:srgbClr val="CBD5E1"/>
                </a:solidFill>
              </a:rPr>
              <a:t>Add holidays &amp; promotions as features</a:t>
            </a:r>
            <a:endParaRPr lang="en-US" sz="1267" dirty="0"/>
          </a:p>
        </p:txBody>
      </p:sp>
      <p:sp>
        <p:nvSpPr>
          <p:cNvPr id="93" name="Shape 47">
            <a:extLst>
              <a:ext uri="{FF2B5EF4-FFF2-40B4-BE49-F238E27FC236}">
                <a16:creationId xmlns:a16="http://schemas.microsoft.com/office/drawing/2014/main" id="{C473D507-2768-FB8C-FD34-30B4E4F4DD96}"/>
              </a:ext>
            </a:extLst>
          </p:cNvPr>
          <p:cNvSpPr/>
          <p:nvPr/>
        </p:nvSpPr>
        <p:spPr>
          <a:xfrm>
            <a:off x="8395335" y="5222874"/>
            <a:ext cx="85344" cy="271975"/>
          </a:xfrm>
          <a:prstGeom prst="rect">
            <a:avLst/>
          </a:prstGeom>
          <a:solidFill>
            <a:srgbClr val="00B4D8"/>
          </a:solidFill>
          <a:ln w="12700">
            <a:solidFill>
              <a:srgbClr val="00B4D8"/>
            </a:solidFill>
            <a:prstDash val="solid"/>
          </a:ln>
        </p:spPr>
      </p:sp>
      <p:sp>
        <p:nvSpPr>
          <p:cNvPr id="94" name="Text 48">
            <a:extLst>
              <a:ext uri="{FF2B5EF4-FFF2-40B4-BE49-F238E27FC236}">
                <a16:creationId xmlns:a16="http://schemas.microsoft.com/office/drawing/2014/main" id="{8BE71E67-3333-305A-E112-CB83A3522A1D}"/>
              </a:ext>
            </a:extLst>
          </p:cNvPr>
          <p:cNvSpPr/>
          <p:nvPr/>
        </p:nvSpPr>
        <p:spPr>
          <a:xfrm>
            <a:off x="8639175" y="5222874"/>
            <a:ext cx="3230880" cy="349683"/>
          </a:xfrm>
          <a:prstGeom prst="rect">
            <a:avLst/>
          </a:prstGeom>
          <a:noFill/>
          <a:ln/>
        </p:spPr>
        <p:txBody>
          <a:bodyPr wrap="square" lIns="0" tIns="0" rIns="0" bIns="0" rtlCol="0" anchor="ctr"/>
          <a:lstStyle/>
          <a:p>
            <a:r>
              <a:rPr lang="en-US" sz="1267" dirty="0">
                <a:solidFill>
                  <a:srgbClr val="CBD5E1"/>
                </a:solidFill>
              </a:rPr>
              <a:t>Cloud deploy on AWS / Azure</a:t>
            </a:r>
            <a:endParaRPr lang="en-US" sz="1267" dirty="0"/>
          </a:p>
        </p:txBody>
      </p:sp>
    </p:spTree>
    <p:extLst>
      <p:ext uri="{BB962C8B-B14F-4D97-AF65-F5344CB8AC3E}">
        <p14:creationId xmlns:p14="http://schemas.microsoft.com/office/powerpoint/2010/main" val="2914911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1EE46-7419-827E-5D5F-70E8B391D0EC}"/>
              </a:ext>
            </a:extLst>
          </p:cNvPr>
          <p:cNvSpPr>
            <a:spLocks noGrp="1"/>
          </p:cNvSpPr>
          <p:nvPr>
            <p:ph type="title"/>
          </p:nvPr>
        </p:nvSpPr>
        <p:spPr/>
        <p:txBody>
          <a:bodyPr>
            <a:normAutofit/>
          </a:bodyPr>
          <a:lstStyle/>
          <a:p>
            <a:r>
              <a:rPr lang="en-SG" dirty="0"/>
              <a:t>Project Management Tools</a:t>
            </a:r>
          </a:p>
        </p:txBody>
      </p:sp>
      <p:sp>
        <p:nvSpPr>
          <p:cNvPr id="4" name="Slide Number Placeholder 3">
            <a:extLst>
              <a:ext uri="{FF2B5EF4-FFF2-40B4-BE49-F238E27FC236}">
                <a16:creationId xmlns:a16="http://schemas.microsoft.com/office/drawing/2014/main" id="{9950CDD4-E504-2C3F-3C75-B669DC8A5306}"/>
              </a:ext>
            </a:extLst>
          </p:cNvPr>
          <p:cNvSpPr>
            <a:spLocks noGrp="1"/>
          </p:cNvSpPr>
          <p:nvPr>
            <p:ph type="sldNum" sz="quarter" idx="12"/>
          </p:nvPr>
        </p:nvSpPr>
        <p:spPr/>
        <p:txBody>
          <a:bodyPr/>
          <a:lstStyle/>
          <a:p>
            <a:fld id="{5A37AB63-62EB-4EDF-B1C9-C7FAE06A9E45}" type="slidenum">
              <a:rPr lang="en-SG" smtClean="0"/>
              <a:t>16</a:t>
            </a:fld>
            <a:endParaRPr lang="en-SG"/>
          </a:p>
        </p:txBody>
      </p:sp>
      <p:sp>
        <p:nvSpPr>
          <p:cNvPr id="5" name="Shape 4">
            <a:extLst>
              <a:ext uri="{FF2B5EF4-FFF2-40B4-BE49-F238E27FC236}">
                <a16:creationId xmlns:a16="http://schemas.microsoft.com/office/drawing/2014/main" id="{624DEF6E-C935-0281-7A2C-0C6C0A8C9CEC}"/>
              </a:ext>
            </a:extLst>
          </p:cNvPr>
          <p:cNvSpPr/>
          <p:nvPr/>
        </p:nvSpPr>
        <p:spPr>
          <a:xfrm>
            <a:off x="687388" y="1346835"/>
            <a:ext cx="3535680" cy="2560320"/>
          </a:xfrm>
          <a:prstGeom prst="rect">
            <a:avLst/>
          </a:prstGeom>
          <a:solidFill>
            <a:srgbClr val="162032"/>
          </a:solidFill>
          <a:ln w="12700">
            <a:solidFill>
              <a:srgbClr val="1E3A5F"/>
            </a:solidFill>
            <a:prstDash val="solid"/>
          </a:ln>
          <a:effectLst>
            <a:outerShdw blurRad="101600" dist="25400" dir="8100000" algn="bl" rotWithShape="0">
              <a:srgbClr val="000000">
                <a:alpha val="18000"/>
              </a:srgbClr>
            </a:outerShdw>
          </a:effectLst>
        </p:spPr>
      </p:sp>
      <p:sp>
        <p:nvSpPr>
          <p:cNvPr id="6" name="Shape 5">
            <a:extLst>
              <a:ext uri="{FF2B5EF4-FFF2-40B4-BE49-F238E27FC236}">
                <a16:creationId xmlns:a16="http://schemas.microsoft.com/office/drawing/2014/main" id="{47CAC21D-79E8-A905-DA7F-D030CDAB2EB0}"/>
              </a:ext>
            </a:extLst>
          </p:cNvPr>
          <p:cNvSpPr/>
          <p:nvPr/>
        </p:nvSpPr>
        <p:spPr>
          <a:xfrm>
            <a:off x="687388" y="1346835"/>
            <a:ext cx="3535680" cy="67056"/>
          </a:xfrm>
          <a:prstGeom prst="rect">
            <a:avLst/>
          </a:prstGeom>
          <a:solidFill>
            <a:srgbClr val="00B4D8"/>
          </a:solidFill>
          <a:ln w="12700">
            <a:solidFill>
              <a:srgbClr val="00B4D8"/>
            </a:solidFill>
            <a:prstDash val="solid"/>
          </a:ln>
        </p:spPr>
      </p:sp>
      <p:sp>
        <p:nvSpPr>
          <p:cNvPr id="7" name="Text 6">
            <a:extLst>
              <a:ext uri="{FF2B5EF4-FFF2-40B4-BE49-F238E27FC236}">
                <a16:creationId xmlns:a16="http://schemas.microsoft.com/office/drawing/2014/main" id="{A146382A-AD91-2051-3292-2D45FEE98DEA}"/>
              </a:ext>
            </a:extLst>
          </p:cNvPr>
          <p:cNvSpPr/>
          <p:nvPr/>
        </p:nvSpPr>
        <p:spPr>
          <a:xfrm>
            <a:off x="906844" y="1468755"/>
            <a:ext cx="3230880" cy="365760"/>
          </a:xfrm>
          <a:prstGeom prst="rect">
            <a:avLst/>
          </a:prstGeom>
          <a:noFill/>
          <a:ln/>
        </p:spPr>
        <p:txBody>
          <a:bodyPr wrap="square" lIns="0" tIns="0" rIns="0" bIns="0" rtlCol="0" anchor="ctr"/>
          <a:lstStyle/>
          <a:p>
            <a:r>
              <a:rPr lang="en-US" sz="1467" b="1" dirty="0">
                <a:solidFill>
                  <a:srgbClr val="FFFFFF"/>
                </a:solidFill>
              </a:rPr>
              <a:t>🔗  GitHub</a:t>
            </a:r>
            <a:endParaRPr lang="en-US" sz="1467" dirty="0"/>
          </a:p>
        </p:txBody>
      </p:sp>
      <p:sp>
        <p:nvSpPr>
          <p:cNvPr id="8" name="Shape 7">
            <a:extLst>
              <a:ext uri="{FF2B5EF4-FFF2-40B4-BE49-F238E27FC236}">
                <a16:creationId xmlns:a16="http://schemas.microsoft.com/office/drawing/2014/main" id="{CCED4867-6D03-1069-6B42-1B876E9718B6}"/>
              </a:ext>
            </a:extLst>
          </p:cNvPr>
          <p:cNvSpPr/>
          <p:nvPr/>
        </p:nvSpPr>
        <p:spPr>
          <a:xfrm>
            <a:off x="906844" y="1883283"/>
            <a:ext cx="3096768" cy="268224"/>
          </a:xfrm>
          <a:prstGeom prst="rect">
            <a:avLst/>
          </a:prstGeom>
          <a:solidFill>
            <a:srgbClr val="00B4D8">
              <a:alpha val="40000"/>
            </a:srgbClr>
          </a:solidFill>
          <a:ln w="12700">
            <a:solidFill>
              <a:srgbClr val="00B4D8"/>
            </a:solidFill>
            <a:prstDash val="solid"/>
          </a:ln>
        </p:spPr>
      </p:sp>
      <p:sp>
        <p:nvSpPr>
          <p:cNvPr id="9" name="Text 8">
            <a:extLst>
              <a:ext uri="{FF2B5EF4-FFF2-40B4-BE49-F238E27FC236}">
                <a16:creationId xmlns:a16="http://schemas.microsoft.com/office/drawing/2014/main" id="{30CA8C97-A702-A84F-FB2D-07409C285CCC}"/>
              </a:ext>
            </a:extLst>
          </p:cNvPr>
          <p:cNvSpPr/>
          <p:nvPr/>
        </p:nvSpPr>
        <p:spPr>
          <a:xfrm>
            <a:off x="906844" y="1883283"/>
            <a:ext cx="3096768" cy="268224"/>
          </a:xfrm>
          <a:prstGeom prst="rect">
            <a:avLst/>
          </a:prstGeom>
          <a:noFill/>
          <a:ln/>
        </p:spPr>
        <p:txBody>
          <a:bodyPr wrap="square" lIns="0" tIns="0" rIns="0" bIns="0" rtlCol="0" anchor="ctr"/>
          <a:lstStyle/>
          <a:p>
            <a:pPr algn="ctr"/>
            <a:r>
              <a:rPr lang="en-US" sz="1000" b="1" dirty="0">
                <a:solidFill>
                  <a:srgbClr val="FFFFFF"/>
                </a:solidFill>
              </a:rPr>
              <a:t>Version Control</a:t>
            </a:r>
            <a:endParaRPr lang="en-US" sz="1000" dirty="0"/>
          </a:p>
        </p:txBody>
      </p:sp>
      <p:sp>
        <p:nvSpPr>
          <p:cNvPr id="10" name="Text 9">
            <a:extLst>
              <a:ext uri="{FF2B5EF4-FFF2-40B4-BE49-F238E27FC236}">
                <a16:creationId xmlns:a16="http://schemas.microsoft.com/office/drawing/2014/main" id="{B83600A5-AA0B-472A-CD87-B4E9B54A8FBC}"/>
              </a:ext>
            </a:extLst>
          </p:cNvPr>
          <p:cNvSpPr/>
          <p:nvPr/>
        </p:nvSpPr>
        <p:spPr>
          <a:xfrm>
            <a:off x="906844" y="2224659"/>
            <a:ext cx="3230880" cy="1560576"/>
          </a:xfrm>
          <a:prstGeom prst="rect">
            <a:avLst/>
          </a:prstGeom>
          <a:noFill/>
          <a:ln/>
        </p:spPr>
        <p:txBody>
          <a:bodyPr wrap="square" lIns="0" tIns="0" rIns="0" bIns="0" rtlCol="0" anchor="ctr"/>
          <a:lstStyle/>
          <a:p>
            <a:pPr marL="457189" indent="-457189">
              <a:spcAft>
                <a:spcPts val="400"/>
              </a:spcAft>
              <a:buSzPct val="100000"/>
              <a:buChar char="•"/>
            </a:pPr>
            <a:r>
              <a:rPr lang="en-US" sz="1067" dirty="0">
                <a:solidFill>
                  <a:srgbClr val="CBD5E1"/>
                </a:solidFill>
              </a:rPr>
              <a:t>All code committed to a shared repository</a:t>
            </a:r>
            <a:endParaRPr lang="en-US" sz="1067" dirty="0"/>
          </a:p>
          <a:p>
            <a:pPr marL="457189" indent="-457189">
              <a:spcAft>
                <a:spcPts val="400"/>
              </a:spcAft>
              <a:buSzPct val="100000"/>
              <a:buChar char="•"/>
            </a:pPr>
            <a:r>
              <a:rPr lang="en-US" sz="1067" dirty="0">
                <a:solidFill>
                  <a:srgbClr val="CBD5E1"/>
                </a:solidFill>
              </a:rPr>
              <a:t>Branch-per-feature workflow with pull requests</a:t>
            </a:r>
            <a:endParaRPr lang="en-US" sz="1067" dirty="0"/>
          </a:p>
          <a:p>
            <a:pPr marL="457189" indent="-457189">
              <a:spcAft>
                <a:spcPts val="400"/>
              </a:spcAft>
              <a:buSzPct val="100000"/>
              <a:buChar char="•"/>
            </a:pPr>
            <a:r>
              <a:rPr lang="en-US" sz="1067" dirty="0">
                <a:solidFill>
                  <a:srgbClr val="CBD5E1"/>
                </a:solidFill>
              </a:rPr>
              <a:t>Commit history provides full audit trail</a:t>
            </a:r>
            <a:endParaRPr lang="en-US" sz="1067" dirty="0"/>
          </a:p>
          <a:p>
            <a:pPr marL="457189" indent="-457189">
              <a:spcAft>
                <a:spcPts val="400"/>
              </a:spcAft>
              <a:buSzPct val="100000"/>
              <a:buChar char="•"/>
            </a:pPr>
            <a:r>
              <a:rPr lang="en-US" sz="1067" dirty="0">
                <a:solidFill>
                  <a:srgbClr val="CBD5E1"/>
                </a:solidFill>
              </a:rPr>
              <a:t>Issues used to track bugs and tasks</a:t>
            </a:r>
            <a:endParaRPr lang="en-US" sz="1067" dirty="0"/>
          </a:p>
        </p:txBody>
      </p:sp>
      <p:sp>
        <p:nvSpPr>
          <p:cNvPr id="11" name="Shape 10">
            <a:extLst>
              <a:ext uri="{FF2B5EF4-FFF2-40B4-BE49-F238E27FC236}">
                <a16:creationId xmlns:a16="http://schemas.microsoft.com/office/drawing/2014/main" id="{33B97939-0D6C-AB35-E65B-76A2084C5309}"/>
              </a:ext>
            </a:extLst>
          </p:cNvPr>
          <p:cNvSpPr/>
          <p:nvPr/>
        </p:nvSpPr>
        <p:spPr>
          <a:xfrm>
            <a:off x="4552252" y="1346835"/>
            <a:ext cx="3535680" cy="2560320"/>
          </a:xfrm>
          <a:prstGeom prst="rect">
            <a:avLst/>
          </a:prstGeom>
          <a:solidFill>
            <a:srgbClr val="162032"/>
          </a:solidFill>
          <a:ln w="12700">
            <a:solidFill>
              <a:srgbClr val="1E3A5F"/>
            </a:solidFill>
            <a:prstDash val="solid"/>
          </a:ln>
          <a:effectLst>
            <a:outerShdw blurRad="101600" dist="25400" dir="8100000" algn="bl" rotWithShape="0">
              <a:srgbClr val="000000">
                <a:alpha val="18000"/>
              </a:srgbClr>
            </a:outerShdw>
          </a:effectLst>
        </p:spPr>
      </p:sp>
      <p:sp>
        <p:nvSpPr>
          <p:cNvPr id="12" name="Shape 11">
            <a:extLst>
              <a:ext uri="{FF2B5EF4-FFF2-40B4-BE49-F238E27FC236}">
                <a16:creationId xmlns:a16="http://schemas.microsoft.com/office/drawing/2014/main" id="{87271737-1CF7-7E1D-D853-26F534D99467}"/>
              </a:ext>
            </a:extLst>
          </p:cNvPr>
          <p:cNvSpPr/>
          <p:nvPr/>
        </p:nvSpPr>
        <p:spPr>
          <a:xfrm>
            <a:off x="4552252" y="1346835"/>
            <a:ext cx="3535680" cy="67056"/>
          </a:xfrm>
          <a:prstGeom prst="rect">
            <a:avLst/>
          </a:prstGeom>
          <a:solidFill>
            <a:srgbClr val="F59E0B"/>
          </a:solidFill>
          <a:ln w="12700">
            <a:solidFill>
              <a:srgbClr val="F59E0B"/>
            </a:solidFill>
            <a:prstDash val="solid"/>
          </a:ln>
        </p:spPr>
      </p:sp>
      <p:sp>
        <p:nvSpPr>
          <p:cNvPr id="13" name="Text 12">
            <a:extLst>
              <a:ext uri="{FF2B5EF4-FFF2-40B4-BE49-F238E27FC236}">
                <a16:creationId xmlns:a16="http://schemas.microsoft.com/office/drawing/2014/main" id="{B687E2AF-C86B-5982-5387-6949EB61E4B4}"/>
              </a:ext>
            </a:extLst>
          </p:cNvPr>
          <p:cNvSpPr/>
          <p:nvPr/>
        </p:nvSpPr>
        <p:spPr>
          <a:xfrm>
            <a:off x="4771708" y="1468755"/>
            <a:ext cx="3230880" cy="365760"/>
          </a:xfrm>
          <a:prstGeom prst="rect">
            <a:avLst/>
          </a:prstGeom>
          <a:noFill/>
          <a:ln/>
        </p:spPr>
        <p:txBody>
          <a:bodyPr wrap="square" lIns="0" tIns="0" rIns="0" bIns="0" rtlCol="0" anchor="ctr"/>
          <a:lstStyle/>
          <a:p>
            <a:r>
              <a:rPr lang="en-US" sz="1467" b="1" dirty="0">
                <a:solidFill>
                  <a:srgbClr val="FFFFFF"/>
                </a:solidFill>
              </a:rPr>
              <a:t>💻  Google Colab</a:t>
            </a:r>
            <a:endParaRPr lang="en-US" sz="1467" dirty="0"/>
          </a:p>
        </p:txBody>
      </p:sp>
      <p:sp>
        <p:nvSpPr>
          <p:cNvPr id="14" name="Shape 13">
            <a:extLst>
              <a:ext uri="{FF2B5EF4-FFF2-40B4-BE49-F238E27FC236}">
                <a16:creationId xmlns:a16="http://schemas.microsoft.com/office/drawing/2014/main" id="{EE27B2F0-7CEF-44B0-F158-E7C9A0668F66}"/>
              </a:ext>
            </a:extLst>
          </p:cNvPr>
          <p:cNvSpPr/>
          <p:nvPr/>
        </p:nvSpPr>
        <p:spPr>
          <a:xfrm>
            <a:off x="4771708" y="1883283"/>
            <a:ext cx="3096768" cy="268224"/>
          </a:xfrm>
          <a:prstGeom prst="rect">
            <a:avLst/>
          </a:prstGeom>
          <a:solidFill>
            <a:srgbClr val="F59E0B">
              <a:alpha val="40000"/>
            </a:srgbClr>
          </a:solidFill>
          <a:ln w="12700">
            <a:solidFill>
              <a:srgbClr val="F59E0B"/>
            </a:solidFill>
            <a:prstDash val="solid"/>
          </a:ln>
        </p:spPr>
      </p:sp>
      <p:sp>
        <p:nvSpPr>
          <p:cNvPr id="15" name="Text 14">
            <a:extLst>
              <a:ext uri="{FF2B5EF4-FFF2-40B4-BE49-F238E27FC236}">
                <a16:creationId xmlns:a16="http://schemas.microsoft.com/office/drawing/2014/main" id="{81DBAF57-FA4F-1FFF-8815-0B0445C31119}"/>
              </a:ext>
            </a:extLst>
          </p:cNvPr>
          <p:cNvSpPr/>
          <p:nvPr/>
        </p:nvSpPr>
        <p:spPr>
          <a:xfrm>
            <a:off x="4771708" y="1883283"/>
            <a:ext cx="3096768" cy="268224"/>
          </a:xfrm>
          <a:prstGeom prst="rect">
            <a:avLst/>
          </a:prstGeom>
          <a:noFill/>
          <a:ln/>
        </p:spPr>
        <p:txBody>
          <a:bodyPr wrap="square" lIns="0" tIns="0" rIns="0" bIns="0" rtlCol="0" anchor="ctr"/>
          <a:lstStyle/>
          <a:p>
            <a:pPr algn="ctr"/>
            <a:r>
              <a:rPr lang="en-US" sz="1000" b="1" dirty="0">
                <a:solidFill>
                  <a:srgbClr val="FFFFFF"/>
                </a:solidFill>
              </a:rPr>
              <a:t>Development Environment</a:t>
            </a:r>
            <a:endParaRPr lang="en-US" sz="1000" dirty="0"/>
          </a:p>
        </p:txBody>
      </p:sp>
      <p:sp>
        <p:nvSpPr>
          <p:cNvPr id="16" name="Text 15">
            <a:extLst>
              <a:ext uri="{FF2B5EF4-FFF2-40B4-BE49-F238E27FC236}">
                <a16:creationId xmlns:a16="http://schemas.microsoft.com/office/drawing/2014/main" id="{821CAE99-2513-B5DF-A913-D0EF619F7F7D}"/>
              </a:ext>
            </a:extLst>
          </p:cNvPr>
          <p:cNvSpPr/>
          <p:nvPr/>
        </p:nvSpPr>
        <p:spPr>
          <a:xfrm>
            <a:off x="4771708" y="2224659"/>
            <a:ext cx="3230880" cy="1560576"/>
          </a:xfrm>
          <a:prstGeom prst="rect">
            <a:avLst/>
          </a:prstGeom>
          <a:noFill/>
          <a:ln/>
        </p:spPr>
        <p:txBody>
          <a:bodyPr wrap="square" lIns="0" tIns="0" rIns="0" bIns="0" rtlCol="0" anchor="ctr"/>
          <a:lstStyle/>
          <a:p>
            <a:pPr marL="457189" indent="-457189">
              <a:spcAft>
                <a:spcPts val="400"/>
              </a:spcAft>
              <a:buSzPct val="100000"/>
              <a:buChar char="•"/>
            </a:pPr>
            <a:r>
              <a:rPr lang="en-US" sz="1067" dirty="0">
                <a:solidFill>
                  <a:srgbClr val="CBD5E1"/>
                </a:solidFill>
              </a:rPr>
              <a:t>Cloud-hosted Jupyter notebooks — no local setup needed</a:t>
            </a:r>
            <a:endParaRPr lang="en-US" sz="1067" dirty="0"/>
          </a:p>
          <a:p>
            <a:pPr marL="457189" indent="-457189">
              <a:spcAft>
                <a:spcPts val="400"/>
              </a:spcAft>
              <a:buSzPct val="100000"/>
              <a:buChar char="•"/>
            </a:pPr>
            <a:r>
              <a:rPr lang="en-US" sz="1067" dirty="0">
                <a:solidFill>
                  <a:srgbClr val="CBD5E1"/>
                </a:solidFill>
              </a:rPr>
              <a:t>Free GPU access for model training</a:t>
            </a:r>
            <a:endParaRPr lang="en-US" sz="1067" dirty="0"/>
          </a:p>
          <a:p>
            <a:pPr marL="457189" indent="-457189">
              <a:spcAft>
                <a:spcPts val="400"/>
              </a:spcAft>
              <a:buSzPct val="100000"/>
              <a:buChar char="•"/>
            </a:pPr>
            <a:r>
              <a:rPr lang="en-US" sz="1067" dirty="0">
                <a:solidFill>
                  <a:srgbClr val="CBD5E1"/>
                </a:solidFill>
              </a:rPr>
              <a:t>Shareable notebook links for real-time collaboration</a:t>
            </a:r>
            <a:endParaRPr lang="en-US" sz="1067" dirty="0"/>
          </a:p>
          <a:p>
            <a:pPr marL="457189" indent="-457189">
              <a:spcAft>
                <a:spcPts val="400"/>
              </a:spcAft>
              <a:buSzPct val="100000"/>
              <a:buChar char="•"/>
            </a:pPr>
            <a:r>
              <a:rPr lang="en-US" sz="1067" dirty="0">
                <a:solidFill>
                  <a:srgbClr val="CBD5E1"/>
                </a:solidFill>
              </a:rPr>
              <a:t>Used to build, run, and demo all 6 subsystems</a:t>
            </a:r>
            <a:endParaRPr lang="en-US" sz="1067" dirty="0"/>
          </a:p>
        </p:txBody>
      </p:sp>
      <p:sp>
        <p:nvSpPr>
          <p:cNvPr id="17" name="Shape 16">
            <a:extLst>
              <a:ext uri="{FF2B5EF4-FFF2-40B4-BE49-F238E27FC236}">
                <a16:creationId xmlns:a16="http://schemas.microsoft.com/office/drawing/2014/main" id="{088FA96C-F9C3-5914-214F-0B049ECE68E4}"/>
              </a:ext>
            </a:extLst>
          </p:cNvPr>
          <p:cNvSpPr/>
          <p:nvPr/>
        </p:nvSpPr>
        <p:spPr>
          <a:xfrm>
            <a:off x="8417116" y="1346835"/>
            <a:ext cx="3535680" cy="2560320"/>
          </a:xfrm>
          <a:prstGeom prst="rect">
            <a:avLst/>
          </a:prstGeom>
          <a:solidFill>
            <a:srgbClr val="162032"/>
          </a:solidFill>
          <a:ln w="12700">
            <a:solidFill>
              <a:srgbClr val="1E3A5F"/>
            </a:solidFill>
            <a:prstDash val="solid"/>
          </a:ln>
          <a:effectLst>
            <a:outerShdw blurRad="101600" dist="25400" dir="8100000" algn="bl" rotWithShape="0">
              <a:srgbClr val="000000">
                <a:alpha val="18000"/>
              </a:srgbClr>
            </a:outerShdw>
          </a:effectLst>
        </p:spPr>
      </p:sp>
      <p:sp>
        <p:nvSpPr>
          <p:cNvPr id="18" name="Shape 17">
            <a:extLst>
              <a:ext uri="{FF2B5EF4-FFF2-40B4-BE49-F238E27FC236}">
                <a16:creationId xmlns:a16="http://schemas.microsoft.com/office/drawing/2014/main" id="{C535789A-9C20-B464-AB97-05E997A15811}"/>
              </a:ext>
            </a:extLst>
          </p:cNvPr>
          <p:cNvSpPr/>
          <p:nvPr/>
        </p:nvSpPr>
        <p:spPr>
          <a:xfrm>
            <a:off x="8417116" y="1346835"/>
            <a:ext cx="3535680" cy="67056"/>
          </a:xfrm>
          <a:prstGeom prst="rect">
            <a:avLst/>
          </a:prstGeom>
          <a:solidFill>
            <a:srgbClr val="10B981"/>
          </a:solidFill>
          <a:ln w="12700">
            <a:solidFill>
              <a:srgbClr val="10B981"/>
            </a:solidFill>
            <a:prstDash val="solid"/>
          </a:ln>
        </p:spPr>
      </p:sp>
      <p:sp>
        <p:nvSpPr>
          <p:cNvPr id="19" name="Text 18">
            <a:extLst>
              <a:ext uri="{FF2B5EF4-FFF2-40B4-BE49-F238E27FC236}">
                <a16:creationId xmlns:a16="http://schemas.microsoft.com/office/drawing/2014/main" id="{5DCDD590-6AD5-C769-E7C3-0D13F7BE1F39}"/>
              </a:ext>
            </a:extLst>
          </p:cNvPr>
          <p:cNvSpPr/>
          <p:nvPr/>
        </p:nvSpPr>
        <p:spPr>
          <a:xfrm>
            <a:off x="8636572" y="1468755"/>
            <a:ext cx="3230880" cy="365760"/>
          </a:xfrm>
          <a:prstGeom prst="rect">
            <a:avLst/>
          </a:prstGeom>
          <a:noFill/>
          <a:ln/>
        </p:spPr>
        <p:txBody>
          <a:bodyPr wrap="square" lIns="0" tIns="0" rIns="0" bIns="0" rtlCol="0" anchor="ctr"/>
          <a:lstStyle/>
          <a:p>
            <a:r>
              <a:rPr lang="en-US" sz="1467" b="1" dirty="0">
                <a:solidFill>
                  <a:srgbClr val="FFFFFF"/>
                </a:solidFill>
              </a:rPr>
              <a:t>📝  Notion</a:t>
            </a:r>
            <a:endParaRPr lang="en-US" sz="1467" dirty="0"/>
          </a:p>
        </p:txBody>
      </p:sp>
      <p:sp>
        <p:nvSpPr>
          <p:cNvPr id="20" name="Shape 19">
            <a:extLst>
              <a:ext uri="{FF2B5EF4-FFF2-40B4-BE49-F238E27FC236}">
                <a16:creationId xmlns:a16="http://schemas.microsoft.com/office/drawing/2014/main" id="{D402B263-9CC7-83CD-A4C0-80D195183F5D}"/>
              </a:ext>
            </a:extLst>
          </p:cNvPr>
          <p:cNvSpPr/>
          <p:nvPr/>
        </p:nvSpPr>
        <p:spPr>
          <a:xfrm>
            <a:off x="8636572" y="1883283"/>
            <a:ext cx="3096768" cy="268224"/>
          </a:xfrm>
          <a:prstGeom prst="rect">
            <a:avLst/>
          </a:prstGeom>
          <a:solidFill>
            <a:srgbClr val="10B981">
              <a:alpha val="40000"/>
            </a:srgbClr>
          </a:solidFill>
          <a:ln w="12700">
            <a:solidFill>
              <a:srgbClr val="10B981"/>
            </a:solidFill>
            <a:prstDash val="solid"/>
          </a:ln>
        </p:spPr>
      </p:sp>
      <p:sp>
        <p:nvSpPr>
          <p:cNvPr id="21" name="Text 20">
            <a:extLst>
              <a:ext uri="{FF2B5EF4-FFF2-40B4-BE49-F238E27FC236}">
                <a16:creationId xmlns:a16="http://schemas.microsoft.com/office/drawing/2014/main" id="{A0A4907F-D2F0-D59D-D1F1-3C43B4E9B0FA}"/>
              </a:ext>
            </a:extLst>
          </p:cNvPr>
          <p:cNvSpPr/>
          <p:nvPr/>
        </p:nvSpPr>
        <p:spPr>
          <a:xfrm>
            <a:off x="8636572" y="1883283"/>
            <a:ext cx="3096768" cy="268224"/>
          </a:xfrm>
          <a:prstGeom prst="rect">
            <a:avLst/>
          </a:prstGeom>
          <a:noFill/>
          <a:ln/>
        </p:spPr>
        <p:txBody>
          <a:bodyPr wrap="square" lIns="0" tIns="0" rIns="0" bIns="0" rtlCol="0" anchor="ctr"/>
          <a:lstStyle/>
          <a:p>
            <a:pPr algn="ctr"/>
            <a:r>
              <a:rPr lang="en-US" sz="1000" b="1" dirty="0">
                <a:solidFill>
                  <a:srgbClr val="FFFFFF"/>
                </a:solidFill>
              </a:rPr>
              <a:t>Documentation</a:t>
            </a:r>
            <a:endParaRPr lang="en-US" sz="1000" dirty="0"/>
          </a:p>
        </p:txBody>
      </p:sp>
      <p:sp>
        <p:nvSpPr>
          <p:cNvPr id="22" name="Text 21">
            <a:extLst>
              <a:ext uri="{FF2B5EF4-FFF2-40B4-BE49-F238E27FC236}">
                <a16:creationId xmlns:a16="http://schemas.microsoft.com/office/drawing/2014/main" id="{CE8EEBAB-CA9D-62AE-AAF9-A9042335D7CC}"/>
              </a:ext>
            </a:extLst>
          </p:cNvPr>
          <p:cNvSpPr/>
          <p:nvPr/>
        </p:nvSpPr>
        <p:spPr>
          <a:xfrm>
            <a:off x="8636572" y="2224659"/>
            <a:ext cx="3230880" cy="1560576"/>
          </a:xfrm>
          <a:prstGeom prst="rect">
            <a:avLst/>
          </a:prstGeom>
          <a:noFill/>
          <a:ln/>
        </p:spPr>
        <p:txBody>
          <a:bodyPr wrap="square" lIns="0" tIns="0" rIns="0" bIns="0" rtlCol="0" anchor="ctr"/>
          <a:lstStyle/>
          <a:p>
            <a:pPr marL="457189" indent="-457189">
              <a:spcAft>
                <a:spcPts val="400"/>
              </a:spcAft>
              <a:buSzPct val="100000"/>
              <a:buChar char="•"/>
            </a:pPr>
            <a:r>
              <a:rPr lang="en-US" sz="1067" dirty="0">
                <a:solidFill>
                  <a:srgbClr val="CBD5E1"/>
                </a:solidFill>
              </a:rPr>
              <a:t>Project wiki for system design decisions</a:t>
            </a:r>
            <a:endParaRPr lang="en-US" sz="1067" dirty="0"/>
          </a:p>
          <a:p>
            <a:pPr marL="457189" indent="-457189">
              <a:spcAft>
                <a:spcPts val="400"/>
              </a:spcAft>
              <a:buSzPct val="100000"/>
              <a:buChar char="•"/>
            </a:pPr>
            <a:r>
              <a:rPr lang="en-US" sz="1067" dirty="0">
                <a:solidFill>
                  <a:srgbClr val="CBD5E1"/>
                </a:solidFill>
              </a:rPr>
              <a:t>Sprint retrospectives and meeting notes</a:t>
            </a:r>
            <a:endParaRPr lang="en-US" sz="1067" dirty="0"/>
          </a:p>
          <a:p>
            <a:pPr marL="457189" indent="-457189">
              <a:spcAft>
                <a:spcPts val="400"/>
              </a:spcAft>
              <a:buSzPct val="100000"/>
              <a:buChar char="•"/>
            </a:pPr>
            <a:r>
              <a:rPr lang="en-US" sz="1067" dirty="0">
                <a:solidFill>
                  <a:srgbClr val="CBD5E1"/>
                </a:solidFill>
              </a:rPr>
              <a:t>Shared knowledge base for team reference</a:t>
            </a:r>
            <a:endParaRPr lang="en-US" sz="1067" dirty="0"/>
          </a:p>
          <a:p>
            <a:pPr marL="457189" indent="-457189">
              <a:spcAft>
                <a:spcPts val="400"/>
              </a:spcAft>
              <a:buSzPct val="100000"/>
              <a:buChar char="•"/>
            </a:pPr>
            <a:r>
              <a:rPr lang="en-US" sz="1067" dirty="0">
                <a:solidFill>
                  <a:srgbClr val="CBD5E1"/>
                </a:solidFill>
              </a:rPr>
              <a:t>Tracked NASA PLC phases and deliverables</a:t>
            </a:r>
            <a:endParaRPr lang="en-US" sz="1067" dirty="0"/>
          </a:p>
        </p:txBody>
      </p:sp>
      <p:sp>
        <p:nvSpPr>
          <p:cNvPr id="23" name="Shape 22">
            <a:extLst>
              <a:ext uri="{FF2B5EF4-FFF2-40B4-BE49-F238E27FC236}">
                <a16:creationId xmlns:a16="http://schemas.microsoft.com/office/drawing/2014/main" id="{279401C6-055B-2957-C700-6DE696ABF312}"/>
              </a:ext>
            </a:extLst>
          </p:cNvPr>
          <p:cNvSpPr/>
          <p:nvPr/>
        </p:nvSpPr>
        <p:spPr>
          <a:xfrm>
            <a:off x="2613724" y="4090035"/>
            <a:ext cx="3535680" cy="2560320"/>
          </a:xfrm>
          <a:prstGeom prst="rect">
            <a:avLst/>
          </a:prstGeom>
          <a:solidFill>
            <a:srgbClr val="162032"/>
          </a:solidFill>
          <a:ln w="12700">
            <a:solidFill>
              <a:srgbClr val="1E3A5F"/>
            </a:solidFill>
            <a:prstDash val="solid"/>
          </a:ln>
          <a:effectLst>
            <a:outerShdw blurRad="101600" dist="25400" dir="8100000" algn="bl" rotWithShape="0">
              <a:srgbClr val="000000">
                <a:alpha val="18000"/>
              </a:srgbClr>
            </a:outerShdw>
          </a:effectLst>
        </p:spPr>
      </p:sp>
      <p:sp>
        <p:nvSpPr>
          <p:cNvPr id="24" name="Shape 23">
            <a:extLst>
              <a:ext uri="{FF2B5EF4-FFF2-40B4-BE49-F238E27FC236}">
                <a16:creationId xmlns:a16="http://schemas.microsoft.com/office/drawing/2014/main" id="{CE939346-914F-ED1C-BEC7-C7B14B358184}"/>
              </a:ext>
            </a:extLst>
          </p:cNvPr>
          <p:cNvSpPr/>
          <p:nvPr/>
        </p:nvSpPr>
        <p:spPr>
          <a:xfrm>
            <a:off x="2613724" y="4090035"/>
            <a:ext cx="3535680" cy="67056"/>
          </a:xfrm>
          <a:prstGeom prst="rect">
            <a:avLst/>
          </a:prstGeom>
          <a:solidFill>
            <a:srgbClr val="0077B6"/>
          </a:solidFill>
          <a:ln w="12700">
            <a:solidFill>
              <a:srgbClr val="0077B6"/>
            </a:solidFill>
            <a:prstDash val="solid"/>
          </a:ln>
        </p:spPr>
      </p:sp>
      <p:sp>
        <p:nvSpPr>
          <p:cNvPr id="25" name="Text 24">
            <a:extLst>
              <a:ext uri="{FF2B5EF4-FFF2-40B4-BE49-F238E27FC236}">
                <a16:creationId xmlns:a16="http://schemas.microsoft.com/office/drawing/2014/main" id="{05DBC02B-933D-7448-59ED-B9B4183199ED}"/>
              </a:ext>
            </a:extLst>
          </p:cNvPr>
          <p:cNvSpPr/>
          <p:nvPr/>
        </p:nvSpPr>
        <p:spPr>
          <a:xfrm>
            <a:off x="2833180" y="4211955"/>
            <a:ext cx="3230880" cy="365760"/>
          </a:xfrm>
          <a:prstGeom prst="rect">
            <a:avLst/>
          </a:prstGeom>
          <a:noFill/>
          <a:ln/>
        </p:spPr>
        <p:txBody>
          <a:bodyPr wrap="square" lIns="0" tIns="0" rIns="0" bIns="0" rtlCol="0" anchor="ctr"/>
          <a:lstStyle/>
          <a:p>
            <a:r>
              <a:rPr lang="en-US" sz="1467" b="1" dirty="0">
                <a:solidFill>
                  <a:srgbClr val="FFFFFF"/>
                </a:solidFill>
              </a:rPr>
              <a:t>💬  MS Teams</a:t>
            </a:r>
            <a:endParaRPr lang="en-US" sz="1467" dirty="0"/>
          </a:p>
        </p:txBody>
      </p:sp>
      <p:sp>
        <p:nvSpPr>
          <p:cNvPr id="26" name="Shape 25">
            <a:extLst>
              <a:ext uri="{FF2B5EF4-FFF2-40B4-BE49-F238E27FC236}">
                <a16:creationId xmlns:a16="http://schemas.microsoft.com/office/drawing/2014/main" id="{4CBEAA51-0185-CF15-AC96-404FC3DEF2EE}"/>
              </a:ext>
            </a:extLst>
          </p:cNvPr>
          <p:cNvSpPr/>
          <p:nvPr/>
        </p:nvSpPr>
        <p:spPr>
          <a:xfrm>
            <a:off x="2833180" y="4626483"/>
            <a:ext cx="3096768" cy="268224"/>
          </a:xfrm>
          <a:prstGeom prst="rect">
            <a:avLst/>
          </a:prstGeom>
          <a:solidFill>
            <a:srgbClr val="0077B6">
              <a:alpha val="40000"/>
            </a:srgbClr>
          </a:solidFill>
          <a:ln w="12700">
            <a:solidFill>
              <a:srgbClr val="0077B6"/>
            </a:solidFill>
            <a:prstDash val="solid"/>
          </a:ln>
        </p:spPr>
      </p:sp>
      <p:sp>
        <p:nvSpPr>
          <p:cNvPr id="27" name="Text 26">
            <a:extLst>
              <a:ext uri="{FF2B5EF4-FFF2-40B4-BE49-F238E27FC236}">
                <a16:creationId xmlns:a16="http://schemas.microsoft.com/office/drawing/2014/main" id="{D5C95FC1-73C1-8C06-629B-E62DE3E92C32}"/>
              </a:ext>
            </a:extLst>
          </p:cNvPr>
          <p:cNvSpPr/>
          <p:nvPr/>
        </p:nvSpPr>
        <p:spPr>
          <a:xfrm>
            <a:off x="2833180" y="4626483"/>
            <a:ext cx="3096768" cy="268224"/>
          </a:xfrm>
          <a:prstGeom prst="rect">
            <a:avLst/>
          </a:prstGeom>
          <a:noFill/>
          <a:ln/>
        </p:spPr>
        <p:txBody>
          <a:bodyPr wrap="square" lIns="0" tIns="0" rIns="0" bIns="0" rtlCol="0" anchor="ctr"/>
          <a:lstStyle/>
          <a:p>
            <a:pPr algn="ctr"/>
            <a:r>
              <a:rPr lang="en-US" sz="1000" b="1" dirty="0">
                <a:solidFill>
                  <a:srgbClr val="FFFFFF"/>
                </a:solidFill>
              </a:rPr>
              <a:t>Communication</a:t>
            </a:r>
            <a:endParaRPr lang="en-US" sz="1000" dirty="0"/>
          </a:p>
        </p:txBody>
      </p:sp>
      <p:sp>
        <p:nvSpPr>
          <p:cNvPr id="28" name="Text 27">
            <a:extLst>
              <a:ext uri="{FF2B5EF4-FFF2-40B4-BE49-F238E27FC236}">
                <a16:creationId xmlns:a16="http://schemas.microsoft.com/office/drawing/2014/main" id="{634F9076-3947-4076-A089-00B722178410}"/>
              </a:ext>
            </a:extLst>
          </p:cNvPr>
          <p:cNvSpPr/>
          <p:nvPr/>
        </p:nvSpPr>
        <p:spPr>
          <a:xfrm>
            <a:off x="2833180" y="4967859"/>
            <a:ext cx="3230880" cy="1560576"/>
          </a:xfrm>
          <a:prstGeom prst="rect">
            <a:avLst/>
          </a:prstGeom>
          <a:noFill/>
          <a:ln/>
        </p:spPr>
        <p:txBody>
          <a:bodyPr wrap="square" lIns="0" tIns="0" rIns="0" bIns="0" rtlCol="0" anchor="ctr"/>
          <a:lstStyle/>
          <a:p>
            <a:pPr marL="457189" indent="-457189">
              <a:spcAft>
                <a:spcPts val="400"/>
              </a:spcAft>
              <a:buSzPct val="100000"/>
              <a:buChar char="•"/>
            </a:pPr>
            <a:r>
              <a:rPr lang="en-US" sz="1067" dirty="0">
                <a:solidFill>
                  <a:srgbClr val="CBD5E1"/>
                </a:solidFill>
              </a:rPr>
              <a:t>Primary channel for day-to-day team communication</a:t>
            </a:r>
            <a:endParaRPr lang="en-US" sz="1067" dirty="0"/>
          </a:p>
          <a:p>
            <a:pPr marL="457189" indent="-457189">
              <a:spcAft>
                <a:spcPts val="400"/>
              </a:spcAft>
              <a:buSzPct val="100000"/>
              <a:buChar char="•"/>
            </a:pPr>
            <a:r>
              <a:rPr lang="en-US" sz="1067" dirty="0">
                <a:solidFill>
                  <a:srgbClr val="CBD5E1"/>
                </a:solidFill>
              </a:rPr>
              <a:t>Weekly check-ins and sprint review calls</a:t>
            </a:r>
            <a:endParaRPr lang="en-US" sz="1067" dirty="0"/>
          </a:p>
          <a:p>
            <a:pPr marL="457189" indent="-457189">
              <a:spcAft>
                <a:spcPts val="400"/>
              </a:spcAft>
              <a:buSzPct val="100000"/>
              <a:buChar char="•"/>
            </a:pPr>
            <a:r>
              <a:rPr lang="en-US" sz="1067" dirty="0">
                <a:solidFill>
                  <a:srgbClr val="CBD5E1"/>
                </a:solidFill>
              </a:rPr>
              <a:t>File sharing and meeting recordings stored in-channel</a:t>
            </a:r>
            <a:endParaRPr lang="en-US" sz="1067" dirty="0"/>
          </a:p>
          <a:p>
            <a:pPr marL="457189" indent="-457189">
              <a:spcAft>
                <a:spcPts val="400"/>
              </a:spcAft>
              <a:buSzPct val="100000"/>
              <a:buChar char="•"/>
            </a:pPr>
            <a:r>
              <a:rPr lang="en-US" sz="1067" dirty="0">
                <a:solidFill>
                  <a:srgbClr val="CBD5E1"/>
                </a:solidFill>
              </a:rPr>
              <a:t>Notifications linked to GitHub commits</a:t>
            </a:r>
            <a:endParaRPr lang="en-US" sz="1067" dirty="0"/>
          </a:p>
        </p:txBody>
      </p:sp>
      <p:sp>
        <p:nvSpPr>
          <p:cNvPr id="29" name="Shape 28">
            <a:extLst>
              <a:ext uri="{FF2B5EF4-FFF2-40B4-BE49-F238E27FC236}">
                <a16:creationId xmlns:a16="http://schemas.microsoft.com/office/drawing/2014/main" id="{A4B47DC5-9B5C-2073-5C28-614C02C63099}"/>
              </a:ext>
            </a:extLst>
          </p:cNvPr>
          <p:cNvSpPr/>
          <p:nvPr/>
        </p:nvSpPr>
        <p:spPr>
          <a:xfrm>
            <a:off x="6478588" y="4090035"/>
            <a:ext cx="3535680" cy="2560320"/>
          </a:xfrm>
          <a:prstGeom prst="rect">
            <a:avLst/>
          </a:prstGeom>
          <a:solidFill>
            <a:srgbClr val="162032"/>
          </a:solidFill>
          <a:ln w="12700">
            <a:solidFill>
              <a:srgbClr val="1E3A5F"/>
            </a:solidFill>
            <a:prstDash val="solid"/>
          </a:ln>
          <a:effectLst>
            <a:outerShdw blurRad="101600" dist="25400" dir="8100000" algn="bl" rotWithShape="0">
              <a:srgbClr val="000000">
                <a:alpha val="18000"/>
              </a:srgbClr>
            </a:outerShdw>
          </a:effectLst>
        </p:spPr>
      </p:sp>
      <p:sp>
        <p:nvSpPr>
          <p:cNvPr id="30" name="Shape 29">
            <a:extLst>
              <a:ext uri="{FF2B5EF4-FFF2-40B4-BE49-F238E27FC236}">
                <a16:creationId xmlns:a16="http://schemas.microsoft.com/office/drawing/2014/main" id="{AC44D418-6BE9-342A-1AA0-066882D15A49}"/>
              </a:ext>
            </a:extLst>
          </p:cNvPr>
          <p:cNvSpPr/>
          <p:nvPr/>
        </p:nvSpPr>
        <p:spPr>
          <a:xfrm>
            <a:off x="6478588" y="4090035"/>
            <a:ext cx="3535680" cy="67056"/>
          </a:xfrm>
          <a:prstGeom prst="rect">
            <a:avLst/>
          </a:prstGeom>
          <a:solidFill>
            <a:srgbClr val="CBD5E1"/>
          </a:solidFill>
          <a:ln w="12700">
            <a:solidFill>
              <a:srgbClr val="CBD5E1"/>
            </a:solidFill>
            <a:prstDash val="solid"/>
          </a:ln>
        </p:spPr>
      </p:sp>
      <p:sp>
        <p:nvSpPr>
          <p:cNvPr id="31" name="Text 30">
            <a:extLst>
              <a:ext uri="{FF2B5EF4-FFF2-40B4-BE49-F238E27FC236}">
                <a16:creationId xmlns:a16="http://schemas.microsoft.com/office/drawing/2014/main" id="{096CF0CA-5F12-7076-0301-5500E7EDB233}"/>
              </a:ext>
            </a:extLst>
          </p:cNvPr>
          <p:cNvSpPr/>
          <p:nvPr/>
        </p:nvSpPr>
        <p:spPr>
          <a:xfrm>
            <a:off x="6698044" y="4211955"/>
            <a:ext cx="3230880" cy="365760"/>
          </a:xfrm>
          <a:prstGeom prst="rect">
            <a:avLst/>
          </a:prstGeom>
          <a:noFill/>
          <a:ln/>
        </p:spPr>
        <p:txBody>
          <a:bodyPr wrap="square" lIns="0" tIns="0" rIns="0" bIns="0" rtlCol="0" anchor="ctr"/>
          <a:lstStyle/>
          <a:p>
            <a:r>
              <a:rPr lang="en-US" sz="1467" b="1" dirty="0">
                <a:solidFill>
                  <a:srgbClr val="FFFFFF"/>
                </a:solidFill>
              </a:rPr>
              <a:t>☁️  Google Drive / OneDrive</a:t>
            </a:r>
            <a:endParaRPr lang="en-US" sz="1467" dirty="0"/>
          </a:p>
        </p:txBody>
      </p:sp>
      <p:sp>
        <p:nvSpPr>
          <p:cNvPr id="32" name="Shape 31">
            <a:extLst>
              <a:ext uri="{FF2B5EF4-FFF2-40B4-BE49-F238E27FC236}">
                <a16:creationId xmlns:a16="http://schemas.microsoft.com/office/drawing/2014/main" id="{8635E4AA-A076-EC55-DEE3-5EC8398DD0D8}"/>
              </a:ext>
            </a:extLst>
          </p:cNvPr>
          <p:cNvSpPr/>
          <p:nvPr/>
        </p:nvSpPr>
        <p:spPr>
          <a:xfrm>
            <a:off x="6698044" y="4626483"/>
            <a:ext cx="3096768" cy="268224"/>
          </a:xfrm>
          <a:prstGeom prst="rect">
            <a:avLst/>
          </a:prstGeom>
          <a:solidFill>
            <a:srgbClr val="CBD5E1">
              <a:alpha val="40000"/>
            </a:srgbClr>
          </a:solidFill>
          <a:ln w="12700">
            <a:solidFill>
              <a:srgbClr val="CBD5E1"/>
            </a:solidFill>
            <a:prstDash val="solid"/>
          </a:ln>
        </p:spPr>
      </p:sp>
      <p:sp>
        <p:nvSpPr>
          <p:cNvPr id="33" name="Text 32">
            <a:extLst>
              <a:ext uri="{FF2B5EF4-FFF2-40B4-BE49-F238E27FC236}">
                <a16:creationId xmlns:a16="http://schemas.microsoft.com/office/drawing/2014/main" id="{A2AF5F18-5FCA-900F-4BCA-E1424C00376E}"/>
              </a:ext>
            </a:extLst>
          </p:cNvPr>
          <p:cNvSpPr/>
          <p:nvPr/>
        </p:nvSpPr>
        <p:spPr>
          <a:xfrm>
            <a:off x="6698044" y="4626483"/>
            <a:ext cx="3096768" cy="268224"/>
          </a:xfrm>
          <a:prstGeom prst="rect">
            <a:avLst/>
          </a:prstGeom>
          <a:noFill/>
          <a:ln/>
        </p:spPr>
        <p:txBody>
          <a:bodyPr wrap="square" lIns="0" tIns="0" rIns="0" bIns="0" rtlCol="0" anchor="ctr"/>
          <a:lstStyle/>
          <a:p>
            <a:pPr algn="ctr"/>
            <a:r>
              <a:rPr lang="en-US" sz="1000" b="1" dirty="0">
                <a:solidFill>
                  <a:srgbClr val="0D1B2A"/>
                </a:solidFill>
              </a:rPr>
              <a:t>File Sharing</a:t>
            </a:r>
            <a:endParaRPr lang="en-US" sz="1000" dirty="0"/>
          </a:p>
        </p:txBody>
      </p:sp>
      <p:sp>
        <p:nvSpPr>
          <p:cNvPr id="34" name="Text 33">
            <a:extLst>
              <a:ext uri="{FF2B5EF4-FFF2-40B4-BE49-F238E27FC236}">
                <a16:creationId xmlns:a16="http://schemas.microsoft.com/office/drawing/2014/main" id="{75BEB742-EC98-4245-19DA-11BAF3342CD2}"/>
              </a:ext>
            </a:extLst>
          </p:cNvPr>
          <p:cNvSpPr/>
          <p:nvPr/>
        </p:nvSpPr>
        <p:spPr>
          <a:xfrm>
            <a:off x="6698044" y="4967859"/>
            <a:ext cx="3230880" cy="1560576"/>
          </a:xfrm>
          <a:prstGeom prst="rect">
            <a:avLst/>
          </a:prstGeom>
          <a:noFill/>
          <a:ln/>
        </p:spPr>
        <p:txBody>
          <a:bodyPr wrap="square" lIns="0" tIns="0" rIns="0" bIns="0" rtlCol="0" anchor="ctr"/>
          <a:lstStyle/>
          <a:p>
            <a:pPr marL="457189" indent="-457189">
              <a:spcAft>
                <a:spcPts val="400"/>
              </a:spcAft>
              <a:buSzPct val="100000"/>
              <a:buChar char="•"/>
            </a:pPr>
            <a:r>
              <a:rPr lang="en-US" sz="1067" dirty="0">
                <a:solidFill>
                  <a:srgbClr val="CBD5E1"/>
                </a:solidFill>
              </a:rPr>
              <a:t>Centralised storage for datasets and exports</a:t>
            </a:r>
            <a:endParaRPr lang="en-US" sz="1067" dirty="0"/>
          </a:p>
          <a:p>
            <a:pPr marL="457189" indent="-457189">
              <a:spcAft>
                <a:spcPts val="400"/>
              </a:spcAft>
              <a:buSzPct val="100000"/>
              <a:buChar char="•"/>
            </a:pPr>
            <a:r>
              <a:rPr lang="en-US" sz="1067" dirty="0">
                <a:solidFill>
                  <a:srgbClr val="CBD5E1"/>
                </a:solidFill>
              </a:rPr>
              <a:t>Shared access to report drafts and slide decks</a:t>
            </a:r>
            <a:endParaRPr lang="en-US" sz="1067" dirty="0"/>
          </a:p>
          <a:p>
            <a:pPr marL="457189" indent="-457189">
              <a:spcAft>
                <a:spcPts val="400"/>
              </a:spcAft>
              <a:buSzPct val="100000"/>
              <a:buChar char="•"/>
            </a:pPr>
            <a:r>
              <a:rPr lang="en-US" sz="1067" dirty="0">
                <a:solidFill>
                  <a:srgbClr val="CBD5E1"/>
                </a:solidFill>
              </a:rPr>
              <a:t>Version history on all shared documents</a:t>
            </a:r>
            <a:endParaRPr lang="en-US" sz="1067" dirty="0"/>
          </a:p>
          <a:p>
            <a:pPr marL="457189" indent="-457189">
              <a:spcAft>
                <a:spcPts val="400"/>
              </a:spcAft>
              <a:buSzPct val="100000"/>
              <a:buChar char="•"/>
            </a:pPr>
            <a:r>
              <a:rPr lang="en-US" sz="1067" dirty="0">
                <a:solidFill>
                  <a:srgbClr val="CBD5E1"/>
                </a:solidFill>
              </a:rPr>
              <a:t>UCI Online Retail dataset hosted here for Colab access</a:t>
            </a:r>
            <a:endParaRPr lang="en-US" sz="1067" dirty="0"/>
          </a:p>
        </p:txBody>
      </p:sp>
    </p:spTree>
    <p:extLst>
      <p:ext uri="{BB962C8B-B14F-4D97-AF65-F5344CB8AC3E}">
        <p14:creationId xmlns:p14="http://schemas.microsoft.com/office/powerpoint/2010/main" val="2421958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4AD2C-1396-F9FC-5BAF-38D763258DA3}"/>
              </a:ext>
            </a:extLst>
          </p:cNvPr>
          <p:cNvSpPr>
            <a:spLocks noGrp="1"/>
          </p:cNvSpPr>
          <p:nvPr>
            <p:ph type="title"/>
          </p:nvPr>
        </p:nvSpPr>
        <p:spPr/>
        <p:txBody>
          <a:bodyPr/>
          <a:lstStyle/>
          <a:p>
            <a:r>
              <a:rPr lang="en-SG" dirty="0"/>
              <a:t>Conclusion</a:t>
            </a:r>
          </a:p>
        </p:txBody>
      </p:sp>
      <p:sp>
        <p:nvSpPr>
          <p:cNvPr id="4" name="Slide Number Placeholder 3">
            <a:extLst>
              <a:ext uri="{FF2B5EF4-FFF2-40B4-BE49-F238E27FC236}">
                <a16:creationId xmlns:a16="http://schemas.microsoft.com/office/drawing/2014/main" id="{93FF743B-7910-BEA3-7BF5-92EF81FC6895}"/>
              </a:ext>
            </a:extLst>
          </p:cNvPr>
          <p:cNvSpPr>
            <a:spLocks noGrp="1"/>
          </p:cNvSpPr>
          <p:nvPr>
            <p:ph type="sldNum" sz="quarter" idx="12"/>
          </p:nvPr>
        </p:nvSpPr>
        <p:spPr/>
        <p:txBody>
          <a:bodyPr/>
          <a:lstStyle/>
          <a:p>
            <a:fld id="{5A37AB63-62EB-4EDF-B1C9-C7FAE06A9E45}" type="slidenum">
              <a:rPr lang="en-SG" smtClean="0"/>
              <a:t>17</a:t>
            </a:fld>
            <a:endParaRPr lang="en-SG"/>
          </a:p>
        </p:txBody>
      </p:sp>
      <p:sp>
        <p:nvSpPr>
          <p:cNvPr id="26" name="Shape 5">
            <a:extLst>
              <a:ext uri="{FF2B5EF4-FFF2-40B4-BE49-F238E27FC236}">
                <a16:creationId xmlns:a16="http://schemas.microsoft.com/office/drawing/2014/main" id="{5268F93B-3DE8-47E6-217A-14AF9CB65B02}"/>
              </a:ext>
            </a:extLst>
          </p:cNvPr>
          <p:cNvSpPr/>
          <p:nvPr/>
        </p:nvSpPr>
        <p:spPr>
          <a:xfrm>
            <a:off x="1501140" y="1741170"/>
            <a:ext cx="438912" cy="438912"/>
          </a:xfrm>
          <a:prstGeom prst="rect">
            <a:avLst/>
          </a:prstGeom>
          <a:solidFill>
            <a:srgbClr val="10B981"/>
          </a:solidFill>
          <a:ln w="12700">
            <a:solidFill>
              <a:srgbClr val="10B981"/>
            </a:solidFill>
            <a:prstDash val="solid"/>
          </a:ln>
        </p:spPr>
      </p:sp>
      <p:sp>
        <p:nvSpPr>
          <p:cNvPr id="27" name="Text 6">
            <a:extLst>
              <a:ext uri="{FF2B5EF4-FFF2-40B4-BE49-F238E27FC236}">
                <a16:creationId xmlns:a16="http://schemas.microsoft.com/office/drawing/2014/main" id="{5144E338-E185-C685-1F03-393B7486BE30}"/>
              </a:ext>
            </a:extLst>
          </p:cNvPr>
          <p:cNvSpPr/>
          <p:nvPr/>
        </p:nvSpPr>
        <p:spPr>
          <a:xfrm>
            <a:off x="1501140" y="1741170"/>
            <a:ext cx="438912" cy="438912"/>
          </a:xfrm>
          <a:prstGeom prst="rect">
            <a:avLst/>
          </a:prstGeom>
          <a:noFill/>
          <a:ln/>
        </p:spPr>
        <p:txBody>
          <a:bodyPr wrap="square" lIns="0" tIns="0" rIns="0" bIns="0" rtlCol="0" anchor="ctr"/>
          <a:lstStyle/>
          <a:p>
            <a:pPr algn="ctr"/>
            <a:r>
              <a:rPr lang="en-US" sz="1600" b="1" dirty="0">
                <a:solidFill>
                  <a:srgbClr val="FFFFFF"/>
                </a:solidFill>
              </a:rPr>
              <a:t>✓</a:t>
            </a:r>
            <a:endParaRPr lang="en-US" sz="1600" dirty="0"/>
          </a:p>
        </p:txBody>
      </p:sp>
      <p:sp>
        <p:nvSpPr>
          <p:cNvPr id="28" name="Text 7">
            <a:extLst>
              <a:ext uri="{FF2B5EF4-FFF2-40B4-BE49-F238E27FC236}">
                <a16:creationId xmlns:a16="http://schemas.microsoft.com/office/drawing/2014/main" id="{B7C885A7-782C-3272-1C23-1DF97E31B9E6}"/>
              </a:ext>
            </a:extLst>
          </p:cNvPr>
          <p:cNvSpPr/>
          <p:nvPr/>
        </p:nvSpPr>
        <p:spPr>
          <a:xfrm>
            <a:off x="2086356" y="1802130"/>
            <a:ext cx="9997440" cy="390144"/>
          </a:xfrm>
          <a:prstGeom prst="rect">
            <a:avLst/>
          </a:prstGeom>
          <a:noFill/>
          <a:ln/>
        </p:spPr>
        <p:txBody>
          <a:bodyPr wrap="square" lIns="0" tIns="0" rIns="0" bIns="0" rtlCol="0" anchor="ctr"/>
          <a:lstStyle/>
          <a:p>
            <a:r>
              <a:rPr lang="en-US" sz="1400" dirty="0">
                <a:solidFill>
                  <a:srgbClr val="CBD5E1"/>
                </a:solidFill>
              </a:rPr>
              <a:t>All 6 subsystems fully built, integrated, and deployed on a live Streamlit dashboard</a:t>
            </a:r>
            <a:endParaRPr lang="en-US" sz="1400" dirty="0"/>
          </a:p>
        </p:txBody>
      </p:sp>
      <p:sp>
        <p:nvSpPr>
          <p:cNvPr id="29" name="Shape 8">
            <a:extLst>
              <a:ext uri="{FF2B5EF4-FFF2-40B4-BE49-F238E27FC236}">
                <a16:creationId xmlns:a16="http://schemas.microsoft.com/office/drawing/2014/main" id="{5AA3CCB6-75D6-40A2-1F89-D2A6A70B0D60}"/>
              </a:ext>
            </a:extLst>
          </p:cNvPr>
          <p:cNvSpPr/>
          <p:nvPr/>
        </p:nvSpPr>
        <p:spPr>
          <a:xfrm>
            <a:off x="1501140" y="2375154"/>
            <a:ext cx="438912" cy="438912"/>
          </a:xfrm>
          <a:prstGeom prst="rect">
            <a:avLst/>
          </a:prstGeom>
          <a:solidFill>
            <a:srgbClr val="10B981"/>
          </a:solidFill>
          <a:ln w="12700">
            <a:solidFill>
              <a:srgbClr val="10B981"/>
            </a:solidFill>
            <a:prstDash val="solid"/>
          </a:ln>
        </p:spPr>
      </p:sp>
      <p:sp>
        <p:nvSpPr>
          <p:cNvPr id="30" name="Text 9">
            <a:extLst>
              <a:ext uri="{FF2B5EF4-FFF2-40B4-BE49-F238E27FC236}">
                <a16:creationId xmlns:a16="http://schemas.microsoft.com/office/drawing/2014/main" id="{C433FA5E-ADEE-9453-E059-F70ED5C7A683}"/>
              </a:ext>
            </a:extLst>
          </p:cNvPr>
          <p:cNvSpPr/>
          <p:nvPr/>
        </p:nvSpPr>
        <p:spPr>
          <a:xfrm>
            <a:off x="1501140" y="2375154"/>
            <a:ext cx="438912" cy="438912"/>
          </a:xfrm>
          <a:prstGeom prst="rect">
            <a:avLst/>
          </a:prstGeom>
          <a:noFill/>
          <a:ln/>
        </p:spPr>
        <p:txBody>
          <a:bodyPr wrap="square" lIns="0" tIns="0" rIns="0" bIns="0" rtlCol="0" anchor="ctr"/>
          <a:lstStyle/>
          <a:p>
            <a:pPr algn="ctr"/>
            <a:r>
              <a:rPr lang="en-US" sz="1600" b="1" dirty="0">
                <a:solidFill>
                  <a:srgbClr val="FFFFFF"/>
                </a:solidFill>
              </a:rPr>
              <a:t>✓</a:t>
            </a:r>
            <a:endParaRPr lang="en-US" sz="1600" dirty="0"/>
          </a:p>
        </p:txBody>
      </p:sp>
      <p:sp>
        <p:nvSpPr>
          <p:cNvPr id="31" name="Text 10">
            <a:extLst>
              <a:ext uri="{FF2B5EF4-FFF2-40B4-BE49-F238E27FC236}">
                <a16:creationId xmlns:a16="http://schemas.microsoft.com/office/drawing/2014/main" id="{E3E4C4F6-4FC3-0361-D53E-3B5F0CD6A8ED}"/>
              </a:ext>
            </a:extLst>
          </p:cNvPr>
          <p:cNvSpPr/>
          <p:nvPr/>
        </p:nvSpPr>
        <p:spPr>
          <a:xfrm>
            <a:off x="2086356" y="2436114"/>
            <a:ext cx="9997440" cy="390144"/>
          </a:xfrm>
          <a:prstGeom prst="rect">
            <a:avLst/>
          </a:prstGeom>
          <a:noFill/>
          <a:ln/>
        </p:spPr>
        <p:txBody>
          <a:bodyPr wrap="square" lIns="0" tIns="0" rIns="0" bIns="0" rtlCol="0" anchor="ctr"/>
          <a:lstStyle/>
          <a:p>
            <a:r>
              <a:rPr lang="en-US" sz="1400" dirty="0">
                <a:solidFill>
                  <a:srgbClr val="CBD5E1"/>
                </a:solidFill>
              </a:rPr>
              <a:t>Random Forest chosen over LSTM — faster training, interpretable, handles sparse SKU data well</a:t>
            </a:r>
            <a:endParaRPr lang="en-US" sz="1400" dirty="0"/>
          </a:p>
        </p:txBody>
      </p:sp>
      <p:sp>
        <p:nvSpPr>
          <p:cNvPr id="32" name="Shape 11">
            <a:extLst>
              <a:ext uri="{FF2B5EF4-FFF2-40B4-BE49-F238E27FC236}">
                <a16:creationId xmlns:a16="http://schemas.microsoft.com/office/drawing/2014/main" id="{053255C0-911E-AEBF-97FF-050055ECB8C5}"/>
              </a:ext>
            </a:extLst>
          </p:cNvPr>
          <p:cNvSpPr/>
          <p:nvPr/>
        </p:nvSpPr>
        <p:spPr>
          <a:xfrm>
            <a:off x="1501140" y="3009138"/>
            <a:ext cx="438912" cy="438912"/>
          </a:xfrm>
          <a:prstGeom prst="rect">
            <a:avLst/>
          </a:prstGeom>
          <a:solidFill>
            <a:srgbClr val="10B981"/>
          </a:solidFill>
          <a:ln w="12700">
            <a:solidFill>
              <a:srgbClr val="10B981"/>
            </a:solidFill>
            <a:prstDash val="solid"/>
          </a:ln>
        </p:spPr>
      </p:sp>
      <p:sp>
        <p:nvSpPr>
          <p:cNvPr id="33" name="Text 12">
            <a:extLst>
              <a:ext uri="{FF2B5EF4-FFF2-40B4-BE49-F238E27FC236}">
                <a16:creationId xmlns:a16="http://schemas.microsoft.com/office/drawing/2014/main" id="{8D9D15A6-DC31-EC70-0B1E-EC666929BE5A}"/>
              </a:ext>
            </a:extLst>
          </p:cNvPr>
          <p:cNvSpPr/>
          <p:nvPr/>
        </p:nvSpPr>
        <p:spPr>
          <a:xfrm>
            <a:off x="1501140" y="3009138"/>
            <a:ext cx="438912" cy="438912"/>
          </a:xfrm>
          <a:prstGeom prst="rect">
            <a:avLst/>
          </a:prstGeom>
          <a:noFill/>
          <a:ln/>
        </p:spPr>
        <p:txBody>
          <a:bodyPr wrap="square" lIns="0" tIns="0" rIns="0" bIns="0" rtlCol="0" anchor="ctr"/>
          <a:lstStyle/>
          <a:p>
            <a:pPr algn="ctr"/>
            <a:r>
              <a:rPr lang="en-US" sz="1600" b="1" dirty="0">
                <a:solidFill>
                  <a:srgbClr val="FFFFFF"/>
                </a:solidFill>
              </a:rPr>
              <a:t>✓</a:t>
            </a:r>
            <a:endParaRPr lang="en-US" sz="1600" dirty="0"/>
          </a:p>
        </p:txBody>
      </p:sp>
      <p:sp>
        <p:nvSpPr>
          <p:cNvPr id="34" name="Text 13">
            <a:extLst>
              <a:ext uri="{FF2B5EF4-FFF2-40B4-BE49-F238E27FC236}">
                <a16:creationId xmlns:a16="http://schemas.microsoft.com/office/drawing/2014/main" id="{F34AE83C-0ECF-5CA7-FBBA-265CE23313ED}"/>
              </a:ext>
            </a:extLst>
          </p:cNvPr>
          <p:cNvSpPr/>
          <p:nvPr/>
        </p:nvSpPr>
        <p:spPr>
          <a:xfrm>
            <a:off x="2086356" y="3070098"/>
            <a:ext cx="9997440" cy="390144"/>
          </a:xfrm>
          <a:prstGeom prst="rect">
            <a:avLst/>
          </a:prstGeom>
          <a:noFill/>
          <a:ln/>
        </p:spPr>
        <p:txBody>
          <a:bodyPr wrap="square" lIns="0" tIns="0" rIns="0" bIns="0" rtlCol="0" anchor="ctr"/>
          <a:lstStyle/>
          <a:p>
            <a:r>
              <a:rPr lang="en-US" sz="1400" dirty="0">
                <a:solidFill>
                  <a:srgbClr val="CBD5E1"/>
                </a:solidFill>
              </a:rPr>
              <a:t>Isolation Forest at 2% precision outperforms IQR baseline (20% false-positive rate) significantly</a:t>
            </a:r>
            <a:endParaRPr lang="en-US" sz="1400" dirty="0"/>
          </a:p>
        </p:txBody>
      </p:sp>
      <p:sp>
        <p:nvSpPr>
          <p:cNvPr id="35" name="Shape 14">
            <a:extLst>
              <a:ext uri="{FF2B5EF4-FFF2-40B4-BE49-F238E27FC236}">
                <a16:creationId xmlns:a16="http://schemas.microsoft.com/office/drawing/2014/main" id="{11B2E919-5748-883A-9838-570CC400918C}"/>
              </a:ext>
            </a:extLst>
          </p:cNvPr>
          <p:cNvSpPr/>
          <p:nvPr/>
        </p:nvSpPr>
        <p:spPr>
          <a:xfrm>
            <a:off x="1501140" y="3643122"/>
            <a:ext cx="438912" cy="438912"/>
          </a:xfrm>
          <a:prstGeom prst="rect">
            <a:avLst/>
          </a:prstGeom>
          <a:solidFill>
            <a:srgbClr val="10B981"/>
          </a:solidFill>
          <a:ln w="12700">
            <a:solidFill>
              <a:srgbClr val="10B981"/>
            </a:solidFill>
            <a:prstDash val="solid"/>
          </a:ln>
        </p:spPr>
      </p:sp>
      <p:sp>
        <p:nvSpPr>
          <p:cNvPr id="36" name="Text 15">
            <a:extLst>
              <a:ext uri="{FF2B5EF4-FFF2-40B4-BE49-F238E27FC236}">
                <a16:creationId xmlns:a16="http://schemas.microsoft.com/office/drawing/2014/main" id="{0E9EF0B3-CC90-7DE8-354A-FE0573FA2EC0}"/>
              </a:ext>
            </a:extLst>
          </p:cNvPr>
          <p:cNvSpPr/>
          <p:nvPr/>
        </p:nvSpPr>
        <p:spPr>
          <a:xfrm>
            <a:off x="1501140" y="3643122"/>
            <a:ext cx="438912" cy="438912"/>
          </a:xfrm>
          <a:prstGeom prst="rect">
            <a:avLst/>
          </a:prstGeom>
          <a:noFill/>
          <a:ln/>
        </p:spPr>
        <p:txBody>
          <a:bodyPr wrap="square" lIns="0" tIns="0" rIns="0" bIns="0" rtlCol="0" anchor="ctr"/>
          <a:lstStyle/>
          <a:p>
            <a:pPr algn="ctr"/>
            <a:r>
              <a:rPr lang="en-US" sz="1600" b="1" dirty="0">
                <a:solidFill>
                  <a:srgbClr val="FFFFFF"/>
                </a:solidFill>
              </a:rPr>
              <a:t>✓</a:t>
            </a:r>
            <a:endParaRPr lang="en-US" sz="1600" dirty="0"/>
          </a:p>
        </p:txBody>
      </p:sp>
      <p:sp>
        <p:nvSpPr>
          <p:cNvPr id="37" name="Text 16">
            <a:extLst>
              <a:ext uri="{FF2B5EF4-FFF2-40B4-BE49-F238E27FC236}">
                <a16:creationId xmlns:a16="http://schemas.microsoft.com/office/drawing/2014/main" id="{1319A0A2-AB17-DDA5-88CF-21CB6B06D374}"/>
              </a:ext>
            </a:extLst>
          </p:cNvPr>
          <p:cNvSpPr/>
          <p:nvPr/>
        </p:nvSpPr>
        <p:spPr>
          <a:xfrm>
            <a:off x="2086356" y="3704082"/>
            <a:ext cx="9997440" cy="390144"/>
          </a:xfrm>
          <a:prstGeom prst="rect">
            <a:avLst/>
          </a:prstGeom>
          <a:noFill/>
          <a:ln/>
        </p:spPr>
        <p:txBody>
          <a:bodyPr wrap="square" lIns="0" tIns="0" rIns="0" bIns="0" rtlCol="0" anchor="ctr"/>
          <a:lstStyle/>
          <a:p>
            <a:r>
              <a:rPr lang="en-US" sz="1400" dirty="0">
                <a:solidFill>
                  <a:srgbClr val="CBD5E1"/>
                </a:solidFill>
              </a:rPr>
              <a:t>K-Means k=4 delivers actionable business segments (Potential / VIP / Churn Risk) for 4,338 customers</a:t>
            </a:r>
            <a:endParaRPr lang="en-US" sz="1400" dirty="0"/>
          </a:p>
        </p:txBody>
      </p:sp>
      <p:sp>
        <p:nvSpPr>
          <p:cNvPr id="38" name="Shape 17">
            <a:extLst>
              <a:ext uri="{FF2B5EF4-FFF2-40B4-BE49-F238E27FC236}">
                <a16:creationId xmlns:a16="http://schemas.microsoft.com/office/drawing/2014/main" id="{36ACD85D-23A8-F5C3-7EEE-23316467B440}"/>
              </a:ext>
            </a:extLst>
          </p:cNvPr>
          <p:cNvSpPr/>
          <p:nvPr/>
        </p:nvSpPr>
        <p:spPr>
          <a:xfrm>
            <a:off x="1501140" y="4277106"/>
            <a:ext cx="438912" cy="438912"/>
          </a:xfrm>
          <a:prstGeom prst="rect">
            <a:avLst/>
          </a:prstGeom>
          <a:solidFill>
            <a:srgbClr val="10B981"/>
          </a:solidFill>
          <a:ln w="12700">
            <a:solidFill>
              <a:srgbClr val="10B981"/>
            </a:solidFill>
            <a:prstDash val="solid"/>
          </a:ln>
        </p:spPr>
      </p:sp>
      <p:sp>
        <p:nvSpPr>
          <p:cNvPr id="39" name="Text 18">
            <a:extLst>
              <a:ext uri="{FF2B5EF4-FFF2-40B4-BE49-F238E27FC236}">
                <a16:creationId xmlns:a16="http://schemas.microsoft.com/office/drawing/2014/main" id="{7511489D-DF7C-6CB9-3700-A8682398E810}"/>
              </a:ext>
            </a:extLst>
          </p:cNvPr>
          <p:cNvSpPr/>
          <p:nvPr/>
        </p:nvSpPr>
        <p:spPr>
          <a:xfrm>
            <a:off x="1501140" y="4277106"/>
            <a:ext cx="438912" cy="438912"/>
          </a:xfrm>
          <a:prstGeom prst="rect">
            <a:avLst/>
          </a:prstGeom>
          <a:noFill/>
          <a:ln/>
        </p:spPr>
        <p:txBody>
          <a:bodyPr wrap="square" lIns="0" tIns="0" rIns="0" bIns="0" rtlCol="0" anchor="ctr"/>
          <a:lstStyle/>
          <a:p>
            <a:pPr algn="ctr"/>
            <a:r>
              <a:rPr lang="en-US" sz="1600" b="1" dirty="0">
                <a:solidFill>
                  <a:srgbClr val="FFFFFF"/>
                </a:solidFill>
              </a:rPr>
              <a:t>✓</a:t>
            </a:r>
            <a:endParaRPr lang="en-US" sz="1600" dirty="0"/>
          </a:p>
        </p:txBody>
      </p:sp>
      <p:sp>
        <p:nvSpPr>
          <p:cNvPr id="40" name="Text 19">
            <a:extLst>
              <a:ext uri="{FF2B5EF4-FFF2-40B4-BE49-F238E27FC236}">
                <a16:creationId xmlns:a16="http://schemas.microsoft.com/office/drawing/2014/main" id="{340C2BEF-0D4B-0C96-625D-2A7E15ACA39F}"/>
              </a:ext>
            </a:extLst>
          </p:cNvPr>
          <p:cNvSpPr/>
          <p:nvPr/>
        </p:nvSpPr>
        <p:spPr>
          <a:xfrm>
            <a:off x="2086356" y="4338066"/>
            <a:ext cx="9997440" cy="390144"/>
          </a:xfrm>
          <a:prstGeom prst="rect">
            <a:avLst/>
          </a:prstGeom>
          <a:noFill/>
          <a:ln/>
        </p:spPr>
        <p:txBody>
          <a:bodyPr wrap="square" lIns="0" tIns="0" rIns="0" bIns="0" rtlCol="0" anchor="ctr"/>
          <a:lstStyle/>
          <a:p>
            <a:r>
              <a:rPr lang="en-US" sz="1400" dirty="0">
                <a:solidFill>
                  <a:srgbClr val="CBD5E1"/>
                </a:solidFill>
              </a:rPr>
              <a:t>Fuzzy Logic automates reorder alerts for 3,922 SKUs — CRITICAL / WARNING / MONITOR / OK levels</a:t>
            </a:r>
            <a:endParaRPr lang="en-US" sz="1400" dirty="0"/>
          </a:p>
        </p:txBody>
      </p:sp>
      <p:sp>
        <p:nvSpPr>
          <p:cNvPr id="41" name="Shape 20">
            <a:extLst>
              <a:ext uri="{FF2B5EF4-FFF2-40B4-BE49-F238E27FC236}">
                <a16:creationId xmlns:a16="http://schemas.microsoft.com/office/drawing/2014/main" id="{BF6F62E5-9FE8-3305-3389-751FE4F18DA7}"/>
              </a:ext>
            </a:extLst>
          </p:cNvPr>
          <p:cNvSpPr/>
          <p:nvPr/>
        </p:nvSpPr>
        <p:spPr>
          <a:xfrm>
            <a:off x="1501140" y="4911090"/>
            <a:ext cx="438912" cy="438912"/>
          </a:xfrm>
          <a:prstGeom prst="rect">
            <a:avLst/>
          </a:prstGeom>
          <a:solidFill>
            <a:srgbClr val="FFFF00"/>
          </a:solidFill>
          <a:ln w="12700">
            <a:solidFill>
              <a:srgbClr val="F59E0B"/>
            </a:solidFill>
            <a:prstDash val="solid"/>
          </a:ln>
        </p:spPr>
      </p:sp>
      <p:sp>
        <p:nvSpPr>
          <p:cNvPr id="42" name="Text 21">
            <a:extLst>
              <a:ext uri="{FF2B5EF4-FFF2-40B4-BE49-F238E27FC236}">
                <a16:creationId xmlns:a16="http://schemas.microsoft.com/office/drawing/2014/main" id="{D9731A53-4425-DDE9-B372-886D97254CA7}"/>
              </a:ext>
            </a:extLst>
          </p:cNvPr>
          <p:cNvSpPr/>
          <p:nvPr/>
        </p:nvSpPr>
        <p:spPr>
          <a:xfrm>
            <a:off x="1501140" y="4911090"/>
            <a:ext cx="438912" cy="438912"/>
          </a:xfrm>
          <a:prstGeom prst="rect">
            <a:avLst/>
          </a:prstGeom>
          <a:noFill/>
          <a:ln/>
        </p:spPr>
        <p:txBody>
          <a:bodyPr wrap="square" lIns="0" tIns="0" rIns="0" bIns="0" rtlCol="0" anchor="ctr"/>
          <a:lstStyle/>
          <a:p>
            <a:pPr algn="ctr"/>
            <a:r>
              <a:rPr lang="en-US" sz="1600" b="1" dirty="0">
                <a:solidFill>
                  <a:srgbClr val="FFFFFF"/>
                </a:solidFill>
              </a:rPr>
              <a:t>⚡</a:t>
            </a:r>
            <a:endParaRPr lang="en-US" sz="1600" dirty="0"/>
          </a:p>
        </p:txBody>
      </p:sp>
      <p:sp>
        <p:nvSpPr>
          <p:cNvPr id="43" name="Text 22">
            <a:extLst>
              <a:ext uri="{FF2B5EF4-FFF2-40B4-BE49-F238E27FC236}">
                <a16:creationId xmlns:a16="http://schemas.microsoft.com/office/drawing/2014/main" id="{E294F967-E865-FD6B-5D75-C76FFAAFF3B5}"/>
              </a:ext>
            </a:extLst>
          </p:cNvPr>
          <p:cNvSpPr/>
          <p:nvPr/>
        </p:nvSpPr>
        <p:spPr>
          <a:xfrm>
            <a:off x="2086356" y="4972050"/>
            <a:ext cx="9997440" cy="390144"/>
          </a:xfrm>
          <a:prstGeom prst="rect">
            <a:avLst/>
          </a:prstGeom>
          <a:noFill/>
          <a:ln/>
        </p:spPr>
        <p:txBody>
          <a:bodyPr wrap="square" lIns="0" tIns="0" rIns="0" bIns="0" rtlCol="0" anchor="ctr"/>
          <a:lstStyle/>
          <a:p>
            <a:r>
              <a:rPr lang="en-US" sz="1400" dirty="0">
                <a:solidFill>
                  <a:srgbClr val="F59E0B"/>
                </a:solidFill>
              </a:rPr>
              <a:t>R² = 0.143 is low but expected — per-SKU daily retail demand is inherently volatile. System remains operationally useful.</a:t>
            </a:r>
            <a:endParaRPr lang="en-US" sz="1400" dirty="0"/>
          </a:p>
        </p:txBody>
      </p:sp>
      <p:sp>
        <p:nvSpPr>
          <p:cNvPr id="44" name="Shape 23">
            <a:extLst>
              <a:ext uri="{FF2B5EF4-FFF2-40B4-BE49-F238E27FC236}">
                <a16:creationId xmlns:a16="http://schemas.microsoft.com/office/drawing/2014/main" id="{59015F51-A7ED-BBE6-1B3A-5D32C748F45F}"/>
              </a:ext>
            </a:extLst>
          </p:cNvPr>
          <p:cNvSpPr/>
          <p:nvPr/>
        </p:nvSpPr>
        <p:spPr>
          <a:xfrm>
            <a:off x="1501140" y="5545074"/>
            <a:ext cx="438912" cy="438912"/>
          </a:xfrm>
          <a:prstGeom prst="rect">
            <a:avLst/>
          </a:prstGeom>
          <a:solidFill>
            <a:srgbClr val="00B4D8"/>
          </a:solidFill>
          <a:ln w="12700">
            <a:solidFill>
              <a:srgbClr val="00B4D8"/>
            </a:solidFill>
            <a:prstDash val="solid"/>
          </a:ln>
        </p:spPr>
      </p:sp>
      <p:sp>
        <p:nvSpPr>
          <p:cNvPr id="45" name="Text 24">
            <a:extLst>
              <a:ext uri="{FF2B5EF4-FFF2-40B4-BE49-F238E27FC236}">
                <a16:creationId xmlns:a16="http://schemas.microsoft.com/office/drawing/2014/main" id="{517D0077-1E17-5EC0-B470-E807DBC9681B}"/>
              </a:ext>
            </a:extLst>
          </p:cNvPr>
          <p:cNvSpPr/>
          <p:nvPr/>
        </p:nvSpPr>
        <p:spPr>
          <a:xfrm>
            <a:off x="1501140" y="5545074"/>
            <a:ext cx="438912" cy="438912"/>
          </a:xfrm>
          <a:prstGeom prst="rect">
            <a:avLst/>
          </a:prstGeom>
          <a:noFill/>
          <a:ln/>
        </p:spPr>
        <p:txBody>
          <a:bodyPr wrap="square" lIns="0" tIns="0" rIns="0" bIns="0" rtlCol="0" anchor="ctr"/>
          <a:lstStyle/>
          <a:p>
            <a:pPr algn="ctr"/>
            <a:r>
              <a:rPr lang="en-US" sz="1600" b="1" dirty="0">
                <a:solidFill>
                  <a:srgbClr val="FFFFFF"/>
                </a:solidFill>
              </a:rPr>
              <a:t>★</a:t>
            </a:r>
            <a:endParaRPr lang="en-US" sz="1600" dirty="0"/>
          </a:p>
        </p:txBody>
      </p:sp>
      <p:sp>
        <p:nvSpPr>
          <p:cNvPr id="46" name="Text 25">
            <a:extLst>
              <a:ext uri="{FF2B5EF4-FFF2-40B4-BE49-F238E27FC236}">
                <a16:creationId xmlns:a16="http://schemas.microsoft.com/office/drawing/2014/main" id="{3E6A242B-50CE-501E-352A-3AC60FCD8635}"/>
              </a:ext>
            </a:extLst>
          </p:cNvPr>
          <p:cNvSpPr/>
          <p:nvPr/>
        </p:nvSpPr>
        <p:spPr>
          <a:xfrm>
            <a:off x="2086356" y="5606034"/>
            <a:ext cx="9997440" cy="390144"/>
          </a:xfrm>
          <a:prstGeom prst="rect">
            <a:avLst/>
          </a:prstGeom>
          <a:noFill/>
          <a:ln/>
        </p:spPr>
        <p:txBody>
          <a:bodyPr wrap="square" lIns="0" tIns="0" rIns="0" bIns="0" rtlCol="0" anchor="ctr"/>
          <a:lstStyle/>
          <a:p>
            <a:r>
              <a:rPr lang="en-US" sz="1400" dirty="0">
                <a:solidFill>
                  <a:srgbClr val="90E0EF"/>
                </a:solidFill>
              </a:rPr>
              <a:t>NASA PLC + 8-sprint Agile kept development structured — from feasibility study to Phase F closeout</a:t>
            </a:r>
            <a:endParaRPr lang="en-US" sz="1400" dirty="0"/>
          </a:p>
        </p:txBody>
      </p:sp>
    </p:spTree>
    <p:extLst>
      <p:ext uri="{BB962C8B-B14F-4D97-AF65-F5344CB8AC3E}">
        <p14:creationId xmlns:p14="http://schemas.microsoft.com/office/powerpoint/2010/main" val="2005690204"/>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2_Wisp">
  <a:themeElements>
    <a:clrScheme name="Wisp">
      <a:dk1>
        <a:sysClr val="windowText" lastClr="000000"/>
      </a:dk1>
      <a:lt1>
        <a:sysClr val="window" lastClr="FFFFFF"/>
      </a:lt1>
      <a:dk2>
        <a:srgbClr val="2C333A"/>
      </a:dk2>
      <a:lt2>
        <a:srgbClr val="D6ECED"/>
      </a:lt2>
      <a:accent1>
        <a:srgbClr val="DE32DE"/>
      </a:accent1>
      <a:accent2>
        <a:srgbClr val="F42B8A"/>
      </a:accent2>
      <a:accent3>
        <a:srgbClr val="349FE7"/>
      </a:accent3>
      <a:accent4>
        <a:srgbClr val="565FF8"/>
      </a:accent4>
      <a:accent5>
        <a:srgbClr val="876BE7"/>
      </a:accent5>
      <a:accent6>
        <a:srgbClr val="F268C2"/>
      </a:accent6>
      <a:hlink>
        <a:srgbClr val="F55CF9"/>
      </a:hlink>
      <a:folHlink>
        <a:srgbClr val="E8A0EE"/>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F20B7C8E-B819-43F3-AAF9-EE50B1A8363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327</TotalTime>
  <Words>2707</Words>
  <Application>Microsoft Office PowerPoint</Application>
  <PresentationFormat>Widescreen</PresentationFormat>
  <Paragraphs>498</Paragraphs>
  <Slides>17</Slides>
  <Notes>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17</vt:i4>
      </vt:variant>
    </vt:vector>
  </HeadingPairs>
  <TitlesOfParts>
    <vt:vector size="24" baseType="lpstr">
      <vt:lpstr>Arial</vt:lpstr>
      <vt:lpstr>Calibri</vt:lpstr>
      <vt:lpstr>Century Gothic</vt:lpstr>
      <vt:lpstr>Consolas</vt:lpstr>
      <vt:lpstr>Wingdings 3</vt:lpstr>
      <vt:lpstr>Wisp</vt:lpstr>
      <vt:lpstr>2_Wisp</vt:lpstr>
      <vt:lpstr>SmartWH: Intelligent Warehouse AI System</vt:lpstr>
      <vt:lpstr>Scope</vt:lpstr>
      <vt:lpstr>Why SmartWH? The problems:</vt:lpstr>
      <vt:lpstr>Our project objectives</vt:lpstr>
      <vt:lpstr>Dataset: UCI Online Retail</vt:lpstr>
      <vt:lpstr>System Architecture – 6 Subsystems</vt:lpstr>
      <vt:lpstr>NASA PLC &amp; Agile SDLC </vt:lpstr>
      <vt:lpstr>Sub1: Data Ingestion &amp; Preprocessing</vt:lpstr>
      <vt:lpstr>Sub 2: Demand Forecasting – Random Forest</vt:lpstr>
      <vt:lpstr>Sub 3:Anomaly Detection – Isolation Forest vs IQR</vt:lpstr>
      <vt:lpstr>Sub 4: Customer Segmentation – RFM + K-Means</vt:lpstr>
      <vt:lpstr>Sub5: Fuzzy Logic Reorder System</vt:lpstr>
      <vt:lpstr>Sub 6: Streamlit Interactive Dashboard </vt:lpstr>
      <vt:lpstr>Results &amp; Evaluation</vt:lpstr>
      <vt:lpstr>Discussion and Key Insights</vt:lpstr>
      <vt:lpstr>Project Management Tools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 Wen Xiang</dc:creator>
  <cp:lastModifiedBy>Ng Wen Xiang</cp:lastModifiedBy>
  <cp:revision>21</cp:revision>
  <dcterms:created xsi:type="dcterms:W3CDTF">2026-03-26T06:58:18Z</dcterms:created>
  <dcterms:modified xsi:type="dcterms:W3CDTF">2026-03-26T12:28:21Z</dcterms:modified>
</cp:coreProperties>
</file>